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6" r:id="rId6"/>
    <p:sldId id="260" r:id="rId7"/>
    <p:sldId id="261" r:id="rId8"/>
    <p:sldId id="267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outlineView">
  <p:normalViewPr showOutlineIcons="0">
    <p:restoredLeft sz="34587" autoAdjust="0"/>
    <p:restoredTop sz="86395" autoAdjust="0"/>
  </p:normalViewPr>
  <p:slideViewPr>
    <p:cSldViewPr snapToGrid="0" snapToObjects="1">
      <p:cViewPr varScale="1">
        <p:scale>
          <a:sx n="80" d="100"/>
          <a:sy n="80" d="100"/>
        </p:scale>
        <p:origin x="108" y="522"/>
      </p:cViewPr>
      <p:guideLst/>
    </p:cSldViewPr>
  </p:slideViewPr>
  <p:outlineViewPr>
    <p:cViewPr>
      <p:scale>
        <a:sx n="33" d="100"/>
        <a:sy n="33" d="100"/>
      </p:scale>
      <p:origin x="0" y="-2622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03F0A6-821C-4472-9BD3-778BB0867B43}" type="datetimeFigureOut">
              <a:rPr lang="en-US" smtClean="0"/>
              <a:t>2/20/2019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157EBE-1723-48F2-884E-FE9DC50106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352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Picture shows the Group Policy Management Editor. Specifically the password</a:t>
            </a:r>
            <a:r>
              <a:rPr lang="en-GB" baseline="0" dirty="0" smtClean="0"/>
              <a:t> policy found under Computer Configuration &gt; Windows Settings &gt; Security Settings &gt; Account Policy &gt; Password Policy</a:t>
            </a:r>
          </a:p>
          <a:p>
            <a:r>
              <a:rPr lang="en-GB" baseline="0" dirty="0" smtClean="0"/>
              <a:t>Currently in the image the maximum password age is 42 days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157EBE-1723-48F2-884E-FE9DC501060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5061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solidFill>
            <a:schemeClr val="bg2">
              <a:lumMod val="90000"/>
              <a:alpha val="50000"/>
            </a:schemeClr>
          </a:solidFill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solidFill>
            <a:schemeClr val="bg2">
              <a:lumMod val="90000"/>
              <a:alpha val="50000"/>
            </a:schemeClr>
          </a:solidFill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D6A7B-546F-5F4D-A1F1-0A713E88579D}" type="datetimeFigureOut">
              <a:rPr lang="en-GB" smtClean="0"/>
              <a:t>20/02/2019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545CD-9D7C-4345-9197-2B5816346B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032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D6A7B-546F-5F4D-A1F1-0A713E88579D}" type="datetimeFigureOut">
              <a:rPr lang="en-GB" smtClean="0"/>
              <a:t>20/02/2019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545CD-9D7C-4345-9197-2B5816346B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8581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solidFill>
            <a:schemeClr val="bg2">
              <a:lumMod val="90000"/>
              <a:alpha val="50000"/>
            </a:schemeClr>
          </a:solidFill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solidFill>
            <a:schemeClr val="bg2">
              <a:lumMod val="90000"/>
              <a:alpha val="50000"/>
            </a:schemeClr>
          </a:solidFill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D6A7B-546F-5F4D-A1F1-0A713E88579D}" type="datetimeFigureOut">
              <a:rPr lang="en-GB" smtClean="0"/>
              <a:t>20/02/2019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545CD-9D7C-4345-9197-2B5816346B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6542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68378" y="1825625"/>
            <a:ext cx="4768998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65392" y="1825625"/>
            <a:ext cx="4788408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D6A7B-546F-5F4D-A1F1-0A713E88579D}" type="datetimeFigureOut">
              <a:rPr lang="en-GB" smtClean="0"/>
              <a:t>20/02/2019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545CD-9D7C-4345-9197-2B5816346B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559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2388" y="365125"/>
            <a:ext cx="96830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2388" y="1690688"/>
            <a:ext cx="475381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81036" y="2505075"/>
            <a:ext cx="4745163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65900" y="1681163"/>
            <a:ext cx="47894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65900" y="2505075"/>
            <a:ext cx="47894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D6A7B-546F-5F4D-A1F1-0A713E88579D}" type="datetimeFigureOut">
              <a:rPr lang="en-GB" smtClean="0"/>
              <a:t>20/02/2019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545CD-9D7C-4345-9197-2B5816346B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2879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D6A7B-546F-5F4D-A1F1-0A713E88579D}" type="datetimeFigureOut">
              <a:rPr lang="en-GB" smtClean="0"/>
              <a:t>20/02/2019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545CD-9D7C-4345-9197-2B5816346B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2507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D6A7B-546F-5F4D-A1F1-0A713E88579D}" type="datetimeFigureOut">
              <a:rPr lang="en-GB" smtClean="0"/>
              <a:t>20/02/2019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545CD-9D7C-4345-9197-2B5816346B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1521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71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76900" y="987425"/>
            <a:ext cx="5678488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271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D6A7B-546F-5F4D-A1F1-0A713E88579D}" type="datetimeFigureOut">
              <a:rPr lang="en-GB" smtClean="0"/>
              <a:t>20/02/2019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545CD-9D7C-4345-9197-2B5816346B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8213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8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867400" y="987425"/>
            <a:ext cx="5487988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28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D6A7B-546F-5F4D-A1F1-0A713E88579D}" type="datetimeFigureOut">
              <a:rPr lang="en-GB" smtClean="0"/>
              <a:t>20/02/2019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545CD-9D7C-4345-9197-2B5816346B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4415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D6A7B-546F-5F4D-A1F1-0A713E88579D}" type="datetimeFigureOut">
              <a:rPr lang="en-GB" smtClean="0"/>
              <a:t>20/02/2019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545CD-9D7C-4345-9197-2B5816346B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055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2388" y="365125"/>
            <a:ext cx="6900112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D6A7B-546F-5F4D-A1F1-0A713E88579D}" type="datetimeFigureOut">
              <a:rPr lang="en-GB" smtClean="0"/>
              <a:t>20/02/2019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545CD-9D7C-4345-9197-2B5816346B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7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68378" y="365125"/>
            <a:ext cx="968542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68378" y="1825625"/>
            <a:ext cx="968542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238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2D6A7B-546F-5F4D-A1F1-0A713E88579D}" type="datetimeFigureOut">
              <a:rPr lang="en-GB" smtClean="0"/>
              <a:t>20/02/2019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971046" y="6356350"/>
            <a:ext cx="30840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4545CD-9D7C-4345-9197-2B5816346B9D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56"/>
          <a:stretch/>
        </p:blipFill>
        <p:spPr>
          <a:xfrm>
            <a:off x="0" y="0"/>
            <a:ext cx="1363579" cy="6858000"/>
          </a:xfrm>
          <a:prstGeom prst="rect">
            <a:avLst/>
          </a:prstGeom>
        </p:spPr>
      </p:pic>
      <p:cxnSp>
        <p:nvCxnSpPr>
          <p:cNvPr id="9" name="Straight Connector 8"/>
          <p:cNvCxnSpPr/>
          <p:nvPr userDrawn="1"/>
        </p:nvCxnSpPr>
        <p:spPr>
          <a:xfrm>
            <a:off x="1363579" y="0"/>
            <a:ext cx="0" cy="685800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 userDrawn="1"/>
        </p:nvCxnSpPr>
        <p:spPr>
          <a:xfrm>
            <a:off x="1397107" y="-3048"/>
            <a:ext cx="0" cy="685800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980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solidFill>
            <a:schemeClr val="bg1">
              <a:lumMod val="75000"/>
              <a:alpha val="50000"/>
            </a:schemeClr>
          </a:solidFill>
        </p:spPr>
        <p:txBody>
          <a:bodyPr/>
          <a:lstStyle/>
          <a:p>
            <a:r>
              <a:rPr lang="en-GB" dirty="0" smtClean="0"/>
              <a:t>Group Policy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solidFill>
            <a:schemeClr val="bg1">
              <a:lumMod val="75000"/>
              <a:alpha val="50000"/>
            </a:schemeClr>
          </a:solidFill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4644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Topics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3801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What</a:t>
            </a:r>
            <a:r>
              <a:rPr lang="en-GB" baseline="0" dirty="0" smtClean="0"/>
              <a:t> is Group Policy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Group Policy Objects are containers within Active Directory that contain rules or policies</a:t>
            </a:r>
          </a:p>
          <a:p>
            <a:r>
              <a:rPr lang="en-GB" dirty="0" smtClean="0"/>
              <a:t>GPO rules can apply to</a:t>
            </a:r>
          </a:p>
          <a:p>
            <a:pPr lvl="1"/>
            <a:r>
              <a:rPr lang="en-GB" dirty="0" smtClean="0"/>
              <a:t>Users</a:t>
            </a:r>
          </a:p>
          <a:p>
            <a:pPr lvl="1"/>
            <a:r>
              <a:rPr lang="en-GB" dirty="0" smtClean="0"/>
              <a:t>Computers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9873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Examples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824810" y="1512804"/>
            <a:ext cx="7233590" cy="4985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6516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Group Policy Management Tool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68378" y="1825625"/>
            <a:ext cx="5237747" cy="4351338"/>
          </a:xfrm>
        </p:spPr>
        <p:txBody>
          <a:bodyPr/>
          <a:lstStyle/>
          <a:p>
            <a:r>
              <a:rPr lang="en-GB" dirty="0" smtClean="0"/>
              <a:t>Found on the start menu under "Windows Administrative Tools"</a:t>
            </a:r>
          </a:p>
          <a:p>
            <a:r>
              <a:rPr lang="en-GB" dirty="0" smtClean="0"/>
              <a:t>Shows a tree view of your Forest, trees and domains together with the organisational units they contain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4274" y="1825625"/>
            <a:ext cx="3819525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356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Broad Areas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68379" y="1825625"/>
            <a:ext cx="6452938" cy="4351338"/>
          </a:xfrm>
        </p:spPr>
        <p:txBody>
          <a:bodyPr/>
          <a:lstStyle/>
          <a:p>
            <a:r>
              <a:rPr lang="en-GB" dirty="0" smtClean="0"/>
              <a:t>Policies split into</a:t>
            </a:r>
          </a:p>
          <a:p>
            <a:pPr lvl="1"/>
            <a:r>
              <a:rPr lang="en-GB" dirty="0" smtClean="0"/>
              <a:t>Computer Configuration</a:t>
            </a:r>
          </a:p>
          <a:p>
            <a:pPr lvl="1"/>
            <a:r>
              <a:rPr lang="en-GB" dirty="0" smtClean="0"/>
              <a:t>User Configuration</a:t>
            </a:r>
          </a:p>
          <a:p>
            <a:r>
              <a:rPr lang="en-GB" dirty="0" smtClean="0"/>
              <a:t>Each of those is further split into</a:t>
            </a:r>
          </a:p>
          <a:p>
            <a:pPr lvl="1"/>
            <a:r>
              <a:rPr lang="en-GB" dirty="0" smtClean="0"/>
              <a:t>Software Settings</a:t>
            </a:r>
          </a:p>
          <a:p>
            <a:pPr lvl="1"/>
            <a:r>
              <a:rPr lang="en-GB" dirty="0" smtClean="0"/>
              <a:t>Windows Settings</a:t>
            </a:r>
          </a:p>
          <a:p>
            <a:pPr lvl="1"/>
            <a:r>
              <a:rPr lang="en-GB" dirty="0" smtClean="0"/>
              <a:t>Administrative Templates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9916" y="1825624"/>
            <a:ext cx="3003883" cy="5131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6769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Placement</a:t>
            </a:r>
            <a:r>
              <a:rPr lang="en-GB" baseline="0" dirty="0" smtClean="0"/>
              <a:t> of policy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What if… we say all students shall have an M-Drive quota of 5GB but computing students who need to store large Virtual Machine files need more space than the default quota so they get 20GB.</a:t>
            </a:r>
          </a:p>
          <a:p>
            <a:r>
              <a:rPr lang="en-GB" dirty="0" smtClean="0"/>
              <a:t>How do we resolve this in Group Policy?</a:t>
            </a:r>
          </a:p>
        </p:txBody>
      </p:sp>
    </p:spTree>
    <p:extLst>
      <p:ext uri="{BB962C8B-B14F-4D97-AF65-F5344CB8AC3E}">
        <p14:creationId xmlns:p14="http://schemas.microsoft.com/office/powerpoint/2010/main" val="10771896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Precedence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Local Policies are applied first</a:t>
            </a:r>
          </a:p>
          <a:p>
            <a:r>
              <a:rPr lang="en-GB" dirty="0" smtClean="0"/>
              <a:t>Site</a:t>
            </a:r>
            <a:r>
              <a:rPr lang="en-GB" baseline="0" dirty="0" smtClean="0"/>
              <a:t> Policies are next</a:t>
            </a:r>
          </a:p>
          <a:p>
            <a:r>
              <a:rPr lang="en-GB" baseline="0" dirty="0" smtClean="0"/>
              <a:t>Domain Policies are third</a:t>
            </a:r>
          </a:p>
          <a:p>
            <a:r>
              <a:rPr lang="en-GB" baseline="0" dirty="0" smtClean="0"/>
              <a:t>OU Policies are fourth</a:t>
            </a:r>
          </a:p>
          <a:p>
            <a:r>
              <a:rPr lang="en-GB" baseline="0" dirty="0" smtClean="0"/>
              <a:t>Where OUs are nested, the outer policy </a:t>
            </a:r>
            <a:r>
              <a:rPr lang="en-GB" dirty="0" smtClean="0"/>
              <a:t>applied before the more specific policy</a:t>
            </a:r>
          </a:p>
          <a:p>
            <a:r>
              <a:rPr lang="en-GB" dirty="0" smtClean="0"/>
              <a:t>In general wider catch-all policies can be overridden by more specific policies closer to the computer or user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6169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Application Order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Policies applied to computers are applied</a:t>
            </a:r>
            <a:r>
              <a:rPr lang="en-GB" baseline="0" dirty="0" smtClean="0"/>
              <a:t> when the computer boots</a:t>
            </a:r>
          </a:p>
          <a:p>
            <a:pPr lvl="1"/>
            <a:r>
              <a:rPr lang="en-GB" dirty="0" smtClean="0"/>
              <a:t>Possible to force</a:t>
            </a:r>
            <a:r>
              <a:rPr lang="en-GB" baseline="0" dirty="0" smtClean="0"/>
              <a:t> them to be re-checked but normally a change to computer policy does not get applied until the next reboot</a:t>
            </a:r>
          </a:p>
          <a:p>
            <a:pPr lvl="0"/>
            <a:r>
              <a:rPr lang="en-GB" dirty="0" smtClean="0"/>
              <a:t>Policies applied</a:t>
            </a:r>
            <a:r>
              <a:rPr lang="en-GB" baseline="0" dirty="0" smtClean="0"/>
              <a:t> to users are applied during the login process</a:t>
            </a:r>
          </a:p>
          <a:p>
            <a:pPr lvl="1"/>
            <a:r>
              <a:rPr lang="en-GB" dirty="0" smtClean="0"/>
              <a:t>Again</a:t>
            </a:r>
            <a:r>
              <a:rPr lang="en-GB" baseline="0" dirty="0" smtClean="0"/>
              <a:t> can be forced to re-apply, otherwise remain until next login</a:t>
            </a:r>
          </a:p>
          <a:p>
            <a:pPr lvl="0"/>
            <a:r>
              <a:rPr lang="en-GB" dirty="0" smtClean="0"/>
              <a:t>Policies</a:t>
            </a:r>
            <a:r>
              <a:rPr lang="en-GB" baseline="0" dirty="0" smtClean="0"/>
              <a:t> that are applied last override earlier policies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70700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Filters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Normal to use OUs as containers for policies</a:t>
            </a:r>
          </a:p>
          <a:p>
            <a:r>
              <a:rPr lang="en-GB" dirty="0" smtClean="0"/>
              <a:t>Sometimes need a policy to apply to a specific sub-group</a:t>
            </a:r>
          </a:p>
          <a:p>
            <a:r>
              <a:rPr lang="en-GB" dirty="0" smtClean="0"/>
              <a:t>Can have multiple policies applied to an OU</a:t>
            </a:r>
          </a:p>
          <a:p>
            <a:r>
              <a:rPr lang="en-GB" dirty="0" smtClean="0"/>
              <a:t>Security Filtering allows us to specify individual users or groups that a GPO can apply to (much like ACLs on File System Objects)</a:t>
            </a:r>
          </a:p>
          <a:p>
            <a:r>
              <a:rPr lang="en-GB" dirty="0" smtClean="0"/>
              <a:t>Able to add users to a group so that a policy will apply to them permanently or on a short term basis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0755" y="295275"/>
            <a:ext cx="9715500" cy="656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356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Blocking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High level GPOs can be countermanded by a lower level GPO with a different setting for a property.</a:t>
            </a:r>
          </a:p>
          <a:p>
            <a:r>
              <a:rPr lang="en-GB" dirty="0" smtClean="0"/>
              <a:t>Alternatively can select an OU and choose to Block Inheritance on the context menu (right-click)</a:t>
            </a:r>
          </a:p>
          <a:p>
            <a:r>
              <a:rPr lang="en-GB" dirty="0" smtClean="0"/>
              <a:t>Prevents ALL higher level GPOs from applying to the particular OU</a:t>
            </a:r>
          </a:p>
          <a:p>
            <a:r>
              <a:rPr lang="en-GB" dirty="0" smtClean="0"/>
              <a:t>Put in place different rules for the protected area</a:t>
            </a:r>
          </a:p>
          <a:p>
            <a:r>
              <a:rPr lang="en-GB" dirty="0" smtClean="0"/>
              <a:t>More efficient to do this than process a set of rules and then process a second contradictory set.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1093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Enforcement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It may be the case that a particular GPO should always be applied and never blocked.</a:t>
            </a:r>
          </a:p>
          <a:p>
            <a:r>
              <a:rPr lang="en-GB" dirty="0" smtClean="0"/>
              <a:t>GPOs can have the "Enforce" property activated from their context menu</a:t>
            </a:r>
          </a:p>
          <a:p>
            <a:r>
              <a:rPr lang="en-GB" dirty="0" smtClean="0"/>
              <a:t>Settings in a policy that is enforced are always applied</a:t>
            </a:r>
          </a:p>
          <a:p>
            <a:r>
              <a:rPr lang="en-GB" dirty="0" smtClean="0"/>
              <a:t>If a policy is enforced, its settings are NOT overwritten by later policies</a:t>
            </a:r>
          </a:p>
          <a:p>
            <a:r>
              <a:rPr lang="en-GB" dirty="0" smtClean="0"/>
              <a:t>Enforcement overrules Blocking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9582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hat is a computer.potx" id="{EFE39436-7349-4F84-949C-1929EB6EE555}" vid="{4B6F9558-BD72-4CC2-B587-33A2EBA7D48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cns</Template>
  <TotalTime>425</TotalTime>
  <Words>494</Words>
  <Application>Microsoft Office PowerPoint</Application>
  <PresentationFormat>Widescreen</PresentationFormat>
  <Paragraphs>56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Group Policy</vt:lpstr>
      <vt:lpstr>Topics</vt:lpstr>
      <vt:lpstr>What is Group Policy</vt:lpstr>
      <vt:lpstr>Examples</vt:lpstr>
      <vt:lpstr>Group Policy Management Tool</vt:lpstr>
      <vt:lpstr>Broad Areas</vt:lpstr>
      <vt:lpstr>Placement of policy</vt:lpstr>
      <vt:lpstr>Precedence</vt:lpstr>
      <vt:lpstr>Application Order</vt:lpstr>
      <vt:lpstr>Filters</vt:lpstr>
      <vt:lpstr>Blocking</vt:lpstr>
      <vt:lpstr>Enforcement</vt:lpstr>
    </vt:vector>
  </TitlesOfParts>
  <Company>University of Bolton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 Policy</dc:title>
  <dc:creator>Isherwood, Adam</dc:creator>
  <cp:lastModifiedBy>Isherwood, Adam</cp:lastModifiedBy>
  <cp:revision>10</cp:revision>
  <dcterms:created xsi:type="dcterms:W3CDTF">2019-02-20T09:48:32Z</dcterms:created>
  <dcterms:modified xsi:type="dcterms:W3CDTF">2019-02-20T16:54:22Z</dcterms:modified>
</cp:coreProperties>
</file>