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3" r:id="rId3"/>
    <p:sldId id="257" r:id="rId4"/>
    <p:sldId id="258" r:id="rId5"/>
    <p:sldId id="259" r:id="rId6"/>
    <p:sldId id="260" r:id="rId7"/>
    <p:sldId id="261" r:id="rId8"/>
    <p:sldId id="264" r:id="rId9"/>
    <p:sldId id="266" r:id="rId10"/>
    <p:sldId id="262"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232"/>
    <p:restoredTop sz="96327"/>
  </p:normalViewPr>
  <p:slideViewPr>
    <p:cSldViewPr snapToGrid="0" snapToObjects="1">
      <p:cViewPr varScale="1">
        <p:scale>
          <a:sx n="70" d="100"/>
          <a:sy n="70" d="100"/>
        </p:scale>
        <p:origin x="44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23F4B8-DBA7-4A87-815C-38AB8A1BED9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A82905C-8291-4D2D-BEFD-80FD433ABD66}">
      <dgm:prSet/>
      <dgm:spPr/>
      <dgm:t>
        <a:bodyPr/>
        <a:lstStyle/>
        <a:p>
          <a:r>
            <a:rPr lang="en-US"/>
            <a:t>One-time costs – occur only once during the implementation of the system</a:t>
          </a:r>
        </a:p>
      </dgm:t>
    </dgm:pt>
    <dgm:pt modelId="{52260B83-9E32-4A56-B3E6-481B0D17FA02}" type="parTrans" cxnId="{71F63F2F-C0A6-42AF-89EF-CD00DDB358CF}">
      <dgm:prSet/>
      <dgm:spPr/>
      <dgm:t>
        <a:bodyPr/>
        <a:lstStyle/>
        <a:p>
          <a:endParaRPr lang="en-US"/>
        </a:p>
      </dgm:t>
    </dgm:pt>
    <dgm:pt modelId="{40F57018-600A-431E-A4FA-DAEF4DE94527}" type="sibTrans" cxnId="{71F63F2F-C0A6-42AF-89EF-CD00DDB358CF}">
      <dgm:prSet/>
      <dgm:spPr/>
      <dgm:t>
        <a:bodyPr/>
        <a:lstStyle/>
        <a:p>
          <a:endParaRPr lang="en-US"/>
        </a:p>
      </dgm:t>
    </dgm:pt>
    <dgm:pt modelId="{60A4574A-4A12-4D59-AD3B-4719F55B68BF}">
      <dgm:prSet/>
      <dgm:spPr/>
      <dgm:t>
        <a:bodyPr/>
        <a:lstStyle/>
        <a:p>
          <a:r>
            <a:rPr lang="en-US"/>
            <a:t>Capital cost – consists of outright capital expenditures for the purchase of capital equipment or service. These costs can be estimated simply by contacting the suppliers of these items.</a:t>
          </a:r>
        </a:p>
      </dgm:t>
    </dgm:pt>
    <dgm:pt modelId="{B99881FC-A8BC-4011-83C6-D347B7F373B6}" type="parTrans" cxnId="{E54C7847-2F7A-4D94-B1CC-EDE891DA6324}">
      <dgm:prSet/>
      <dgm:spPr/>
      <dgm:t>
        <a:bodyPr/>
        <a:lstStyle/>
        <a:p>
          <a:endParaRPr lang="en-US"/>
        </a:p>
      </dgm:t>
    </dgm:pt>
    <dgm:pt modelId="{C44AD31E-1091-4A75-9E3C-C2C65F8FD8AB}" type="sibTrans" cxnId="{E54C7847-2F7A-4D94-B1CC-EDE891DA6324}">
      <dgm:prSet/>
      <dgm:spPr/>
      <dgm:t>
        <a:bodyPr/>
        <a:lstStyle/>
        <a:p>
          <a:endParaRPr lang="en-US"/>
        </a:p>
      </dgm:t>
    </dgm:pt>
    <dgm:pt modelId="{BA2D17CE-D535-4B2C-AD89-3F5BD41E0126}">
      <dgm:prSet/>
      <dgm:spPr/>
      <dgm:t>
        <a:bodyPr/>
        <a:lstStyle/>
        <a:p>
          <a:r>
            <a:rPr lang="en-US"/>
            <a:t>Example- a new system may require additional software such as a DBMS, compiler, IDE, application package etc.</a:t>
          </a:r>
        </a:p>
      </dgm:t>
    </dgm:pt>
    <dgm:pt modelId="{2BF62627-386C-4F45-8A91-EE66EF234E13}" type="parTrans" cxnId="{C03FD827-073B-48B4-8DBE-295CB53F08D2}">
      <dgm:prSet/>
      <dgm:spPr/>
      <dgm:t>
        <a:bodyPr/>
        <a:lstStyle/>
        <a:p>
          <a:endParaRPr lang="en-US"/>
        </a:p>
      </dgm:t>
    </dgm:pt>
    <dgm:pt modelId="{AAF967BD-12B5-4947-A0B3-E909CF91CCBA}" type="sibTrans" cxnId="{C03FD827-073B-48B4-8DBE-295CB53F08D2}">
      <dgm:prSet/>
      <dgm:spPr/>
      <dgm:t>
        <a:bodyPr/>
        <a:lstStyle/>
        <a:p>
          <a:endParaRPr lang="en-US"/>
        </a:p>
      </dgm:t>
    </dgm:pt>
    <dgm:pt modelId="{63E91C37-5266-4DFF-B99C-FAA40D09B6F8}" type="pres">
      <dgm:prSet presAssocID="{8A23F4B8-DBA7-4A87-815C-38AB8A1BED91}" presName="root" presStyleCnt="0">
        <dgm:presLayoutVars>
          <dgm:dir/>
          <dgm:resizeHandles val="exact"/>
        </dgm:presLayoutVars>
      </dgm:prSet>
      <dgm:spPr/>
    </dgm:pt>
    <dgm:pt modelId="{CA55F8E9-2019-4236-AE30-2CAA9C4DF578}" type="pres">
      <dgm:prSet presAssocID="{EA82905C-8291-4D2D-BEFD-80FD433ABD66}" presName="compNode" presStyleCnt="0"/>
      <dgm:spPr/>
    </dgm:pt>
    <dgm:pt modelId="{B0D3703B-19C5-43F9-AF4C-83ADCAB2C800}" type="pres">
      <dgm:prSet presAssocID="{EA82905C-8291-4D2D-BEFD-80FD433ABD66}" presName="bgRect" presStyleLbl="bgShp" presStyleIdx="0" presStyleCnt="2"/>
      <dgm:spPr/>
    </dgm:pt>
    <dgm:pt modelId="{D8A63EFE-1FED-4BD5-8AC0-BD5E38E45CE3}" type="pres">
      <dgm:prSet presAssocID="{EA82905C-8291-4D2D-BEFD-80FD433ABD6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F9ACF045-D0A4-4237-ACC1-4EDD5966BE6C}" type="pres">
      <dgm:prSet presAssocID="{EA82905C-8291-4D2D-BEFD-80FD433ABD66}" presName="spaceRect" presStyleCnt="0"/>
      <dgm:spPr/>
    </dgm:pt>
    <dgm:pt modelId="{D29EE6A3-F818-4343-B5CF-2CCB80B1768D}" type="pres">
      <dgm:prSet presAssocID="{EA82905C-8291-4D2D-BEFD-80FD433ABD66}" presName="parTx" presStyleLbl="revTx" presStyleIdx="0" presStyleCnt="3">
        <dgm:presLayoutVars>
          <dgm:chMax val="0"/>
          <dgm:chPref val="0"/>
        </dgm:presLayoutVars>
      </dgm:prSet>
      <dgm:spPr/>
    </dgm:pt>
    <dgm:pt modelId="{A414F0D9-A2CC-4BA8-A006-69992B9017DA}" type="pres">
      <dgm:prSet presAssocID="{40F57018-600A-431E-A4FA-DAEF4DE94527}" presName="sibTrans" presStyleCnt="0"/>
      <dgm:spPr/>
    </dgm:pt>
    <dgm:pt modelId="{C3F65A73-A2DF-410B-BAB0-FB255161A110}" type="pres">
      <dgm:prSet presAssocID="{60A4574A-4A12-4D59-AD3B-4719F55B68BF}" presName="compNode" presStyleCnt="0"/>
      <dgm:spPr/>
    </dgm:pt>
    <dgm:pt modelId="{2465CFD7-9FCB-411E-8561-C423D65ECF3C}" type="pres">
      <dgm:prSet presAssocID="{60A4574A-4A12-4D59-AD3B-4719F55B68BF}" presName="bgRect" presStyleLbl="bgShp" presStyleIdx="1" presStyleCnt="2"/>
      <dgm:spPr/>
    </dgm:pt>
    <dgm:pt modelId="{23BCE9E7-3DE7-4EA5-B44B-9F5E174281F2}" type="pres">
      <dgm:prSet presAssocID="{60A4574A-4A12-4D59-AD3B-4719F55B68B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llar"/>
        </a:ext>
      </dgm:extLst>
    </dgm:pt>
    <dgm:pt modelId="{CC9F15C8-91A8-4A07-9BA2-CABDA9C64242}" type="pres">
      <dgm:prSet presAssocID="{60A4574A-4A12-4D59-AD3B-4719F55B68BF}" presName="spaceRect" presStyleCnt="0"/>
      <dgm:spPr/>
    </dgm:pt>
    <dgm:pt modelId="{EAA27CE1-4DC7-4968-9084-B932B9739348}" type="pres">
      <dgm:prSet presAssocID="{60A4574A-4A12-4D59-AD3B-4719F55B68BF}" presName="parTx" presStyleLbl="revTx" presStyleIdx="1" presStyleCnt="3">
        <dgm:presLayoutVars>
          <dgm:chMax val="0"/>
          <dgm:chPref val="0"/>
        </dgm:presLayoutVars>
      </dgm:prSet>
      <dgm:spPr/>
    </dgm:pt>
    <dgm:pt modelId="{5FBA2CCA-FA19-48BA-B1A2-A6E34A1759DC}" type="pres">
      <dgm:prSet presAssocID="{60A4574A-4A12-4D59-AD3B-4719F55B68BF}" presName="desTx" presStyleLbl="revTx" presStyleIdx="2" presStyleCnt="3">
        <dgm:presLayoutVars/>
      </dgm:prSet>
      <dgm:spPr/>
    </dgm:pt>
  </dgm:ptLst>
  <dgm:cxnLst>
    <dgm:cxn modelId="{C03FD827-073B-48B4-8DBE-295CB53F08D2}" srcId="{60A4574A-4A12-4D59-AD3B-4719F55B68BF}" destId="{BA2D17CE-D535-4B2C-AD89-3F5BD41E0126}" srcOrd="0" destOrd="0" parTransId="{2BF62627-386C-4F45-8A91-EE66EF234E13}" sibTransId="{AAF967BD-12B5-4947-A0B3-E909CF91CCBA}"/>
    <dgm:cxn modelId="{F7530A28-A385-4D52-BDFD-4F9659CA81CA}" type="presOf" srcId="{BA2D17CE-D535-4B2C-AD89-3F5BD41E0126}" destId="{5FBA2CCA-FA19-48BA-B1A2-A6E34A1759DC}" srcOrd="0" destOrd="0" presId="urn:microsoft.com/office/officeart/2018/2/layout/IconVerticalSolidList"/>
    <dgm:cxn modelId="{71F63F2F-C0A6-42AF-89EF-CD00DDB358CF}" srcId="{8A23F4B8-DBA7-4A87-815C-38AB8A1BED91}" destId="{EA82905C-8291-4D2D-BEFD-80FD433ABD66}" srcOrd="0" destOrd="0" parTransId="{52260B83-9E32-4A56-B3E6-481B0D17FA02}" sibTransId="{40F57018-600A-431E-A4FA-DAEF4DE94527}"/>
    <dgm:cxn modelId="{DEDE0566-8C14-4B29-91CD-D9B0F5ACDCAB}" type="presOf" srcId="{60A4574A-4A12-4D59-AD3B-4719F55B68BF}" destId="{EAA27CE1-4DC7-4968-9084-B932B9739348}" srcOrd="0" destOrd="0" presId="urn:microsoft.com/office/officeart/2018/2/layout/IconVerticalSolidList"/>
    <dgm:cxn modelId="{E54C7847-2F7A-4D94-B1CC-EDE891DA6324}" srcId="{8A23F4B8-DBA7-4A87-815C-38AB8A1BED91}" destId="{60A4574A-4A12-4D59-AD3B-4719F55B68BF}" srcOrd="1" destOrd="0" parTransId="{B99881FC-A8BC-4011-83C6-D347B7F373B6}" sibTransId="{C44AD31E-1091-4A75-9E3C-C2C65F8FD8AB}"/>
    <dgm:cxn modelId="{8109A767-53DD-425A-A286-05CF041362C4}" type="presOf" srcId="{8A23F4B8-DBA7-4A87-815C-38AB8A1BED91}" destId="{63E91C37-5266-4DFF-B99C-FAA40D09B6F8}" srcOrd="0" destOrd="0" presId="urn:microsoft.com/office/officeart/2018/2/layout/IconVerticalSolidList"/>
    <dgm:cxn modelId="{1019F6D0-5D83-4171-B463-7F48A36713EB}" type="presOf" srcId="{EA82905C-8291-4D2D-BEFD-80FD433ABD66}" destId="{D29EE6A3-F818-4343-B5CF-2CCB80B1768D}" srcOrd="0" destOrd="0" presId="urn:microsoft.com/office/officeart/2018/2/layout/IconVerticalSolidList"/>
    <dgm:cxn modelId="{25F909A0-2097-447C-9155-416C76FFC3ED}" type="presParOf" srcId="{63E91C37-5266-4DFF-B99C-FAA40D09B6F8}" destId="{CA55F8E9-2019-4236-AE30-2CAA9C4DF578}" srcOrd="0" destOrd="0" presId="urn:microsoft.com/office/officeart/2018/2/layout/IconVerticalSolidList"/>
    <dgm:cxn modelId="{EE1F52DE-86D0-426D-9075-5A24B71B0942}" type="presParOf" srcId="{CA55F8E9-2019-4236-AE30-2CAA9C4DF578}" destId="{B0D3703B-19C5-43F9-AF4C-83ADCAB2C800}" srcOrd="0" destOrd="0" presId="urn:microsoft.com/office/officeart/2018/2/layout/IconVerticalSolidList"/>
    <dgm:cxn modelId="{18B5FB9B-72E4-4FC2-B4F9-17701AEAC0B6}" type="presParOf" srcId="{CA55F8E9-2019-4236-AE30-2CAA9C4DF578}" destId="{D8A63EFE-1FED-4BD5-8AC0-BD5E38E45CE3}" srcOrd="1" destOrd="0" presId="urn:microsoft.com/office/officeart/2018/2/layout/IconVerticalSolidList"/>
    <dgm:cxn modelId="{79F3740A-C6C8-4B8E-AAD4-A736505901BE}" type="presParOf" srcId="{CA55F8E9-2019-4236-AE30-2CAA9C4DF578}" destId="{F9ACF045-D0A4-4237-ACC1-4EDD5966BE6C}" srcOrd="2" destOrd="0" presId="urn:microsoft.com/office/officeart/2018/2/layout/IconVerticalSolidList"/>
    <dgm:cxn modelId="{27D42C5D-DF9C-4187-AB30-242A14A3D30D}" type="presParOf" srcId="{CA55F8E9-2019-4236-AE30-2CAA9C4DF578}" destId="{D29EE6A3-F818-4343-B5CF-2CCB80B1768D}" srcOrd="3" destOrd="0" presId="urn:microsoft.com/office/officeart/2018/2/layout/IconVerticalSolidList"/>
    <dgm:cxn modelId="{8B661EED-EBC0-49A9-A515-2685D8207B9D}" type="presParOf" srcId="{63E91C37-5266-4DFF-B99C-FAA40D09B6F8}" destId="{A414F0D9-A2CC-4BA8-A006-69992B9017DA}" srcOrd="1" destOrd="0" presId="urn:microsoft.com/office/officeart/2018/2/layout/IconVerticalSolidList"/>
    <dgm:cxn modelId="{6B6C72ED-3B99-4EDC-AB0C-4A7F08AD23D5}" type="presParOf" srcId="{63E91C37-5266-4DFF-B99C-FAA40D09B6F8}" destId="{C3F65A73-A2DF-410B-BAB0-FB255161A110}" srcOrd="2" destOrd="0" presId="urn:microsoft.com/office/officeart/2018/2/layout/IconVerticalSolidList"/>
    <dgm:cxn modelId="{6C4D780D-1D7E-4A92-A05F-0C20EDDCF5CD}" type="presParOf" srcId="{C3F65A73-A2DF-410B-BAB0-FB255161A110}" destId="{2465CFD7-9FCB-411E-8561-C423D65ECF3C}" srcOrd="0" destOrd="0" presId="urn:microsoft.com/office/officeart/2018/2/layout/IconVerticalSolidList"/>
    <dgm:cxn modelId="{B9784F07-6DB7-4CEB-9AC5-28DCC646177A}" type="presParOf" srcId="{C3F65A73-A2DF-410B-BAB0-FB255161A110}" destId="{23BCE9E7-3DE7-4EA5-B44B-9F5E174281F2}" srcOrd="1" destOrd="0" presId="urn:microsoft.com/office/officeart/2018/2/layout/IconVerticalSolidList"/>
    <dgm:cxn modelId="{604A6F00-751B-4366-AE7A-31BF6550DEE6}" type="presParOf" srcId="{C3F65A73-A2DF-410B-BAB0-FB255161A110}" destId="{CC9F15C8-91A8-4A07-9BA2-CABDA9C64242}" srcOrd="2" destOrd="0" presId="urn:microsoft.com/office/officeart/2018/2/layout/IconVerticalSolidList"/>
    <dgm:cxn modelId="{517B5631-6A4B-47BF-91AF-B2D57CD805B0}" type="presParOf" srcId="{C3F65A73-A2DF-410B-BAB0-FB255161A110}" destId="{EAA27CE1-4DC7-4968-9084-B932B9739348}" srcOrd="3" destOrd="0" presId="urn:microsoft.com/office/officeart/2018/2/layout/IconVerticalSolidList"/>
    <dgm:cxn modelId="{91F62260-310B-45B2-BE27-7517E411F805}" type="presParOf" srcId="{C3F65A73-A2DF-410B-BAB0-FB255161A110}" destId="{5FBA2CCA-FA19-48BA-B1A2-A6E34A1759D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D3703B-19C5-43F9-AF4C-83ADCAB2C800}">
      <dsp:nvSpPr>
        <dsp:cNvPr id="0" name=""/>
        <dsp:cNvSpPr/>
      </dsp:nvSpPr>
      <dsp:spPr>
        <a:xfrm>
          <a:off x="0" y="737006"/>
          <a:ext cx="10506456" cy="13606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A63EFE-1FED-4BD5-8AC0-BD5E38E45CE3}">
      <dsp:nvSpPr>
        <dsp:cNvPr id="0" name=""/>
        <dsp:cNvSpPr/>
      </dsp:nvSpPr>
      <dsp:spPr>
        <a:xfrm>
          <a:off x="411589" y="1043147"/>
          <a:ext cx="748344" cy="7483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29EE6A3-F818-4343-B5CF-2CCB80B1768D}">
      <dsp:nvSpPr>
        <dsp:cNvPr id="0" name=""/>
        <dsp:cNvSpPr/>
      </dsp:nvSpPr>
      <dsp:spPr>
        <a:xfrm>
          <a:off x="1571524" y="737006"/>
          <a:ext cx="8934931" cy="136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000" tIns="144000" rIns="144000" bIns="144000" numCol="1" spcCol="1270" anchor="ctr" anchorCtr="0">
          <a:noAutofit/>
        </a:bodyPr>
        <a:lstStyle/>
        <a:p>
          <a:pPr marL="0" lvl="0" indent="0" algn="l" defTabSz="666750">
            <a:lnSpc>
              <a:spcPct val="90000"/>
            </a:lnSpc>
            <a:spcBef>
              <a:spcPct val="0"/>
            </a:spcBef>
            <a:spcAft>
              <a:spcPct val="35000"/>
            </a:spcAft>
            <a:buNone/>
          </a:pPr>
          <a:r>
            <a:rPr lang="en-US" sz="1500" kern="1200"/>
            <a:t>One-time costs – occur only once during the implementation of the system</a:t>
          </a:r>
        </a:p>
      </dsp:txBody>
      <dsp:txXfrm>
        <a:off x="1571524" y="737006"/>
        <a:ext cx="8934931" cy="1360627"/>
      </dsp:txXfrm>
    </dsp:sp>
    <dsp:sp modelId="{2465CFD7-9FCB-411E-8561-C423D65ECF3C}">
      <dsp:nvSpPr>
        <dsp:cNvPr id="0" name=""/>
        <dsp:cNvSpPr/>
      </dsp:nvSpPr>
      <dsp:spPr>
        <a:xfrm>
          <a:off x="0" y="2437790"/>
          <a:ext cx="10506456" cy="13606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BCE9E7-3DE7-4EA5-B44B-9F5E174281F2}">
      <dsp:nvSpPr>
        <dsp:cNvPr id="0" name=""/>
        <dsp:cNvSpPr/>
      </dsp:nvSpPr>
      <dsp:spPr>
        <a:xfrm>
          <a:off x="411589" y="2743931"/>
          <a:ext cx="748344" cy="7483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AA27CE1-4DC7-4968-9084-B932B9739348}">
      <dsp:nvSpPr>
        <dsp:cNvPr id="0" name=""/>
        <dsp:cNvSpPr/>
      </dsp:nvSpPr>
      <dsp:spPr>
        <a:xfrm>
          <a:off x="1571524" y="2437790"/>
          <a:ext cx="4727905" cy="136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000" tIns="144000" rIns="144000" bIns="144000" numCol="1" spcCol="1270" anchor="ctr" anchorCtr="0">
          <a:noAutofit/>
        </a:bodyPr>
        <a:lstStyle/>
        <a:p>
          <a:pPr marL="0" lvl="0" indent="0" algn="l" defTabSz="666750">
            <a:lnSpc>
              <a:spcPct val="90000"/>
            </a:lnSpc>
            <a:spcBef>
              <a:spcPct val="0"/>
            </a:spcBef>
            <a:spcAft>
              <a:spcPct val="35000"/>
            </a:spcAft>
            <a:buNone/>
          </a:pPr>
          <a:r>
            <a:rPr lang="en-US" sz="1500" kern="1200"/>
            <a:t>Capital cost – consists of outright capital expenditures for the purchase of capital equipment or service. These costs can be estimated simply by contacting the suppliers of these items.</a:t>
          </a:r>
        </a:p>
      </dsp:txBody>
      <dsp:txXfrm>
        <a:off x="1571524" y="2437790"/>
        <a:ext cx="4727905" cy="1360627"/>
      </dsp:txXfrm>
    </dsp:sp>
    <dsp:sp modelId="{5FBA2CCA-FA19-48BA-B1A2-A6E34A1759DC}">
      <dsp:nvSpPr>
        <dsp:cNvPr id="0" name=""/>
        <dsp:cNvSpPr/>
      </dsp:nvSpPr>
      <dsp:spPr>
        <a:xfrm>
          <a:off x="6299429" y="2437790"/>
          <a:ext cx="4207026" cy="136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000" tIns="144000" rIns="144000" bIns="144000" numCol="1" spcCol="1270" anchor="ctr" anchorCtr="0">
          <a:noAutofit/>
        </a:bodyPr>
        <a:lstStyle/>
        <a:p>
          <a:pPr marL="0" lvl="0" indent="0" algn="l" defTabSz="533400">
            <a:lnSpc>
              <a:spcPct val="90000"/>
            </a:lnSpc>
            <a:spcBef>
              <a:spcPct val="0"/>
            </a:spcBef>
            <a:spcAft>
              <a:spcPct val="35000"/>
            </a:spcAft>
            <a:buNone/>
          </a:pPr>
          <a:r>
            <a:rPr lang="en-US" sz="1200" kern="1200"/>
            <a:t>Example- a new system may require additional software such as a DBMS, compiler, IDE, application package etc.</a:t>
          </a:r>
        </a:p>
      </dsp:txBody>
      <dsp:txXfrm>
        <a:off x="6299429" y="2437790"/>
        <a:ext cx="4207026" cy="136062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4AEFF6-530C-E447-8895-756A73E5B48C}" type="datetimeFigureOut">
              <a:rPr lang="en-US" smtClean="0"/>
              <a:t>2/8/2022</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2938835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4AEFF6-530C-E447-8895-756A73E5B48C}" type="datetimeFigureOut">
              <a:rPr lang="en-US" smtClean="0"/>
              <a:t>2/8/2022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2269033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4AEFF6-530C-E447-8895-756A73E5B48C}" type="datetimeFigureOut">
              <a:rPr lang="en-US" smtClean="0"/>
              <a:t>2/8/2022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1155718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4AEFF6-530C-E447-8895-756A73E5B48C}" type="datetimeFigureOut">
              <a:rPr lang="en-US" smtClean="0"/>
              <a:t>2/8/2022</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1077409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4AEFF6-530C-E447-8895-756A73E5B48C}" type="datetimeFigureOut">
              <a:rPr lang="en-US" smtClean="0"/>
              <a:t>2/8/2022</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1690048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AEFF6-530C-E447-8895-756A73E5B48C}" type="datetimeFigureOut">
              <a:rPr lang="en-US" smtClean="0"/>
              <a:t>2/8/2022</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88114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4AEFF6-530C-E447-8895-756A73E5B48C}" type="datetimeFigureOut">
              <a:rPr lang="en-US" smtClean="0"/>
              <a:t>2/8/2022</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3675871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4AEFF6-530C-E447-8895-756A73E5B48C}" type="datetimeFigureOut">
              <a:rPr lang="en-US" smtClean="0"/>
              <a:t>2/8/2022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472683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4AEFF6-530C-E447-8895-756A73E5B48C}" type="datetimeFigureOut">
              <a:rPr lang="en-US" smtClean="0"/>
              <a:t>2/8/2022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1925294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4AEFF6-530C-E447-8895-756A73E5B48C}" type="datetimeFigureOut">
              <a:rPr lang="en-US" smtClean="0"/>
              <a:t>2/8/2022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2586351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4AEFF6-530C-E447-8895-756A73E5B48C}" type="datetimeFigureOut">
              <a:rPr lang="en-US" smtClean="0"/>
              <a:t>2/8/2022</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8D869A7-6337-AC43-B144-38246D68156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518394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F4AEFF6-530C-E447-8895-756A73E5B48C}" type="datetimeFigureOut">
              <a:rPr lang="en-US" smtClean="0"/>
              <a:t>2/8/2022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1133132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F4AEFF6-530C-E447-8895-756A73E5B48C}" type="datetimeFigureOut">
              <a:rPr lang="en-US" smtClean="0"/>
              <a:t>2/8/2022</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8D869A7-6337-AC43-B144-38246D68156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96718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F4AEFF6-530C-E447-8895-756A73E5B48C}" type="datetimeFigureOut">
              <a:rPr lang="en-US" smtClean="0"/>
              <a:t>2/8/2022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666485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4AEFF6-530C-E447-8895-756A73E5B48C}" type="datetimeFigureOut">
              <a:rPr lang="en-US" smtClean="0"/>
              <a:t>2/8/2022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3475555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4AEFF6-530C-E447-8895-756A73E5B48C}" type="datetimeFigureOut">
              <a:rPr lang="en-US" smtClean="0"/>
              <a:t>2/8/2022</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8D869A7-6337-AC43-B144-38246D68156B}" type="slidenum">
              <a:rPr lang="en-US" smtClean="0"/>
              <a:t>‹#›</a:t>
            </a:fld>
            <a:endParaRPr lang="en-US"/>
          </a:p>
        </p:txBody>
      </p:sp>
    </p:spTree>
    <p:extLst>
      <p:ext uri="{BB962C8B-B14F-4D97-AF65-F5344CB8AC3E}">
        <p14:creationId xmlns:p14="http://schemas.microsoft.com/office/powerpoint/2010/main" val="29647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F4AEFF6-530C-E447-8895-756A73E5B48C}" type="datetimeFigureOut">
              <a:rPr lang="en-US" smtClean="0"/>
              <a:t>2/8/2022</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8D869A7-6337-AC43-B144-38246D68156B}" type="slidenum">
              <a:rPr lang="en-US" smtClean="0"/>
              <a:t>‹#›</a:t>
            </a:fld>
            <a:endParaRPr lang="en-US"/>
          </a:p>
        </p:txBody>
      </p:sp>
    </p:spTree>
    <p:extLst>
      <p:ext uri="{BB962C8B-B14F-4D97-AF65-F5344CB8AC3E}">
        <p14:creationId xmlns:p14="http://schemas.microsoft.com/office/powerpoint/2010/main" val="12551235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17DB-1953-EB43-BF01-A7999DF31D9A}"/>
              </a:ext>
            </a:extLst>
          </p:cNvPr>
          <p:cNvSpPr>
            <a:spLocks noGrp="1"/>
          </p:cNvSpPr>
          <p:nvPr>
            <p:ph type="ctrTitle"/>
          </p:nvPr>
        </p:nvSpPr>
        <p:spPr>
          <a:xfrm>
            <a:off x="6413111" y="640081"/>
            <a:ext cx="5138808" cy="3352473"/>
          </a:xfrm>
          <a:noFill/>
        </p:spPr>
        <p:txBody>
          <a:bodyPr>
            <a:normAutofit/>
          </a:bodyPr>
          <a:lstStyle/>
          <a:p>
            <a:r>
              <a:rPr lang="en-US" dirty="0"/>
              <a:t>Cost Benefit Analysis</a:t>
            </a:r>
          </a:p>
        </p:txBody>
      </p:sp>
      <p:sp>
        <p:nvSpPr>
          <p:cNvPr id="3" name="Subtitle 2">
            <a:extLst>
              <a:ext uri="{FF2B5EF4-FFF2-40B4-BE49-F238E27FC236}">
                <a16:creationId xmlns:a16="http://schemas.microsoft.com/office/drawing/2014/main" id="{99AA1E48-1F15-814C-896C-B7BF65DEAFA9}"/>
              </a:ext>
            </a:extLst>
          </p:cNvPr>
          <p:cNvSpPr>
            <a:spLocks noGrp="1"/>
          </p:cNvSpPr>
          <p:nvPr>
            <p:ph type="subTitle" idx="1"/>
          </p:nvPr>
        </p:nvSpPr>
        <p:spPr>
          <a:xfrm>
            <a:off x="6413110" y="4157147"/>
            <a:ext cx="5138809" cy="2060774"/>
          </a:xfrm>
          <a:noFill/>
        </p:spPr>
        <p:txBody>
          <a:bodyPr>
            <a:normAutofit/>
          </a:bodyPr>
          <a:lstStyle/>
          <a:p>
            <a:r>
              <a:rPr lang="en-US" dirty="0"/>
              <a:t>Feasibility Study</a:t>
            </a:r>
          </a:p>
        </p:txBody>
      </p:sp>
      <p:pic>
        <p:nvPicPr>
          <p:cNvPr id="7" name="Graphic 6" descr="Coins">
            <a:extLst>
              <a:ext uri="{FF2B5EF4-FFF2-40B4-BE49-F238E27FC236}">
                <a16:creationId xmlns:a16="http://schemas.microsoft.com/office/drawing/2014/main" id="{6871E5D3-06BC-41B1-9AD3-B1A8C90286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6500" y="1344157"/>
            <a:ext cx="4169664" cy="4169664"/>
          </a:xfrm>
          <a:prstGeom prst="rect">
            <a:avLst/>
          </a:prstGeom>
          <a:effectLst/>
        </p:spPr>
      </p:pic>
    </p:spTree>
    <p:extLst>
      <p:ext uri="{BB962C8B-B14F-4D97-AF65-F5344CB8AC3E}">
        <p14:creationId xmlns:p14="http://schemas.microsoft.com/office/powerpoint/2010/main" val="205652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F7122-57D3-6842-9ACB-8E3B96324AAE}"/>
              </a:ext>
            </a:extLst>
          </p:cNvPr>
          <p:cNvSpPr>
            <a:spLocks noGrp="1"/>
          </p:cNvSpPr>
          <p:nvPr>
            <p:ph type="title"/>
          </p:nvPr>
        </p:nvSpPr>
        <p:spPr>
          <a:xfrm>
            <a:off x="1075767" y="1188637"/>
            <a:ext cx="3550824" cy="4480726"/>
          </a:xfrm>
        </p:spPr>
        <p:txBody>
          <a:bodyPr>
            <a:normAutofit/>
          </a:bodyPr>
          <a:lstStyle/>
          <a:p>
            <a:pPr algn="r"/>
            <a:r>
              <a:rPr lang="en-US" sz="6600" dirty="0"/>
              <a:t>Purpose</a:t>
            </a:r>
          </a:p>
        </p:txBody>
      </p:sp>
      <p:sp>
        <p:nvSpPr>
          <p:cNvPr id="3" name="Content Placeholder 2">
            <a:extLst>
              <a:ext uri="{FF2B5EF4-FFF2-40B4-BE49-F238E27FC236}">
                <a16:creationId xmlns:a16="http://schemas.microsoft.com/office/drawing/2014/main" id="{86591F86-23D0-2C4A-9CDE-0EDB7EBC9354}"/>
              </a:ext>
            </a:extLst>
          </p:cNvPr>
          <p:cNvSpPr>
            <a:spLocks noGrp="1"/>
          </p:cNvSpPr>
          <p:nvPr>
            <p:ph idx="1"/>
          </p:nvPr>
        </p:nvSpPr>
        <p:spPr>
          <a:xfrm>
            <a:off x="5255260" y="1648870"/>
            <a:ext cx="4702848" cy="3560260"/>
          </a:xfrm>
        </p:spPr>
        <p:txBody>
          <a:bodyPr anchor="ctr">
            <a:normAutofit fontScale="92500"/>
          </a:bodyPr>
          <a:lstStyle/>
          <a:p>
            <a:pPr marL="0" indent="0">
              <a:buNone/>
            </a:pPr>
            <a:r>
              <a:rPr lang="en-GB" sz="2200" dirty="0"/>
              <a:t>There are two main purposes in using CBA:</a:t>
            </a:r>
          </a:p>
          <a:p>
            <a:r>
              <a:rPr lang="en-GB" sz="2200" dirty="0"/>
              <a:t>To determine if the project is sound, justifiable and feasible by figuring out if its benefits outweigh costs.</a:t>
            </a:r>
          </a:p>
          <a:p>
            <a:r>
              <a:rPr lang="en-GB" sz="2200" dirty="0"/>
              <a:t>To offer a baseline for comparing projects by determining which project’s benefits are greater than its costs.</a:t>
            </a:r>
          </a:p>
          <a:p>
            <a:endParaRPr lang="en-US" sz="2200" dirty="0"/>
          </a:p>
        </p:txBody>
      </p:sp>
    </p:spTree>
    <p:extLst>
      <p:ext uri="{BB962C8B-B14F-4D97-AF65-F5344CB8AC3E}">
        <p14:creationId xmlns:p14="http://schemas.microsoft.com/office/powerpoint/2010/main" val="1269953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29857-745D-1D4D-987C-E72F01529985}"/>
              </a:ext>
            </a:extLst>
          </p:cNvPr>
          <p:cNvSpPr>
            <a:spLocks noGrp="1"/>
          </p:cNvSpPr>
          <p:nvPr>
            <p:ph type="title"/>
          </p:nvPr>
        </p:nvSpPr>
        <p:spPr>
          <a:xfrm>
            <a:off x="1682496" y="334644"/>
            <a:ext cx="9662160" cy="1076914"/>
          </a:xfrm>
        </p:spPr>
        <p:txBody>
          <a:bodyPr anchor="ctr">
            <a:normAutofit/>
          </a:bodyPr>
          <a:lstStyle/>
          <a:p>
            <a:r>
              <a:rPr lang="en-US" sz="4000" dirty="0"/>
              <a:t>Cost analysis</a:t>
            </a:r>
          </a:p>
        </p:txBody>
      </p:sp>
      <p:graphicFrame>
        <p:nvGraphicFramePr>
          <p:cNvPr id="5" name="Content Placeholder 2">
            <a:extLst>
              <a:ext uri="{FF2B5EF4-FFF2-40B4-BE49-F238E27FC236}">
                <a16:creationId xmlns:a16="http://schemas.microsoft.com/office/drawing/2014/main" id="{4B26505B-798E-41F3-88CC-A53D686E7562}"/>
              </a:ext>
            </a:extLst>
          </p:cNvPr>
          <p:cNvGraphicFramePr>
            <a:graphicFrameLocks noGrp="1"/>
          </p:cNvGraphicFramePr>
          <p:nvPr>
            <p:ph idx="1"/>
            <p:extLst>
              <p:ext uri="{D42A27DB-BD31-4B8C-83A1-F6EECF244321}">
                <p14:modId xmlns:p14="http://schemas.microsoft.com/office/powerpoint/2010/main" val="31905797"/>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4888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170F1-6E8A-B145-856E-F26B62006F2A}"/>
              </a:ext>
            </a:extLst>
          </p:cNvPr>
          <p:cNvSpPr>
            <a:spLocks noGrp="1"/>
          </p:cNvSpPr>
          <p:nvPr>
            <p:ph type="title"/>
          </p:nvPr>
        </p:nvSpPr>
        <p:spPr>
          <a:xfrm>
            <a:off x="6094105" y="802955"/>
            <a:ext cx="4977976" cy="1454051"/>
          </a:xfrm>
        </p:spPr>
        <p:txBody>
          <a:bodyPr>
            <a:normAutofit/>
          </a:bodyPr>
          <a:lstStyle/>
          <a:p>
            <a:r>
              <a:rPr lang="en-US">
                <a:solidFill>
                  <a:srgbClr val="000000"/>
                </a:solidFill>
              </a:rPr>
              <a:t>Development Cost</a:t>
            </a:r>
          </a:p>
        </p:txBody>
      </p:sp>
      <p:sp>
        <p:nvSpPr>
          <p:cNvPr id="3" name="Content Placeholder 2">
            <a:extLst>
              <a:ext uri="{FF2B5EF4-FFF2-40B4-BE49-F238E27FC236}">
                <a16:creationId xmlns:a16="http://schemas.microsoft.com/office/drawing/2014/main" id="{F23486F1-26BF-B443-9EDC-25EAACF19361}"/>
              </a:ext>
            </a:extLst>
          </p:cNvPr>
          <p:cNvSpPr>
            <a:spLocks noGrp="1"/>
          </p:cNvSpPr>
          <p:nvPr>
            <p:ph idx="1"/>
          </p:nvPr>
        </p:nvSpPr>
        <p:spPr>
          <a:xfrm>
            <a:off x="6090574" y="2421682"/>
            <a:ext cx="4977578" cy="3639289"/>
          </a:xfrm>
        </p:spPr>
        <p:txBody>
          <a:bodyPr anchor="ctr">
            <a:normAutofit lnSpcReduction="10000"/>
          </a:bodyPr>
          <a:lstStyle/>
          <a:p>
            <a:r>
              <a:rPr lang="en-US" sz="2000">
                <a:solidFill>
                  <a:srgbClr val="000000"/>
                </a:solidFill>
              </a:rPr>
              <a:t>Administrative overhead</a:t>
            </a:r>
          </a:p>
          <a:p>
            <a:r>
              <a:rPr lang="en-US" sz="2000">
                <a:solidFill>
                  <a:srgbClr val="000000"/>
                </a:solidFill>
              </a:rPr>
              <a:t>Computer charges</a:t>
            </a:r>
          </a:p>
          <a:p>
            <a:r>
              <a:rPr lang="en-US" sz="2000">
                <a:solidFill>
                  <a:srgbClr val="000000"/>
                </a:solidFill>
              </a:rPr>
              <a:t>Consulting expenditure</a:t>
            </a:r>
          </a:p>
          <a:p>
            <a:r>
              <a:rPr lang="en-US" sz="2000">
                <a:solidFill>
                  <a:srgbClr val="000000"/>
                </a:solidFill>
              </a:rPr>
              <a:t>Personnel</a:t>
            </a:r>
          </a:p>
          <a:p>
            <a:r>
              <a:rPr lang="en-US" sz="2000">
                <a:solidFill>
                  <a:srgbClr val="000000"/>
                </a:solidFill>
              </a:rPr>
              <a:t>Training of computer personnel</a:t>
            </a:r>
          </a:p>
          <a:p>
            <a:r>
              <a:rPr lang="en-US" sz="2000">
                <a:solidFill>
                  <a:srgbClr val="000000"/>
                </a:solidFill>
              </a:rPr>
              <a:t>Office supplies</a:t>
            </a:r>
          </a:p>
          <a:p>
            <a:r>
              <a:rPr lang="en-US" sz="2000">
                <a:solidFill>
                  <a:srgbClr val="000000"/>
                </a:solidFill>
              </a:rPr>
              <a:t>Work lost due to disruption</a:t>
            </a:r>
          </a:p>
          <a:p>
            <a:r>
              <a:rPr lang="en-US" sz="2000">
                <a:solidFill>
                  <a:srgbClr val="000000"/>
                </a:solidFill>
              </a:rPr>
              <a:t>Communication charges</a:t>
            </a:r>
          </a:p>
          <a:p>
            <a:r>
              <a:rPr lang="en-US" sz="2000">
                <a:solidFill>
                  <a:srgbClr val="000000"/>
                </a:solidFill>
              </a:rPr>
              <a:t>travel</a:t>
            </a:r>
          </a:p>
        </p:txBody>
      </p:sp>
      <p:pic>
        <p:nvPicPr>
          <p:cNvPr id="7" name="Graphic 6" descr="Money">
            <a:extLst>
              <a:ext uri="{FF2B5EF4-FFF2-40B4-BE49-F238E27FC236}">
                <a16:creationId xmlns:a16="http://schemas.microsoft.com/office/drawing/2014/main" id="{B3FBA547-5EAB-4B99-A1CE-F2CF3C715E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0254" y="1629089"/>
            <a:ext cx="3620021" cy="3620021"/>
          </a:xfrm>
          <a:prstGeom prst="rect">
            <a:avLst/>
          </a:prstGeom>
        </p:spPr>
      </p:pic>
    </p:spTree>
    <p:extLst>
      <p:ext uri="{BB962C8B-B14F-4D97-AF65-F5344CB8AC3E}">
        <p14:creationId xmlns:p14="http://schemas.microsoft.com/office/powerpoint/2010/main" val="4184058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E3D8D-6E56-E144-B5A0-91AB5FDE5C4A}"/>
              </a:ext>
            </a:extLst>
          </p:cNvPr>
          <p:cNvSpPr>
            <a:spLocks noGrp="1"/>
          </p:cNvSpPr>
          <p:nvPr>
            <p:ph type="title"/>
          </p:nvPr>
        </p:nvSpPr>
        <p:spPr>
          <a:xfrm>
            <a:off x="6094105" y="802955"/>
            <a:ext cx="4977976" cy="1454051"/>
          </a:xfrm>
        </p:spPr>
        <p:txBody>
          <a:bodyPr>
            <a:normAutofit/>
          </a:bodyPr>
          <a:lstStyle/>
          <a:p>
            <a:r>
              <a:rPr lang="en-US">
                <a:solidFill>
                  <a:srgbClr val="000000"/>
                </a:solidFill>
              </a:rPr>
              <a:t>Conversion Costs</a:t>
            </a:r>
          </a:p>
        </p:txBody>
      </p:sp>
      <p:sp>
        <p:nvSpPr>
          <p:cNvPr id="3" name="Content Placeholder 2">
            <a:extLst>
              <a:ext uri="{FF2B5EF4-FFF2-40B4-BE49-F238E27FC236}">
                <a16:creationId xmlns:a16="http://schemas.microsoft.com/office/drawing/2014/main" id="{A141278B-B482-9343-8D81-8CC5DACACD33}"/>
              </a:ext>
            </a:extLst>
          </p:cNvPr>
          <p:cNvSpPr>
            <a:spLocks noGrp="1"/>
          </p:cNvSpPr>
          <p:nvPr>
            <p:ph idx="1"/>
          </p:nvPr>
        </p:nvSpPr>
        <p:spPr>
          <a:xfrm>
            <a:off x="6090574" y="2421682"/>
            <a:ext cx="4977578" cy="3639289"/>
          </a:xfrm>
        </p:spPr>
        <p:txBody>
          <a:bodyPr anchor="ctr">
            <a:normAutofit/>
          </a:bodyPr>
          <a:lstStyle/>
          <a:p>
            <a:pPr marL="0" indent="0">
              <a:buNone/>
            </a:pPr>
            <a:r>
              <a:rPr lang="en-US" sz="2000">
                <a:solidFill>
                  <a:srgbClr val="000000"/>
                </a:solidFill>
              </a:rPr>
              <a:t>Occurs during the conversion from old to new system</a:t>
            </a:r>
          </a:p>
          <a:p>
            <a:r>
              <a:rPr lang="en-US" sz="2000">
                <a:solidFill>
                  <a:srgbClr val="000000"/>
                </a:solidFill>
              </a:rPr>
              <a:t>Database conversion</a:t>
            </a:r>
          </a:p>
          <a:p>
            <a:r>
              <a:rPr lang="en-US" sz="2000">
                <a:solidFill>
                  <a:srgbClr val="000000"/>
                </a:solidFill>
              </a:rPr>
              <a:t>Training of employees</a:t>
            </a:r>
          </a:p>
          <a:p>
            <a:r>
              <a:rPr lang="en-US" sz="2000">
                <a:solidFill>
                  <a:srgbClr val="000000"/>
                </a:solidFill>
              </a:rPr>
              <a:t>Parallel running – personnel time</a:t>
            </a:r>
          </a:p>
        </p:txBody>
      </p:sp>
      <p:pic>
        <p:nvPicPr>
          <p:cNvPr id="7" name="Graphic 6" descr="Workforce Management">
            <a:extLst>
              <a:ext uri="{FF2B5EF4-FFF2-40B4-BE49-F238E27FC236}">
                <a16:creationId xmlns:a16="http://schemas.microsoft.com/office/drawing/2014/main" id="{4CD30C36-2791-4930-9579-56A4B392E13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0254" y="1629089"/>
            <a:ext cx="3620021" cy="3620021"/>
          </a:xfrm>
          <a:prstGeom prst="rect">
            <a:avLst/>
          </a:prstGeom>
        </p:spPr>
      </p:pic>
    </p:spTree>
    <p:extLst>
      <p:ext uri="{BB962C8B-B14F-4D97-AF65-F5344CB8AC3E}">
        <p14:creationId xmlns:p14="http://schemas.microsoft.com/office/powerpoint/2010/main" val="439570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45278-4887-1140-9D25-BADCCB2360F2}"/>
              </a:ext>
            </a:extLst>
          </p:cNvPr>
          <p:cNvSpPr>
            <a:spLocks noGrp="1"/>
          </p:cNvSpPr>
          <p:nvPr>
            <p:ph type="title"/>
          </p:nvPr>
        </p:nvSpPr>
        <p:spPr>
          <a:xfrm>
            <a:off x="1115568" y="548640"/>
            <a:ext cx="10168128" cy="1179576"/>
          </a:xfrm>
        </p:spPr>
        <p:txBody>
          <a:bodyPr>
            <a:normAutofit/>
          </a:bodyPr>
          <a:lstStyle/>
          <a:p>
            <a:r>
              <a:rPr lang="en-US" sz="4000"/>
              <a:t>Annual Operating Cost	</a:t>
            </a:r>
          </a:p>
        </p:txBody>
      </p:sp>
      <p:sp>
        <p:nvSpPr>
          <p:cNvPr id="3" name="Content Placeholder 2">
            <a:extLst>
              <a:ext uri="{FF2B5EF4-FFF2-40B4-BE49-F238E27FC236}">
                <a16:creationId xmlns:a16="http://schemas.microsoft.com/office/drawing/2014/main" id="{59C99C6D-DAA1-D645-BE56-810B160ADCB7}"/>
              </a:ext>
            </a:extLst>
          </p:cNvPr>
          <p:cNvSpPr>
            <a:spLocks noGrp="1"/>
          </p:cNvSpPr>
          <p:nvPr>
            <p:ph idx="1"/>
          </p:nvPr>
        </p:nvSpPr>
        <p:spPr>
          <a:xfrm>
            <a:off x="1115568" y="2481943"/>
            <a:ext cx="10168128" cy="3695020"/>
          </a:xfrm>
        </p:spPr>
        <p:txBody>
          <a:bodyPr>
            <a:normAutofit/>
          </a:bodyPr>
          <a:lstStyle/>
          <a:p>
            <a:r>
              <a:rPr lang="en-US" sz="2200"/>
              <a:t>Fixed costs – costs that are constant throughout the year such as administrative, licensing and leasing cost</a:t>
            </a:r>
          </a:p>
          <a:p>
            <a:r>
              <a:rPr lang="en-US" sz="2200"/>
              <a:t>Variable costs – costs that vary according to the intensity with which the information system is utilized. For example, cost of supplies incurred in each time period during the year will depend on how intensively the information system is utilised in that period.</a:t>
            </a:r>
          </a:p>
        </p:txBody>
      </p:sp>
    </p:spTree>
    <p:extLst>
      <p:ext uri="{BB962C8B-B14F-4D97-AF65-F5344CB8AC3E}">
        <p14:creationId xmlns:p14="http://schemas.microsoft.com/office/powerpoint/2010/main" val="3635317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D73F4-164D-5643-8FFB-8D735668D928}"/>
              </a:ext>
            </a:extLst>
          </p:cNvPr>
          <p:cNvSpPr>
            <a:spLocks noGrp="1"/>
          </p:cNvSpPr>
          <p:nvPr>
            <p:ph type="title"/>
          </p:nvPr>
        </p:nvSpPr>
        <p:spPr>
          <a:xfrm>
            <a:off x="6096000" y="1932176"/>
            <a:ext cx="5678060" cy="3947417"/>
          </a:xfrm>
          <a:noFill/>
        </p:spPr>
        <p:txBody>
          <a:bodyPr vert="horz" lIns="91440" tIns="45720" rIns="91440" bIns="45720" rtlCol="0" anchor="b">
            <a:normAutofit fontScale="90000"/>
          </a:bodyPr>
          <a:lstStyle/>
          <a:p>
            <a:r>
              <a:rPr lang="en-US" sz="6000"/>
              <a:t>Projected cost and projected benefit of a simple information system</a:t>
            </a:r>
            <a:endParaRPr lang="en-US" sz="6000" dirty="0"/>
          </a:p>
        </p:txBody>
      </p:sp>
      <p:pic>
        <p:nvPicPr>
          <p:cNvPr id="5" name="Content Placeholder 4" descr="Text, letter&#10;&#10;Description automatically generated">
            <a:extLst>
              <a:ext uri="{FF2B5EF4-FFF2-40B4-BE49-F238E27FC236}">
                <a16:creationId xmlns:a16="http://schemas.microsoft.com/office/drawing/2014/main" id="{CDE29A80-386A-8244-AA90-C0290DFE51C5}"/>
              </a:ext>
            </a:extLst>
          </p:cNvPr>
          <p:cNvPicPr>
            <a:picLocks noGrp="1" noChangeAspect="1"/>
          </p:cNvPicPr>
          <p:nvPr>
            <p:ph idx="1"/>
          </p:nvPr>
        </p:nvPicPr>
        <p:blipFill rotWithShape="1">
          <a:blip r:embed="rId2"/>
          <a:srcRect r="4809" b="2"/>
          <a:stretch/>
        </p:blipFill>
        <p:spPr>
          <a:xfrm>
            <a:off x="2410735" y="459040"/>
            <a:ext cx="3685265" cy="6398960"/>
          </a:xfrm>
          <a:prstGeom prst="rect">
            <a:avLst/>
          </a:prstGeom>
          <a:effectLst/>
        </p:spPr>
      </p:pic>
    </p:spTree>
    <p:extLst>
      <p:ext uri="{BB962C8B-B14F-4D97-AF65-F5344CB8AC3E}">
        <p14:creationId xmlns:p14="http://schemas.microsoft.com/office/powerpoint/2010/main" val="1124938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9FDF4-0E1F-7D4E-BB86-53923EDDE090}"/>
              </a:ext>
            </a:extLst>
          </p:cNvPr>
          <p:cNvSpPr>
            <a:spLocks noGrp="1"/>
          </p:cNvSpPr>
          <p:nvPr>
            <p:ph type="title"/>
          </p:nvPr>
        </p:nvSpPr>
        <p:spPr>
          <a:xfrm>
            <a:off x="1113810" y="3130041"/>
            <a:ext cx="4036334" cy="2387600"/>
          </a:xfrm>
        </p:spPr>
        <p:txBody>
          <a:bodyPr vert="horz" lIns="91440" tIns="45720" rIns="91440" bIns="45720" rtlCol="0" anchor="t">
            <a:normAutofit/>
          </a:bodyPr>
          <a:lstStyle/>
          <a:p>
            <a:r>
              <a:rPr lang="en-US" sz="5400" dirty="0"/>
              <a:t>Example: CBA</a:t>
            </a:r>
          </a:p>
        </p:txBody>
      </p:sp>
      <p:pic>
        <p:nvPicPr>
          <p:cNvPr id="5" name="Content Placeholder 4" descr="Table&#10;&#10;Description automatically generated">
            <a:extLst>
              <a:ext uri="{FF2B5EF4-FFF2-40B4-BE49-F238E27FC236}">
                <a16:creationId xmlns:a16="http://schemas.microsoft.com/office/drawing/2014/main" id="{22D629DF-9B0E-DA4F-9D38-BF02AE3C680D}"/>
              </a:ext>
            </a:extLst>
          </p:cNvPr>
          <p:cNvPicPr>
            <a:picLocks noGrp="1" noChangeAspect="1"/>
          </p:cNvPicPr>
          <p:nvPr>
            <p:ph idx="1"/>
          </p:nvPr>
        </p:nvPicPr>
        <p:blipFill rotWithShape="1">
          <a:blip r:embed="rId2"/>
          <a:srcRect b="1268"/>
          <a:stretch/>
        </p:blipFill>
        <p:spPr>
          <a:xfrm>
            <a:off x="5922492" y="666728"/>
            <a:ext cx="5536001" cy="5465791"/>
          </a:xfrm>
          <a:prstGeom prst="rect">
            <a:avLst/>
          </a:prstGeom>
        </p:spPr>
      </p:pic>
    </p:spTree>
    <p:extLst>
      <p:ext uri="{BB962C8B-B14F-4D97-AF65-F5344CB8AC3E}">
        <p14:creationId xmlns:p14="http://schemas.microsoft.com/office/powerpoint/2010/main" val="3133456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62B8F-10EA-4717-82B8-9310259C8075}"/>
              </a:ext>
            </a:extLst>
          </p:cNvPr>
          <p:cNvSpPr>
            <a:spLocks noGrp="1"/>
          </p:cNvSpPr>
          <p:nvPr>
            <p:ph type="title"/>
          </p:nvPr>
        </p:nvSpPr>
        <p:spPr/>
        <p:txBody>
          <a:bodyPr/>
          <a:lstStyle/>
          <a:p>
            <a:r>
              <a:rPr lang="en-GB" dirty="0"/>
              <a:t>Payback</a:t>
            </a:r>
          </a:p>
        </p:txBody>
      </p:sp>
      <p:sp>
        <p:nvSpPr>
          <p:cNvPr id="3" name="Content Placeholder 2">
            <a:extLst>
              <a:ext uri="{FF2B5EF4-FFF2-40B4-BE49-F238E27FC236}">
                <a16:creationId xmlns:a16="http://schemas.microsoft.com/office/drawing/2014/main" id="{0A451F98-AEA1-4373-898C-8882D4E916C4}"/>
              </a:ext>
            </a:extLst>
          </p:cNvPr>
          <p:cNvSpPr>
            <a:spLocks noGrp="1"/>
          </p:cNvSpPr>
          <p:nvPr>
            <p:ph idx="1"/>
          </p:nvPr>
        </p:nvSpPr>
        <p:spPr/>
        <p:txBody>
          <a:bodyPr/>
          <a:lstStyle/>
          <a:p>
            <a:r>
              <a:rPr lang="en-GB" dirty="0"/>
              <a:t>Payback = costs / benefits</a:t>
            </a:r>
          </a:p>
          <a:p>
            <a:r>
              <a:rPr lang="en-GB" dirty="0"/>
              <a:t>Units have to be consistent e.g. costs per year = pay back in a year</a:t>
            </a:r>
          </a:p>
          <a:p>
            <a:r>
              <a:rPr lang="en-GB" dirty="0"/>
              <a:t>Using the example on the previous slide</a:t>
            </a:r>
          </a:p>
          <a:p>
            <a:pPr lvl="1"/>
            <a:r>
              <a:rPr lang="en-GB" dirty="0"/>
              <a:t>The costs = £107,525</a:t>
            </a:r>
          </a:p>
          <a:p>
            <a:pPr lvl="1"/>
            <a:r>
              <a:rPr lang="en-GB" dirty="0"/>
              <a:t>The benefits = £236,000</a:t>
            </a:r>
          </a:p>
          <a:p>
            <a:pPr lvl="1"/>
            <a:r>
              <a:rPr lang="en-GB" dirty="0"/>
              <a:t>Payback = 107525   =   </a:t>
            </a:r>
            <a:r>
              <a:rPr lang="en-GB" sz="1800" b="0" i="0" u="none" strike="noStrike" dirty="0">
                <a:solidFill>
                  <a:srgbClr val="000000"/>
                </a:solidFill>
                <a:effectLst/>
                <a:latin typeface="Calibri" panose="020F0502020204030204" pitchFamily="34" charset="0"/>
              </a:rPr>
              <a:t>0.455614</a:t>
            </a:r>
            <a:r>
              <a:rPr lang="en-GB" dirty="0">
                <a:effectLst/>
              </a:rPr>
              <a:t> </a:t>
            </a:r>
            <a:endParaRPr lang="en-GB" dirty="0"/>
          </a:p>
          <a:p>
            <a:pPr marL="457200" lvl="1" indent="0">
              <a:buNone/>
            </a:pPr>
            <a:r>
              <a:rPr lang="en-GB" dirty="0"/>
              <a:t>                          236000</a:t>
            </a:r>
          </a:p>
          <a:p>
            <a:pPr lvl="1"/>
            <a:r>
              <a:rPr lang="en-GB" dirty="0"/>
              <a:t>0.455614 of a year is roughly six month, hence six months to pay back</a:t>
            </a:r>
          </a:p>
        </p:txBody>
      </p:sp>
      <p:cxnSp>
        <p:nvCxnSpPr>
          <p:cNvPr id="5" name="Straight Connector 4">
            <a:extLst>
              <a:ext uri="{FF2B5EF4-FFF2-40B4-BE49-F238E27FC236}">
                <a16:creationId xmlns:a16="http://schemas.microsoft.com/office/drawing/2014/main" id="{5EC81F1A-EBE8-4EE4-BC36-2F72F3479378}"/>
              </a:ext>
            </a:extLst>
          </p:cNvPr>
          <p:cNvCxnSpPr/>
          <p:nvPr/>
        </p:nvCxnSpPr>
        <p:spPr>
          <a:xfrm>
            <a:off x="4572000" y="4394579"/>
            <a:ext cx="65509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587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ADCCB-200C-CC49-8083-4243BEE239DD}"/>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kern="1200">
                <a:solidFill>
                  <a:srgbClr val="000000"/>
                </a:solidFill>
                <a:latin typeface="+mj-lt"/>
                <a:ea typeface="+mj-ea"/>
                <a:cs typeface="+mj-cs"/>
              </a:rPr>
              <a:t>Questions</a:t>
            </a:r>
          </a:p>
        </p:txBody>
      </p:sp>
      <p:pic>
        <p:nvPicPr>
          <p:cNvPr id="7" name="Graphic 6" descr="Help">
            <a:extLst>
              <a:ext uri="{FF2B5EF4-FFF2-40B4-BE49-F238E27FC236}">
                <a16:creationId xmlns:a16="http://schemas.microsoft.com/office/drawing/2014/main" id="{EB05DFD9-7E8E-4CE5-8FAF-E742079DF34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3684284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CAEA0-048F-438E-A8D9-55933AD9932B}"/>
              </a:ext>
            </a:extLst>
          </p:cNvPr>
          <p:cNvSpPr>
            <a:spLocks noGrp="1"/>
          </p:cNvSpPr>
          <p:nvPr>
            <p:ph type="title"/>
          </p:nvPr>
        </p:nvSpPr>
        <p:spPr/>
        <p:txBody>
          <a:bodyPr/>
          <a:lstStyle/>
          <a:p>
            <a:r>
              <a:rPr lang="en-GB" dirty="0"/>
              <a:t>Tasks</a:t>
            </a:r>
          </a:p>
        </p:txBody>
      </p:sp>
      <p:sp>
        <p:nvSpPr>
          <p:cNvPr id="3" name="Content Placeholder 2">
            <a:extLst>
              <a:ext uri="{FF2B5EF4-FFF2-40B4-BE49-F238E27FC236}">
                <a16:creationId xmlns:a16="http://schemas.microsoft.com/office/drawing/2014/main" id="{A3D95650-989E-4A4E-AC2C-0D1B12744E5F}"/>
              </a:ext>
            </a:extLst>
          </p:cNvPr>
          <p:cNvSpPr>
            <a:spLocks noGrp="1"/>
          </p:cNvSpPr>
          <p:nvPr>
            <p:ph idx="1"/>
          </p:nvPr>
        </p:nvSpPr>
        <p:spPr/>
        <p:txBody>
          <a:bodyPr/>
          <a:lstStyle/>
          <a:p>
            <a:r>
              <a:rPr lang="en-GB" dirty="0"/>
              <a:t>Look at the cost benefit analysis and payback document </a:t>
            </a:r>
            <a:r>
              <a:rPr lang="en-GB"/>
              <a:t>in </a:t>
            </a:r>
            <a:r>
              <a:rPr lang="en-GB" dirty="0"/>
              <a:t>M</a:t>
            </a:r>
            <a:r>
              <a:rPr lang="en-GB"/>
              <a:t>oodle</a:t>
            </a:r>
            <a:endParaRPr lang="en-GB" dirty="0"/>
          </a:p>
          <a:p>
            <a:r>
              <a:rPr lang="en-GB" dirty="0"/>
              <a:t>Work on the Assignment</a:t>
            </a:r>
          </a:p>
        </p:txBody>
      </p:sp>
    </p:spTree>
    <p:extLst>
      <p:ext uri="{BB962C8B-B14F-4D97-AF65-F5344CB8AC3E}">
        <p14:creationId xmlns:p14="http://schemas.microsoft.com/office/powerpoint/2010/main" val="312313096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11</TotalTime>
  <Words>324</Words>
  <Application>Microsoft Office PowerPoint</Application>
  <PresentationFormat>Widescreen</PresentationFormat>
  <Paragraphs>43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Century Gothic</vt:lpstr>
      <vt:lpstr>Wingdings 3</vt:lpstr>
      <vt:lpstr>Wisp</vt:lpstr>
      <vt:lpstr>Cost Benefit Analysis</vt:lpstr>
      <vt:lpstr>Purpose</vt:lpstr>
      <vt:lpstr>Cost analysis</vt:lpstr>
      <vt:lpstr>Development Cost</vt:lpstr>
      <vt:lpstr>Conversion Costs</vt:lpstr>
      <vt:lpstr>Annual Operating Cost </vt:lpstr>
      <vt:lpstr>Projected cost and projected benefit of a simple information system</vt:lpstr>
      <vt:lpstr>Example: CBA</vt:lpstr>
      <vt:lpstr>Payback</vt:lpstr>
      <vt:lpstr>Questions</vt:lpstr>
      <vt:lpstr>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 Benefit Analysis</dc:title>
  <dc:creator>Shah, Mohammad</dc:creator>
  <cp:lastModifiedBy>Martin, Helen</cp:lastModifiedBy>
  <cp:revision>7</cp:revision>
  <dcterms:created xsi:type="dcterms:W3CDTF">2020-11-16T00:53:57Z</dcterms:created>
  <dcterms:modified xsi:type="dcterms:W3CDTF">2022-02-08T14:08:04Z</dcterms:modified>
</cp:coreProperties>
</file>