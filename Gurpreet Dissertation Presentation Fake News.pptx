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9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47" autoAdjust="0"/>
    <p:restoredTop sz="94660"/>
  </p:normalViewPr>
  <p:slideViewPr>
    <p:cSldViewPr snapToGrid="0">
      <p:cViewPr varScale="1">
        <p:scale>
          <a:sx n="71" d="100"/>
          <a:sy n="71" d="100"/>
        </p:scale>
        <p:origin x="5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B4705D-CC66-4B49-94AA-7437A41F9C17}" type="doc">
      <dgm:prSet loTypeId="urn:microsoft.com/office/officeart/2005/8/layout/lProcess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17B95D-F2C3-426B-9C20-88C27E515D70}">
      <dgm:prSet phldrT="[Text]" custT="1"/>
      <dgm:spPr/>
      <dgm:t>
        <a:bodyPr/>
        <a:lstStyle/>
        <a:p>
          <a:r>
            <a:rPr lang="en-US" sz="2400"/>
            <a:t>Creating a python flask project </a:t>
          </a:r>
        </a:p>
      </dgm:t>
    </dgm:pt>
    <dgm:pt modelId="{FE901DFE-C9C8-4663-BC26-3B3F05A9B8B3}" type="parTrans" cxnId="{AA1BB13C-0B79-412B-89BA-DC854AB9C3FE}">
      <dgm:prSet/>
      <dgm:spPr/>
      <dgm:t>
        <a:bodyPr/>
        <a:lstStyle/>
        <a:p>
          <a:endParaRPr lang="en-US"/>
        </a:p>
      </dgm:t>
    </dgm:pt>
    <dgm:pt modelId="{52253119-65E4-4454-AF5C-3B58C92E533E}" type="sibTrans" cxnId="{AA1BB13C-0B79-412B-89BA-DC854AB9C3FE}">
      <dgm:prSet/>
      <dgm:spPr/>
      <dgm:t>
        <a:bodyPr/>
        <a:lstStyle/>
        <a:p>
          <a:endParaRPr lang="en-US"/>
        </a:p>
      </dgm:t>
    </dgm:pt>
    <dgm:pt modelId="{E34594A9-9DF2-418A-BE0F-877DBACE172A}">
      <dgm:prSet phldrT="[Text]"/>
      <dgm:spPr/>
      <dgm:t>
        <a:bodyPr/>
        <a:lstStyle/>
        <a:p>
          <a:r>
            <a:rPr lang="en-US"/>
            <a:t>python file for creating predetcing fake news &amp; real news </a:t>
          </a:r>
        </a:p>
      </dgm:t>
    </dgm:pt>
    <dgm:pt modelId="{32C48B08-D317-40ED-BC18-2424AB7DCD14}" type="parTrans" cxnId="{55A39155-3B7C-439C-A8C0-EAD676BDB6AB}">
      <dgm:prSet/>
      <dgm:spPr/>
      <dgm:t>
        <a:bodyPr/>
        <a:lstStyle/>
        <a:p>
          <a:endParaRPr lang="en-US"/>
        </a:p>
      </dgm:t>
    </dgm:pt>
    <dgm:pt modelId="{E962F341-3473-4AA8-B18C-9B53D19225B7}" type="sibTrans" cxnId="{55A39155-3B7C-439C-A8C0-EAD676BDB6AB}">
      <dgm:prSet/>
      <dgm:spPr/>
      <dgm:t>
        <a:bodyPr/>
        <a:lstStyle/>
        <a:p>
          <a:endParaRPr lang="en-US"/>
        </a:p>
      </dgm:t>
    </dgm:pt>
    <dgm:pt modelId="{99B2E57B-6B91-40FF-A6F2-76C743942274}">
      <dgm:prSet phldrT="[Text]"/>
      <dgm:spPr/>
      <dgm:t>
        <a:bodyPr/>
        <a:lstStyle/>
        <a:p>
          <a:r>
            <a:rPr lang="en-US"/>
            <a:t>python anaconda file for installing all pre-requesites libraries </a:t>
          </a:r>
        </a:p>
      </dgm:t>
    </dgm:pt>
    <dgm:pt modelId="{BC68F55E-AE62-4A6A-AA87-F4F0D27640EE}" type="parTrans" cxnId="{63CEF793-351C-4A6B-9EBD-C379BCD553D6}">
      <dgm:prSet/>
      <dgm:spPr/>
      <dgm:t>
        <a:bodyPr/>
        <a:lstStyle/>
        <a:p>
          <a:endParaRPr lang="en-US"/>
        </a:p>
      </dgm:t>
    </dgm:pt>
    <dgm:pt modelId="{E4EAE6B0-FCEE-4CA2-97F1-62D384E63A2A}" type="sibTrans" cxnId="{63CEF793-351C-4A6B-9EBD-C379BCD553D6}">
      <dgm:prSet/>
      <dgm:spPr/>
      <dgm:t>
        <a:bodyPr/>
        <a:lstStyle/>
        <a:p>
          <a:endParaRPr lang="en-US"/>
        </a:p>
      </dgm:t>
    </dgm:pt>
    <dgm:pt modelId="{FCA3AFA3-6F4D-4151-9D2A-08E46651C377}">
      <dgm:prSet phldrT="[Text]"/>
      <dgm:spPr/>
      <dgm:t>
        <a:bodyPr/>
        <a:lstStyle/>
        <a:p>
          <a:r>
            <a:rPr lang="en-US"/>
            <a:t>applications files </a:t>
          </a:r>
        </a:p>
      </dgm:t>
    </dgm:pt>
    <dgm:pt modelId="{667D2291-CCC0-429F-9BBB-4495629FCC7B}" type="parTrans" cxnId="{0B1F8272-6C5D-4561-9283-14C420242E40}">
      <dgm:prSet/>
      <dgm:spPr/>
      <dgm:t>
        <a:bodyPr/>
        <a:lstStyle/>
        <a:p>
          <a:endParaRPr lang="en-US"/>
        </a:p>
      </dgm:t>
    </dgm:pt>
    <dgm:pt modelId="{71B5ACAF-D31E-459E-8BC2-13D39934AE9D}" type="sibTrans" cxnId="{0B1F8272-6C5D-4561-9283-14C420242E40}">
      <dgm:prSet/>
      <dgm:spPr/>
      <dgm:t>
        <a:bodyPr/>
        <a:lstStyle/>
        <a:p>
          <a:endParaRPr lang="en-US"/>
        </a:p>
      </dgm:t>
    </dgm:pt>
    <dgm:pt modelId="{F2E8C492-0F53-42C0-BB0B-460A59531BCE}">
      <dgm:prSet phldrT="[Text]"/>
      <dgm:spPr/>
      <dgm:t>
        <a:bodyPr/>
        <a:lstStyle/>
        <a:p>
          <a:r>
            <a:rPr lang="en-US"/>
            <a:t>Flask app HTML &amp; CSS files index file and CSS desgin file </a:t>
          </a:r>
        </a:p>
      </dgm:t>
    </dgm:pt>
    <dgm:pt modelId="{68B87737-FFF2-4406-B57E-6231AA2F3AF5}" type="parTrans" cxnId="{286185BD-D2FC-4EE3-AACD-9C8D4C764611}">
      <dgm:prSet/>
      <dgm:spPr/>
      <dgm:t>
        <a:bodyPr/>
        <a:lstStyle/>
        <a:p>
          <a:endParaRPr lang="en-US"/>
        </a:p>
      </dgm:t>
    </dgm:pt>
    <dgm:pt modelId="{9E50B897-A155-47D0-BD62-B397054C2C15}" type="sibTrans" cxnId="{286185BD-D2FC-4EE3-AACD-9C8D4C764611}">
      <dgm:prSet/>
      <dgm:spPr/>
      <dgm:t>
        <a:bodyPr/>
        <a:lstStyle/>
        <a:p>
          <a:endParaRPr lang="en-US"/>
        </a:p>
      </dgm:t>
    </dgm:pt>
    <dgm:pt modelId="{40D9FE7A-DC8F-4515-93E1-7543F2843A53}">
      <dgm:prSet phldrT="[Text]"/>
      <dgm:spPr/>
      <dgm:t>
        <a:bodyPr/>
        <a:lstStyle/>
        <a:p>
          <a:r>
            <a:rPr lang="en-US"/>
            <a:t>developing algorithm to detect the news from csv file dataset </a:t>
          </a:r>
        </a:p>
      </dgm:t>
    </dgm:pt>
    <dgm:pt modelId="{22019E8D-8EFE-440D-89CD-465F715EF825}" type="parTrans" cxnId="{885A0EE3-738C-47CF-A6EC-51EA588E6F59}">
      <dgm:prSet/>
      <dgm:spPr/>
      <dgm:t>
        <a:bodyPr/>
        <a:lstStyle/>
        <a:p>
          <a:endParaRPr lang="en-US"/>
        </a:p>
      </dgm:t>
    </dgm:pt>
    <dgm:pt modelId="{F4AC5D6A-E9B6-48F9-8C5D-BEB4C75FB176}" type="sibTrans" cxnId="{885A0EE3-738C-47CF-A6EC-51EA588E6F59}">
      <dgm:prSet/>
      <dgm:spPr/>
      <dgm:t>
        <a:bodyPr/>
        <a:lstStyle/>
        <a:p>
          <a:endParaRPr lang="en-US"/>
        </a:p>
      </dgm:t>
    </dgm:pt>
    <dgm:pt modelId="{8359B53A-EFBC-44AB-92BB-B844F0E1714E}">
      <dgm:prSet phldrT="[Text]"/>
      <dgm:spPr/>
      <dgm:t>
        <a:bodyPr/>
        <a:lstStyle/>
        <a:p>
          <a:r>
            <a:rPr lang="en-US"/>
            <a:t>front end application </a:t>
          </a:r>
        </a:p>
      </dgm:t>
    </dgm:pt>
    <dgm:pt modelId="{7BF158A7-4C9C-4473-86E2-713068D58174}" type="parTrans" cxnId="{42D717A0-FD70-4AC8-AA81-4DBE05C29D92}">
      <dgm:prSet/>
      <dgm:spPr/>
      <dgm:t>
        <a:bodyPr/>
        <a:lstStyle/>
        <a:p>
          <a:endParaRPr lang="en-US"/>
        </a:p>
      </dgm:t>
    </dgm:pt>
    <dgm:pt modelId="{F6716A51-08F2-4ED2-9750-6EB5DB61F48F}" type="sibTrans" cxnId="{42D717A0-FD70-4AC8-AA81-4DBE05C29D92}">
      <dgm:prSet/>
      <dgm:spPr/>
      <dgm:t>
        <a:bodyPr/>
        <a:lstStyle/>
        <a:p>
          <a:endParaRPr lang="en-US"/>
        </a:p>
      </dgm:t>
    </dgm:pt>
    <dgm:pt modelId="{798C7727-AF45-4A57-A2D5-E82AF0694022}">
      <dgm:prSet phldrT="[Text]"/>
      <dgm:spPr/>
      <dgm:t>
        <a:bodyPr/>
        <a:lstStyle/>
        <a:p>
          <a:r>
            <a:rPr lang="en-US"/>
            <a:t>index file executing on port No: 127.0.0.1:5000</a:t>
          </a:r>
        </a:p>
      </dgm:t>
    </dgm:pt>
    <dgm:pt modelId="{6E77FC10-1330-4FC8-A001-6A94CCA7B2AA}" type="parTrans" cxnId="{561E8665-9039-4815-BA17-8E7691B7945D}">
      <dgm:prSet/>
      <dgm:spPr/>
      <dgm:t>
        <a:bodyPr/>
        <a:lstStyle/>
        <a:p>
          <a:endParaRPr lang="en-US"/>
        </a:p>
      </dgm:t>
    </dgm:pt>
    <dgm:pt modelId="{DCF1955E-929F-421C-8749-18192976B714}" type="sibTrans" cxnId="{561E8665-9039-4815-BA17-8E7691B7945D}">
      <dgm:prSet/>
      <dgm:spPr/>
      <dgm:t>
        <a:bodyPr/>
        <a:lstStyle/>
        <a:p>
          <a:endParaRPr lang="en-US"/>
        </a:p>
      </dgm:t>
    </dgm:pt>
    <dgm:pt modelId="{504BB518-488B-4F27-984A-D7AB1028CAA1}">
      <dgm:prSet phldrT="[Text]"/>
      <dgm:spPr/>
      <dgm:t>
        <a:bodyPr/>
        <a:lstStyle/>
        <a:p>
          <a:r>
            <a:rPr lang="en-US"/>
            <a:t>build model in anaconda first </a:t>
          </a:r>
        </a:p>
      </dgm:t>
    </dgm:pt>
    <dgm:pt modelId="{0C9D7E24-DFCA-4F12-9ADC-E8FF1F2F15B6}" type="parTrans" cxnId="{91076A62-90B3-4AC7-A0A1-3DC1302721FF}">
      <dgm:prSet/>
      <dgm:spPr/>
      <dgm:t>
        <a:bodyPr/>
        <a:lstStyle/>
        <a:p>
          <a:endParaRPr lang="en-US"/>
        </a:p>
      </dgm:t>
    </dgm:pt>
    <dgm:pt modelId="{F0E8BE47-26F8-4C6C-A5C3-06AC30BE3AA5}" type="sibTrans" cxnId="{91076A62-90B3-4AC7-A0A1-3DC1302721FF}">
      <dgm:prSet/>
      <dgm:spPr/>
      <dgm:t>
        <a:bodyPr/>
        <a:lstStyle/>
        <a:p>
          <a:endParaRPr lang="en-US"/>
        </a:p>
      </dgm:t>
    </dgm:pt>
    <dgm:pt modelId="{D3E5272D-1AE5-4269-847F-397EE8DFF93E}" type="pres">
      <dgm:prSet presAssocID="{42B4705D-CC66-4B49-94AA-7437A41F9C17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13AC112-82D1-4654-9006-8EECAD23F634}" type="pres">
      <dgm:prSet presAssocID="{F917B95D-F2C3-426B-9C20-88C27E515D70}" presName="compNode" presStyleCnt="0"/>
      <dgm:spPr/>
    </dgm:pt>
    <dgm:pt modelId="{366A6354-1641-4DD2-A110-66137761762D}" type="pres">
      <dgm:prSet presAssocID="{F917B95D-F2C3-426B-9C20-88C27E515D70}" presName="aNode" presStyleLbl="bgShp" presStyleIdx="0" presStyleCnt="3"/>
      <dgm:spPr/>
      <dgm:t>
        <a:bodyPr/>
        <a:lstStyle/>
        <a:p>
          <a:endParaRPr lang="en-US"/>
        </a:p>
      </dgm:t>
    </dgm:pt>
    <dgm:pt modelId="{48293924-A3DD-4AB2-9C73-5D8D00B8927B}" type="pres">
      <dgm:prSet presAssocID="{F917B95D-F2C3-426B-9C20-88C27E515D70}" presName="textNode" presStyleLbl="bgShp" presStyleIdx="0" presStyleCnt="3"/>
      <dgm:spPr/>
      <dgm:t>
        <a:bodyPr/>
        <a:lstStyle/>
        <a:p>
          <a:endParaRPr lang="en-US"/>
        </a:p>
      </dgm:t>
    </dgm:pt>
    <dgm:pt modelId="{BABCCC80-0BBC-4A93-B63D-235E230C9761}" type="pres">
      <dgm:prSet presAssocID="{F917B95D-F2C3-426B-9C20-88C27E515D70}" presName="compChildNode" presStyleCnt="0"/>
      <dgm:spPr/>
    </dgm:pt>
    <dgm:pt modelId="{E65CF14C-2182-4F41-BEAF-CB5EAAF5EA12}" type="pres">
      <dgm:prSet presAssocID="{F917B95D-F2C3-426B-9C20-88C27E515D70}" presName="theInnerList" presStyleCnt="0"/>
      <dgm:spPr/>
    </dgm:pt>
    <dgm:pt modelId="{2D29826C-EEBC-44EF-AF7D-4509B5784BC9}" type="pres">
      <dgm:prSet presAssocID="{E34594A9-9DF2-418A-BE0F-877DBACE172A}" presName="childNode" presStyleLbl="node1" presStyleIdx="0" presStyleCnt="6" custLinFactNeighborX="7849" custLinFactNeighborY="4686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586D9F-E96F-41A5-89A8-88CD4E09251A}" type="pres">
      <dgm:prSet presAssocID="{E34594A9-9DF2-418A-BE0F-877DBACE172A}" presName="aSpace2" presStyleCnt="0"/>
      <dgm:spPr/>
    </dgm:pt>
    <dgm:pt modelId="{CEA06823-ACB0-4550-9549-29BD5B3E426A}" type="pres">
      <dgm:prSet presAssocID="{99B2E57B-6B91-40FF-A6F2-76C743942274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3059C5-653B-4534-985B-ADBF62F0FBA7}" type="pres">
      <dgm:prSet presAssocID="{F917B95D-F2C3-426B-9C20-88C27E515D70}" presName="aSpace" presStyleCnt="0"/>
      <dgm:spPr/>
    </dgm:pt>
    <dgm:pt modelId="{FC9C96FD-7B3B-4AEF-87E3-F65514C097D3}" type="pres">
      <dgm:prSet presAssocID="{FCA3AFA3-6F4D-4151-9D2A-08E46651C377}" presName="compNode" presStyleCnt="0"/>
      <dgm:spPr/>
    </dgm:pt>
    <dgm:pt modelId="{9F874AD7-7D51-45AF-89BF-5F441C25EBDA}" type="pres">
      <dgm:prSet presAssocID="{FCA3AFA3-6F4D-4151-9D2A-08E46651C377}" presName="aNode" presStyleLbl="bgShp" presStyleIdx="1" presStyleCnt="3"/>
      <dgm:spPr/>
      <dgm:t>
        <a:bodyPr/>
        <a:lstStyle/>
        <a:p>
          <a:endParaRPr lang="en-US"/>
        </a:p>
      </dgm:t>
    </dgm:pt>
    <dgm:pt modelId="{6E61602A-6F58-4137-A64E-57FFDD3F0CB1}" type="pres">
      <dgm:prSet presAssocID="{FCA3AFA3-6F4D-4151-9D2A-08E46651C377}" presName="textNode" presStyleLbl="bgShp" presStyleIdx="1" presStyleCnt="3"/>
      <dgm:spPr/>
      <dgm:t>
        <a:bodyPr/>
        <a:lstStyle/>
        <a:p>
          <a:endParaRPr lang="en-US"/>
        </a:p>
      </dgm:t>
    </dgm:pt>
    <dgm:pt modelId="{870BF548-0A16-4771-B2C6-623BBEFEA0AC}" type="pres">
      <dgm:prSet presAssocID="{FCA3AFA3-6F4D-4151-9D2A-08E46651C377}" presName="compChildNode" presStyleCnt="0"/>
      <dgm:spPr/>
    </dgm:pt>
    <dgm:pt modelId="{35F3FBA4-912A-42FA-AA16-2A45C5B7BD5C}" type="pres">
      <dgm:prSet presAssocID="{FCA3AFA3-6F4D-4151-9D2A-08E46651C377}" presName="theInnerList" presStyleCnt="0"/>
      <dgm:spPr/>
    </dgm:pt>
    <dgm:pt modelId="{9E36C6D5-D199-4CA7-BEAF-6AB865EAB5BB}" type="pres">
      <dgm:prSet presAssocID="{F2E8C492-0F53-42C0-BB0B-460A59531BCE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17B035-E552-4AC7-90DD-03250CA69D6D}" type="pres">
      <dgm:prSet presAssocID="{F2E8C492-0F53-42C0-BB0B-460A59531BCE}" presName="aSpace2" presStyleCnt="0"/>
      <dgm:spPr/>
    </dgm:pt>
    <dgm:pt modelId="{91A214B1-4B2A-47D5-AEAB-B9E0DE1C04D5}" type="pres">
      <dgm:prSet presAssocID="{40D9FE7A-DC8F-4515-93E1-7543F2843A53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C009E6-D08E-4B3E-9C73-D036211AE084}" type="pres">
      <dgm:prSet presAssocID="{FCA3AFA3-6F4D-4151-9D2A-08E46651C377}" presName="aSpace" presStyleCnt="0"/>
      <dgm:spPr/>
    </dgm:pt>
    <dgm:pt modelId="{C59F83BC-52FF-4F66-B759-FB5B2AD7929C}" type="pres">
      <dgm:prSet presAssocID="{8359B53A-EFBC-44AB-92BB-B844F0E1714E}" presName="compNode" presStyleCnt="0"/>
      <dgm:spPr/>
    </dgm:pt>
    <dgm:pt modelId="{A70ADBE9-7E31-48C0-B00F-91822435BE07}" type="pres">
      <dgm:prSet presAssocID="{8359B53A-EFBC-44AB-92BB-B844F0E1714E}" presName="aNode" presStyleLbl="bgShp" presStyleIdx="2" presStyleCnt="3"/>
      <dgm:spPr/>
      <dgm:t>
        <a:bodyPr/>
        <a:lstStyle/>
        <a:p>
          <a:endParaRPr lang="en-US"/>
        </a:p>
      </dgm:t>
    </dgm:pt>
    <dgm:pt modelId="{6E817301-FDF3-42BD-9447-F352737F5865}" type="pres">
      <dgm:prSet presAssocID="{8359B53A-EFBC-44AB-92BB-B844F0E1714E}" presName="textNode" presStyleLbl="bgShp" presStyleIdx="2" presStyleCnt="3"/>
      <dgm:spPr/>
      <dgm:t>
        <a:bodyPr/>
        <a:lstStyle/>
        <a:p>
          <a:endParaRPr lang="en-US"/>
        </a:p>
      </dgm:t>
    </dgm:pt>
    <dgm:pt modelId="{3C038071-B59F-4D46-90D8-E89498C5C487}" type="pres">
      <dgm:prSet presAssocID="{8359B53A-EFBC-44AB-92BB-B844F0E1714E}" presName="compChildNode" presStyleCnt="0"/>
      <dgm:spPr/>
    </dgm:pt>
    <dgm:pt modelId="{3DE4FC7B-8AF9-4BC2-8530-1CD8C65A262F}" type="pres">
      <dgm:prSet presAssocID="{8359B53A-EFBC-44AB-92BB-B844F0E1714E}" presName="theInnerList" presStyleCnt="0"/>
      <dgm:spPr/>
    </dgm:pt>
    <dgm:pt modelId="{A4234E26-90E2-465C-98A9-89CAB17E93F9}" type="pres">
      <dgm:prSet presAssocID="{798C7727-AF45-4A57-A2D5-E82AF0694022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FCC160-0D62-49CB-9DC6-82E13A7E4DB8}" type="pres">
      <dgm:prSet presAssocID="{798C7727-AF45-4A57-A2D5-E82AF0694022}" presName="aSpace2" presStyleCnt="0"/>
      <dgm:spPr/>
    </dgm:pt>
    <dgm:pt modelId="{E7ACC6C7-AC5C-4EFA-9288-28FEFE331F93}" type="pres">
      <dgm:prSet presAssocID="{504BB518-488B-4F27-984A-D7AB1028CAA1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1076A62-90B3-4AC7-A0A1-3DC1302721FF}" srcId="{8359B53A-EFBC-44AB-92BB-B844F0E1714E}" destId="{504BB518-488B-4F27-984A-D7AB1028CAA1}" srcOrd="1" destOrd="0" parTransId="{0C9D7E24-DFCA-4F12-9ADC-E8FF1F2F15B6}" sibTransId="{F0E8BE47-26F8-4C6C-A5C3-06AC30BE3AA5}"/>
    <dgm:cxn modelId="{219D427C-E42F-441A-A911-C0A3B57CABFD}" type="presOf" srcId="{42B4705D-CC66-4B49-94AA-7437A41F9C17}" destId="{D3E5272D-1AE5-4269-847F-397EE8DFF93E}" srcOrd="0" destOrd="0" presId="urn:microsoft.com/office/officeart/2005/8/layout/lProcess2"/>
    <dgm:cxn modelId="{63CEF793-351C-4A6B-9EBD-C379BCD553D6}" srcId="{F917B95D-F2C3-426B-9C20-88C27E515D70}" destId="{99B2E57B-6B91-40FF-A6F2-76C743942274}" srcOrd="1" destOrd="0" parTransId="{BC68F55E-AE62-4A6A-AA87-F4F0D27640EE}" sibTransId="{E4EAE6B0-FCEE-4CA2-97F1-62D384E63A2A}"/>
    <dgm:cxn modelId="{E1847E26-DBFC-43D6-92CB-7DA4D74FB555}" type="presOf" srcId="{8359B53A-EFBC-44AB-92BB-B844F0E1714E}" destId="{6E817301-FDF3-42BD-9447-F352737F5865}" srcOrd="1" destOrd="0" presId="urn:microsoft.com/office/officeart/2005/8/layout/lProcess2"/>
    <dgm:cxn modelId="{2D6065FC-3F38-4063-8C62-9B09B7D5BA6F}" type="presOf" srcId="{8359B53A-EFBC-44AB-92BB-B844F0E1714E}" destId="{A70ADBE9-7E31-48C0-B00F-91822435BE07}" srcOrd="0" destOrd="0" presId="urn:microsoft.com/office/officeart/2005/8/layout/lProcess2"/>
    <dgm:cxn modelId="{E185AD3A-9CA6-4CAE-B60C-90DB832CD604}" type="presOf" srcId="{F917B95D-F2C3-426B-9C20-88C27E515D70}" destId="{48293924-A3DD-4AB2-9C73-5D8D00B8927B}" srcOrd="1" destOrd="0" presId="urn:microsoft.com/office/officeart/2005/8/layout/lProcess2"/>
    <dgm:cxn modelId="{42D717A0-FD70-4AC8-AA81-4DBE05C29D92}" srcId="{42B4705D-CC66-4B49-94AA-7437A41F9C17}" destId="{8359B53A-EFBC-44AB-92BB-B844F0E1714E}" srcOrd="2" destOrd="0" parTransId="{7BF158A7-4C9C-4473-86E2-713068D58174}" sibTransId="{F6716A51-08F2-4ED2-9750-6EB5DB61F48F}"/>
    <dgm:cxn modelId="{561E8665-9039-4815-BA17-8E7691B7945D}" srcId="{8359B53A-EFBC-44AB-92BB-B844F0E1714E}" destId="{798C7727-AF45-4A57-A2D5-E82AF0694022}" srcOrd="0" destOrd="0" parTransId="{6E77FC10-1330-4FC8-A001-6A94CCA7B2AA}" sibTransId="{DCF1955E-929F-421C-8749-18192976B714}"/>
    <dgm:cxn modelId="{6496D886-4F98-412E-BB19-6D2228BE1905}" type="presOf" srcId="{798C7727-AF45-4A57-A2D5-E82AF0694022}" destId="{A4234E26-90E2-465C-98A9-89CAB17E93F9}" srcOrd="0" destOrd="0" presId="urn:microsoft.com/office/officeart/2005/8/layout/lProcess2"/>
    <dgm:cxn modelId="{885A0EE3-738C-47CF-A6EC-51EA588E6F59}" srcId="{FCA3AFA3-6F4D-4151-9D2A-08E46651C377}" destId="{40D9FE7A-DC8F-4515-93E1-7543F2843A53}" srcOrd="1" destOrd="0" parTransId="{22019E8D-8EFE-440D-89CD-465F715EF825}" sibTransId="{F4AC5D6A-E9B6-48F9-8C5D-BEB4C75FB176}"/>
    <dgm:cxn modelId="{0B1F8272-6C5D-4561-9283-14C420242E40}" srcId="{42B4705D-CC66-4B49-94AA-7437A41F9C17}" destId="{FCA3AFA3-6F4D-4151-9D2A-08E46651C377}" srcOrd="1" destOrd="0" parTransId="{667D2291-CCC0-429F-9BBB-4495629FCC7B}" sibTransId="{71B5ACAF-D31E-459E-8BC2-13D39934AE9D}"/>
    <dgm:cxn modelId="{A75CF4E7-AB68-44A8-B1E5-B44BA283D3D7}" type="presOf" srcId="{F917B95D-F2C3-426B-9C20-88C27E515D70}" destId="{366A6354-1641-4DD2-A110-66137761762D}" srcOrd="0" destOrd="0" presId="urn:microsoft.com/office/officeart/2005/8/layout/lProcess2"/>
    <dgm:cxn modelId="{5CD2CA78-DC2C-4210-9A07-C4F0DFF86CD7}" type="presOf" srcId="{40D9FE7A-DC8F-4515-93E1-7543F2843A53}" destId="{91A214B1-4B2A-47D5-AEAB-B9E0DE1C04D5}" srcOrd="0" destOrd="0" presId="urn:microsoft.com/office/officeart/2005/8/layout/lProcess2"/>
    <dgm:cxn modelId="{3D7FA29E-186B-4DF5-B13F-FCB5E956E5C1}" type="presOf" srcId="{99B2E57B-6B91-40FF-A6F2-76C743942274}" destId="{CEA06823-ACB0-4550-9549-29BD5B3E426A}" srcOrd="0" destOrd="0" presId="urn:microsoft.com/office/officeart/2005/8/layout/lProcess2"/>
    <dgm:cxn modelId="{286185BD-D2FC-4EE3-AACD-9C8D4C764611}" srcId="{FCA3AFA3-6F4D-4151-9D2A-08E46651C377}" destId="{F2E8C492-0F53-42C0-BB0B-460A59531BCE}" srcOrd="0" destOrd="0" parTransId="{68B87737-FFF2-4406-B57E-6231AA2F3AF5}" sibTransId="{9E50B897-A155-47D0-BD62-B397054C2C15}"/>
    <dgm:cxn modelId="{AA1BB13C-0B79-412B-89BA-DC854AB9C3FE}" srcId="{42B4705D-CC66-4B49-94AA-7437A41F9C17}" destId="{F917B95D-F2C3-426B-9C20-88C27E515D70}" srcOrd="0" destOrd="0" parTransId="{FE901DFE-C9C8-4663-BC26-3B3F05A9B8B3}" sibTransId="{52253119-65E4-4454-AF5C-3B58C92E533E}"/>
    <dgm:cxn modelId="{852A3CDF-898C-4BAF-8988-F8FC6598DAAC}" type="presOf" srcId="{504BB518-488B-4F27-984A-D7AB1028CAA1}" destId="{E7ACC6C7-AC5C-4EFA-9288-28FEFE331F93}" srcOrd="0" destOrd="0" presId="urn:microsoft.com/office/officeart/2005/8/layout/lProcess2"/>
    <dgm:cxn modelId="{81127731-64E3-4B2F-AD03-2F2A2E2E75C6}" type="presOf" srcId="{F2E8C492-0F53-42C0-BB0B-460A59531BCE}" destId="{9E36C6D5-D199-4CA7-BEAF-6AB865EAB5BB}" srcOrd="0" destOrd="0" presId="urn:microsoft.com/office/officeart/2005/8/layout/lProcess2"/>
    <dgm:cxn modelId="{55A39155-3B7C-439C-A8C0-EAD676BDB6AB}" srcId="{F917B95D-F2C3-426B-9C20-88C27E515D70}" destId="{E34594A9-9DF2-418A-BE0F-877DBACE172A}" srcOrd="0" destOrd="0" parTransId="{32C48B08-D317-40ED-BC18-2424AB7DCD14}" sibTransId="{E962F341-3473-4AA8-B18C-9B53D19225B7}"/>
    <dgm:cxn modelId="{E7A05D60-9BA8-4518-8C92-83CE74F49FE5}" type="presOf" srcId="{E34594A9-9DF2-418A-BE0F-877DBACE172A}" destId="{2D29826C-EEBC-44EF-AF7D-4509B5784BC9}" srcOrd="0" destOrd="0" presId="urn:microsoft.com/office/officeart/2005/8/layout/lProcess2"/>
    <dgm:cxn modelId="{7A584BB4-B39D-425A-90FA-3D30B984FBB7}" type="presOf" srcId="{FCA3AFA3-6F4D-4151-9D2A-08E46651C377}" destId="{9F874AD7-7D51-45AF-89BF-5F441C25EBDA}" srcOrd="0" destOrd="0" presId="urn:microsoft.com/office/officeart/2005/8/layout/lProcess2"/>
    <dgm:cxn modelId="{0F582579-66FE-4D6A-9194-43AF11EF49C1}" type="presOf" srcId="{FCA3AFA3-6F4D-4151-9D2A-08E46651C377}" destId="{6E61602A-6F58-4137-A64E-57FFDD3F0CB1}" srcOrd="1" destOrd="0" presId="urn:microsoft.com/office/officeart/2005/8/layout/lProcess2"/>
    <dgm:cxn modelId="{E5628A2B-7F34-4E4B-A77E-2C17A3551B62}" type="presParOf" srcId="{D3E5272D-1AE5-4269-847F-397EE8DFF93E}" destId="{213AC112-82D1-4654-9006-8EECAD23F634}" srcOrd="0" destOrd="0" presId="urn:microsoft.com/office/officeart/2005/8/layout/lProcess2"/>
    <dgm:cxn modelId="{8D3B9DF3-515C-4589-A7D6-FD1A190E7D06}" type="presParOf" srcId="{213AC112-82D1-4654-9006-8EECAD23F634}" destId="{366A6354-1641-4DD2-A110-66137761762D}" srcOrd="0" destOrd="0" presId="urn:microsoft.com/office/officeart/2005/8/layout/lProcess2"/>
    <dgm:cxn modelId="{8129BBC7-9560-4CBF-9671-639FF4A6A36A}" type="presParOf" srcId="{213AC112-82D1-4654-9006-8EECAD23F634}" destId="{48293924-A3DD-4AB2-9C73-5D8D00B8927B}" srcOrd="1" destOrd="0" presId="urn:microsoft.com/office/officeart/2005/8/layout/lProcess2"/>
    <dgm:cxn modelId="{FC36B591-B507-42AB-86D3-5620C3F8D0F3}" type="presParOf" srcId="{213AC112-82D1-4654-9006-8EECAD23F634}" destId="{BABCCC80-0BBC-4A93-B63D-235E230C9761}" srcOrd="2" destOrd="0" presId="urn:microsoft.com/office/officeart/2005/8/layout/lProcess2"/>
    <dgm:cxn modelId="{0505E648-9526-4CE3-A7C2-A415B5541CF7}" type="presParOf" srcId="{BABCCC80-0BBC-4A93-B63D-235E230C9761}" destId="{E65CF14C-2182-4F41-BEAF-CB5EAAF5EA12}" srcOrd="0" destOrd="0" presId="urn:microsoft.com/office/officeart/2005/8/layout/lProcess2"/>
    <dgm:cxn modelId="{0AC39612-C818-49E5-9053-4C30E9262FB3}" type="presParOf" srcId="{E65CF14C-2182-4F41-BEAF-CB5EAAF5EA12}" destId="{2D29826C-EEBC-44EF-AF7D-4509B5784BC9}" srcOrd="0" destOrd="0" presId="urn:microsoft.com/office/officeart/2005/8/layout/lProcess2"/>
    <dgm:cxn modelId="{19D28C60-3732-4E69-B85D-D3E8BDA0CF3F}" type="presParOf" srcId="{E65CF14C-2182-4F41-BEAF-CB5EAAF5EA12}" destId="{89586D9F-E96F-41A5-89A8-88CD4E09251A}" srcOrd="1" destOrd="0" presId="urn:microsoft.com/office/officeart/2005/8/layout/lProcess2"/>
    <dgm:cxn modelId="{42330545-61D9-4AD6-89E5-90F09150B25B}" type="presParOf" srcId="{E65CF14C-2182-4F41-BEAF-CB5EAAF5EA12}" destId="{CEA06823-ACB0-4550-9549-29BD5B3E426A}" srcOrd="2" destOrd="0" presId="urn:microsoft.com/office/officeart/2005/8/layout/lProcess2"/>
    <dgm:cxn modelId="{12409D6B-8348-41B1-9AD3-358C3F6EA524}" type="presParOf" srcId="{D3E5272D-1AE5-4269-847F-397EE8DFF93E}" destId="{713059C5-653B-4534-985B-ADBF62F0FBA7}" srcOrd="1" destOrd="0" presId="urn:microsoft.com/office/officeart/2005/8/layout/lProcess2"/>
    <dgm:cxn modelId="{59F05F98-124F-4251-832C-E84843EFC3D4}" type="presParOf" srcId="{D3E5272D-1AE5-4269-847F-397EE8DFF93E}" destId="{FC9C96FD-7B3B-4AEF-87E3-F65514C097D3}" srcOrd="2" destOrd="0" presId="urn:microsoft.com/office/officeart/2005/8/layout/lProcess2"/>
    <dgm:cxn modelId="{4E97F15A-6103-4F1A-A7D0-7F09EF02E826}" type="presParOf" srcId="{FC9C96FD-7B3B-4AEF-87E3-F65514C097D3}" destId="{9F874AD7-7D51-45AF-89BF-5F441C25EBDA}" srcOrd="0" destOrd="0" presId="urn:microsoft.com/office/officeart/2005/8/layout/lProcess2"/>
    <dgm:cxn modelId="{359D0AAE-FD1B-4568-80CD-D3EF731AFA85}" type="presParOf" srcId="{FC9C96FD-7B3B-4AEF-87E3-F65514C097D3}" destId="{6E61602A-6F58-4137-A64E-57FFDD3F0CB1}" srcOrd="1" destOrd="0" presId="urn:microsoft.com/office/officeart/2005/8/layout/lProcess2"/>
    <dgm:cxn modelId="{87E5C3BF-2B04-4037-9F39-53452F0DDBCA}" type="presParOf" srcId="{FC9C96FD-7B3B-4AEF-87E3-F65514C097D3}" destId="{870BF548-0A16-4771-B2C6-623BBEFEA0AC}" srcOrd="2" destOrd="0" presId="urn:microsoft.com/office/officeart/2005/8/layout/lProcess2"/>
    <dgm:cxn modelId="{3406C489-ED6A-4C74-B453-535A770286A5}" type="presParOf" srcId="{870BF548-0A16-4771-B2C6-623BBEFEA0AC}" destId="{35F3FBA4-912A-42FA-AA16-2A45C5B7BD5C}" srcOrd="0" destOrd="0" presId="urn:microsoft.com/office/officeart/2005/8/layout/lProcess2"/>
    <dgm:cxn modelId="{205EF5BC-FB10-42F2-97BC-FDE2850D675A}" type="presParOf" srcId="{35F3FBA4-912A-42FA-AA16-2A45C5B7BD5C}" destId="{9E36C6D5-D199-4CA7-BEAF-6AB865EAB5BB}" srcOrd="0" destOrd="0" presId="urn:microsoft.com/office/officeart/2005/8/layout/lProcess2"/>
    <dgm:cxn modelId="{3C637545-A30D-4151-AB5D-31E8C9BB5FE2}" type="presParOf" srcId="{35F3FBA4-912A-42FA-AA16-2A45C5B7BD5C}" destId="{7E17B035-E552-4AC7-90DD-03250CA69D6D}" srcOrd="1" destOrd="0" presId="urn:microsoft.com/office/officeart/2005/8/layout/lProcess2"/>
    <dgm:cxn modelId="{442D7AF1-6F4E-4A94-988E-D9F5441EE374}" type="presParOf" srcId="{35F3FBA4-912A-42FA-AA16-2A45C5B7BD5C}" destId="{91A214B1-4B2A-47D5-AEAB-B9E0DE1C04D5}" srcOrd="2" destOrd="0" presId="urn:microsoft.com/office/officeart/2005/8/layout/lProcess2"/>
    <dgm:cxn modelId="{B9CC6F64-3A78-403E-B133-44C624B290C1}" type="presParOf" srcId="{D3E5272D-1AE5-4269-847F-397EE8DFF93E}" destId="{0AC009E6-D08E-4B3E-9C73-D036211AE084}" srcOrd="3" destOrd="0" presId="urn:microsoft.com/office/officeart/2005/8/layout/lProcess2"/>
    <dgm:cxn modelId="{E05844AB-1E76-457F-9F0B-A407291287E7}" type="presParOf" srcId="{D3E5272D-1AE5-4269-847F-397EE8DFF93E}" destId="{C59F83BC-52FF-4F66-B759-FB5B2AD7929C}" srcOrd="4" destOrd="0" presId="urn:microsoft.com/office/officeart/2005/8/layout/lProcess2"/>
    <dgm:cxn modelId="{B673C5D6-D6F7-41A0-B025-5EC6201C9F43}" type="presParOf" srcId="{C59F83BC-52FF-4F66-B759-FB5B2AD7929C}" destId="{A70ADBE9-7E31-48C0-B00F-91822435BE07}" srcOrd="0" destOrd="0" presId="urn:microsoft.com/office/officeart/2005/8/layout/lProcess2"/>
    <dgm:cxn modelId="{D8903A60-2EA0-4530-984B-8D82F1DC3BB1}" type="presParOf" srcId="{C59F83BC-52FF-4F66-B759-FB5B2AD7929C}" destId="{6E817301-FDF3-42BD-9447-F352737F5865}" srcOrd="1" destOrd="0" presId="urn:microsoft.com/office/officeart/2005/8/layout/lProcess2"/>
    <dgm:cxn modelId="{8930D238-38C0-4B68-A329-20EEFC49B468}" type="presParOf" srcId="{C59F83BC-52FF-4F66-B759-FB5B2AD7929C}" destId="{3C038071-B59F-4D46-90D8-E89498C5C487}" srcOrd="2" destOrd="0" presId="urn:microsoft.com/office/officeart/2005/8/layout/lProcess2"/>
    <dgm:cxn modelId="{B32CD571-01EC-4168-B740-47A08DE2984A}" type="presParOf" srcId="{3C038071-B59F-4D46-90D8-E89498C5C487}" destId="{3DE4FC7B-8AF9-4BC2-8530-1CD8C65A262F}" srcOrd="0" destOrd="0" presId="urn:microsoft.com/office/officeart/2005/8/layout/lProcess2"/>
    <dgm:cxn modelId="{AD64A654-4A46-433C-B5A9-527763808C58}" type="presParOf" srcId="{3DE4FC7B-8AF9-4BC2-8530-1CD8C65A262F}" destId="{A4234E26-90E2-465C-98A9-89CAB17E93F9}" srcOrd="0" destOrd="0" presId="urn:microsoft.com/office/officeart/2005/8/layout/lProcess2"/>
    <dgm:cxn modelId="{37BB8D35-5DAA-418E-BFE8-BE0DF332C51C}" type="presParOf" srcId="{3DE4FC7B-8AF9-4BC2-8530-1CD8C65A262F}" destId="{04FCC160-0D62-49CB-9DC6-82E13A7E4DB8}" srcOrd="1" destOrd="0" presId="urn:microsoft.com/office/officeart/2005/8/layout/lProcess2"/>
    <dgm:cxn modelId="{1F2F145D-0EE3-4BD2-9A93-32766CE2F553}" type="presParOf" srcId="{3DE4FC7B-8AF9-4BC2-8530-1CD8C65A262F}" destId="{E7ACC6C7-AC5C-4EFA-9288-28FEFE331F93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A6354-1641-4DD2-A110-66137761762D}">
      <dsp:nvSpPr>
        <dsp:cNvPr id="0" name=""/>
        <dsp:cNvSpPr/>
      </dsp:nvSpPr>
      <dsp:spPr>
        <a:xfrm>
          <a:off x="669" y="0"/>
          <a:ext cx="1741289" cy="32004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Creating a python flask project </a:t>
          </a:r>
        </a:p>
      </dsp:txBody>
      <dsp:txXfrm>
        <a:off x="669" y="0"/>
        <a:ext cx="1741289" cy="960120"/>
      </dsp:txXfrm>
    </dsp:sp>
    <dsp:sp modelId="{2D29826C-EEBC-44EF-AF7D-4509B5784BC9}">
      <dsp:nvSpPr>
        <dsp:cNvPr id="0" name=""/>
        <dsp:cNvSpPr/>
      </dsp:nvSpPr>
      <dsp:spPr>
        <a:xfrm>
          <a:off x="284137" y="1030627"/>
          <a:ext cx="1393031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python file for creating predetcing fake news &amp; real news </a:t>
          </a:r>
        </a:p>
      </dsp:txBody>
      <dsp:txXfrm>
        <a:off x="312400" y="1058890"/>
        <a:ext cx="1336505" cy="908438"/>
      </dsp:txXfrm>
    </dsp:sp>
    <dsp:sp modelId="{CEA06823-ACB0-4550-9549-29BD5B3E426A}">
      <dsp:nvSpPr>
        <dsp:cNvPr id="0" name=""/>
        <dsp:cNvSpPr/>
      </dsp:nvSpPr>
      <dsp:spPr>
        <a:xfrm>
          <a:off x="174798" y="2074478"/>
          <a:ext cx="1393031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python anaconda file for installing all pre-requesites libraries </a:t>
          </a:r>
        </a:p>
      </dsp:txBody>
      <dsp:txXfrm>
        <a:off x="203061" y="2102741"/>
        <a:ext cx="1336505" cy="908438"/>
      </dsp:txXfrm>
    </dsp:sp>
    <dsp:sp modelId="{9F874AD7-7D51-45AF-89BF-5F441C25EBDA}">
      <dsp:nvSpPr>
        <dsp:cNvPr id="0" name=""/>
        <dsp:cNvSpPr/>
      </dsp:nvSpPr>
      <dsp:spPr>
        <a:xfrm>
          <a:off x="1872555" y="0"/>
          <a:ext cx="1741289" cy="32004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applications files </a:t>
          </a:r>
        </a:p>
      </dsp:txBody>
      <dsp:txXfrm>
        <a:off x="1872555" y="0"/>
        <a:ext cx="1741289" cy="960120"/>
      </dsp:txXfrm>
    </dsp:sp>
    <dsp:sp modelId="{9E36C6D5-D199-4CA7-BEAF-6AB865EAB5BB}">
      <dsp:nvSpPr>
        <dsp:cNvPr id="0" name=""/>
        <dsp:cNvSpPr/>
      </dsp:nvSpPr>
      <dsp:spPr>
        <a:xfrm>
          <a:off x="2046684" y="961057"/>
          <a:ext cx="1393031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4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4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Flask app HTML &amp; CSS files index file and CSS desgin file </a:t>
          </a:r>
        </a:p>
      </dsp:txBody>
      <dsp:txXfrm>
        <a:off x="2074947" y="989320"/>
        <a:ext cx="1336505" cy="908438"/>
      </dsp:txXfrm>
    </dsp:sp>
    <dsp:sp modelId="{91A214B1-4B2A-47D5-AEAB-B9E0DE1C04D5}">
      <dsp:nvSpPr>
        <dsp:cNvPr id="0" name=""/>
        <dsp:cNvSpPr/>
      </dsp:nvSpPr>
      <dsp:spPr>
        <a:xfrm>
          <a:off x="2046684" y="2074478"/>
          <a:ext cx="1393031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5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5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developing algorithm to detect the news from csv file dataset </a:t>
          </a:r>
        </a:p>
      </dsp:txBody>
      <dsp:txXfrm>
        <a:off x="2074947" y="2102741"/>
        <a:ext cx="1336505" cy="908438"/>
      </dsp:txXfrm>
    </dsp:sp>
    <dsp:sp modelId="{A70ADBE9-7E31-48C0-B00F-91822435BE07}">
      <dsp:nvSpPr>
        <dsp:cNvPr id="0" name=""/>
        <dsp:cNvSpPr/>
      </dsp:nvSpPr>
      <dsp:spPr>
        <a:xfrm>
          <a:off x="3744441" y="0"/>
          <a:ext cx="1741289" cy="32004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front end application </a:t>
          </a:r>
        </a:p>
      </dsp:txBody>
      <dsp:txXfrm>
        <a:off x="3744441" y="0"/>
        <a:ext cx="1741289" cy="960120"/>
      </dsp:txXfrm>
    </dsp:sp>
    <dsp:sp modelId="{A4234E26-90E2-465C-98A9-89CAB17E93F9}">
      <dsp:nvSpPr>
        <dsp:cNvPr id="0" name=""/>
        <dsp:cNvSpPr/>
      </dsp:nvSpPr>
      <dsp:spPr>
        <a:xfrm>
          <a:off x="3918570" y="961057"/>
          <a:ext cx="1393031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6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6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index file executing on port No: 127.0.0.1:5000</a:t>
          </a:r>
        </a:p>
      </dsp:txBody>
      <dsp:txXfrm>
        <a:off x="3946833" y="989320"/>
        <a:ext cx="1336505" cy="908438"/>
      </dsp:txXfrm>
    </dsp:sp>
    <dsp:sp modelId="{E7ACC6C7-AC5C-4EFA-9288-28FEFE331F93}">
      <dsp:nvSpPr>
        <dsp:cNvPr id="0" name=""/>
        <dsp:cNvSpPr/>
      </dsp:nvSpPr>
      <dsp:spPr>
        <a:xfrm>
          <a:off x="3918570" y="2074478"/>
          <a:ext cx="1393031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build model in anaconda first </a:t>
          </a:r>
        </a:p>
      </dsp:txBody>
      <dsp:txXfrm>
        <a:off x="3946833" y="2102741"/>
        <a:ext cx="1336505" cy="908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739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23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23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7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2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33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555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3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2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0A7DC6-0BA6-4703-8228-DEF8852E8B0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263748-2CD6-4DD1-8090-32E0CF54BCD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43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0894" y="3341128"/>
            <a:ext cx="9144000" cy="2387600"/>
          </a:xfrm>
        </p:spPr>
        <p:txBody>
          <a:bodyPr>
            <a:noAutofit/>
          </a:bodyPr>
          <a:lstStyle/>
          <a:p>
            <a:pPr algn="l"/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>MSc </a:t>
            </a:r>
            <a:r>
              <a:rPr lang="en-US" sz="2400" b="1" dirty="0"/>
              <a:t>Dissertation (COS7004-E)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Big Data for Detection of Fake News, Spam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Advertising and Biased/Non-impartial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Journalism using Social-Media and Web Resources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                                               </a:t>
            </a:r>
            <a:r>
              <a:rPr lang="en-US" sz="2400" b="1" dirty="0"/>
              <a:t>Supervisor: Prof. </a:t>
            </a:r>
            <a:r>
              <a:rPr lang="en-US" sz="2400" b="1" dirty="0" err="1"/>
              <a:t>Dr</a:t>
            </a:r>
            <a:r>
              <a:rPr lang="en-US" sz="2400" b="1" dirty="0"/>
              <a:t> Paul Trundle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                                                Student: Gurpreet Kaur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                                           </a:t>
            </a:r>
            <a:r>
              <a:rPr lang="en-US" sz="2400" b="1" dirty="0" smtClean="0"/>
              <a:t>     </a:t>
            </a:r>
            <a:r>
              <a:rPr lang="en-US" sz="2400" b="1" dirty="0" err="1" smtClean="0"/>
              <a:t>UoB</a:t>
            </a:r>
            <a:r>
              <a:rPr lang="en-US" sz="2400" b="1" dirty="0"/>
              <a:t>: </a:t>
            </a:r>
            <a:r>
              <a:rPr lang="en-US" sz="2400" b="1" dirty="0" smtClean="0"/>
              <a:t>190257                                           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 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                     </a:t>
            </a:r>
            <a:r>
              <a:rPr lang="en-US" sz="2400" dirty="0" smtClean="0"/>
              <a:t>    </a:t>
            </a:r>
            <a:r>
              <a:rPr lang="en-US" sz="2400" b="1" dirty="0"/>
              <a:t>A Thesis submitted in part fulfilment of the degree of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                          </a:t>
            </a:r>
            <a:r>
              <a:rPr lang="en-US" sz="2400" b="1" dirty="0" smtClean="0"/>
              <a:t>MSc </a:t>
            </a:r>
            <a:r>
              <a:rPr lang="en-US" sz="2400" b="1" dirty="0"/>
              <a:t>in Big data science and Technology 2021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4896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Specification</a:t>
            </a:r>
          </a:p>
          <a:p>
            <a:r>
              <a:rPr lang="en-US" dirty="0" smtClean="0"/>
              <a:t>Challenges</a:t>
            </a:r>
          </a:p>
          <a:p>
            <a:r>
              <a:rPr lang="en-US" dirty="0" smtClean="0"/>
              <a:t>Resources</a:t>
            </a:r>
          </a:p>
          <a:p>
            <a:r>
              <a:rPr lang="en-US" dirty="0" smtClean="0"/>
              <a:t>Workflow</a:t>
            </a:r>
          </a:p>
          <a:p>
            <a:r>
              <a:rPr lang="en-US" dirty="0" smtClean="0"/>
              <a:t>Methodology</a:t>
            </a:r>
          </a:p>
          <a:p>
            <a:r>
              <a:rPr lang="en-US" dirty="0" smtClean="0"/>
              <a:t>System Design / Application </a:t>
            </a:r>
          </a:p>
          <a:p>
            <a:r>
              <a:rPr lang="en-US" dirty="0" smtClean="0"/>
              <a:t>Progress &amp; Achievement / Limitation</a:t>
            </a:r>
          </a:p>
          <a:p>
            <a:r>
              <a:rPr lang="en-US" dirty="0" smtClean="0"/>
              <a:t>References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68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Specification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Initially in this project Naïve Bayes support vector and logistics regression algorithm develop to check the accuracy of fake news and F1 score with precision call. </a:t>
            </a:r>
          </a:p>
          <a:p>
            <a:r>
              <a:rPr lang="en-US" dirty="0" smtClean="0"/>
              <a:t>Next phase of this project:</a:t>
            </a:r>
          </a:p>
          <a:p>
            <a:r>
              <a:rPr lang="en-US" dirty="0" smtClean="0"/>
              <a:t>The goal of this project to develop a Flask python application that predict fake and real news.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 objective of this project to creates a python based application which is executed on web browser and predict fake and real news with the help of dataset. </a:t>
            </a:r>
          </a:p>
          <a:p>
            <a:pPr marL="0" indent="0">
              <a:buNone/>
            </a:pPr>
            <a:r>
              <a:rPr lang="en-US" dirty="0" smtClean="0"/>
              <a:t>Using the TF-IDF and Passive aggressive classifier algorithm.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83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Fake news dataset is challenging part, which is most famous fake dataset is that choose for detecting that is US presidential election dataset. </a:t>
            </a:r>
          </a:p>
          <a:p>
            <a:r>
              <a:rPr lang="en-US" dirty="0" smtClean="0"/>
              <a:t>Famous personalities ,like showbiz , sportsman, actor &amp; actress these dataset is not commonly used for academic application. </a:t>
            </a:r>
          </a:p>
          <a:p>
            <a:r>
              <a:rPr lang="en-US" dirty="0" smtClean="0"/>
              <a:t>So its challenging part for me to select dataset. </a:t>
            </a:r>
          </a:p>
          <a:p>
            <a:r>
              <a:rPr lang="en-US" dirty="0" smtClean="0"/>
              <a:t>Presidential election dataset is very few.</a:t>
            </a:r>
          </a:p>
          <a:p>
            <a:r>
              <a:rPr lang="en-US" dirty="0" smtClean="0"/>
              <a:t>Missing information </a:t>
            </a:r>
          </a:p>
          <a:p>
            <a:r>
              <a:rPr lang="en-US" dirty="0" smtClean="0"/>
              <a:t>Reliable sources I choose such as Kaggle &amp; dataworld</a:t>
            </a:r>
            <a:r>
              <a:rPr lang="en-US" dirty="0"/>
              <a:t> </a:t>
            </a:r>
            <a:r>
              <a:rPr lang="en-US" dirty="0" smtClean="0"/>
              <a:t>sites.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15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Google Scholars </a:t>
            </a:r>
          </a:p>
          <a:p>
            <a:r>
              <a:rPr lang="en-US" dirty="0" smtClean="0"/>
              <a:t>IEEE XPLORE </a:t>
            </a:r>
          </a:p>
          <a:p>
            <a:r>
              <a:rPr lang="en-US" dirty="0" smtClean="0"/>
              <a:t>ACM Digital Library</a:t>
            </a:r>
          </a:p>
          <a:p>
            <a:r>
              <a:rPr lang="en-US" dirty="0" smtClean="0"/>
              <a:t>Github </a:t>
            </a:r>
          </a:p>
          <a:p>
            <a:r>
              <a:rPr lang="en-US" dirty="0" smtClean="0"/>
              <a:t>Kaggle </a:t>
            </a:r>
          </a:p>
          <a:p>
            <a:r>
              <a:rPr lang="en-US" dirty="0" smtClean="0"/>
              <a:t>Python Anaconda </a:t>
            </a:r>
          </a:p>
          <a:p>
            <a:r>
              <a:rPr lang="en-US" dirty="0" smtClean="0"/>
              <a:t>Pycharm IDE 2021 version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92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535727804"/>
              </p:ext>
            </p:extLst>
          </p:nvPr>
        </p:nvGraphicFramePr>
        <p:xfrm>
          <a:off x="4509247" y="2266157"/>
          <a:ext cx="5486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FLASK Applicatio</a:t>
            </a:r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26518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 Data Collection </a:t>
            </a:r>
          </a:p>
          <a:p>
            <a:pPr marL="0" indent="0">
              <a:buNone/>
            </a:pPr>
            <a:r>
              <a:rPr lang="en-US" dirty="0" smtClean="0"/>
              <a:t>Fake news dataset is primarily collected from Kaggle.com website. Which is considered as a  reliable source. </a:t>
            </a:r>
          </a:p>
          <a:p>
            <a:pPr marL="0" indent="0">
              <a:buNone/>
            </a:pPr>
            <a:r>
              <a:rPr lang="en-US" dirty="0" smtClean="0"/>
              <a:t>Data Preparation </a:t>
            </a:r>
          </a:p>
          <a:p>
            <a:pPr marL="514350" indent="-514350">
              <a:buAutoNum type="arabicPeriod"/>
            </a:pPr>
            <a:r>
              <a:rPr lang="en-US" dirty="0" smtClean="0"/>
              <a:t>Split data set into two parts fake data and real data for making Naïve Bayes, support vector and logistics regression prediction. </a:t>
            </a:r>
          </a:p>
          <a:p>
            <a:r>
              <a:rPr lang="en-US" dirty="0"/>
              <a:t>Fake News = x Variable (Training &amp; Testing X Variable)</a:t>
            </a:r>
          </a:p>
          <a:p>
            <a:r>
              <a:rPr lang="en-US" dirty="0"/>
              <a:t>Real News = y variable (Training &amp; Testing y variable) </a:t>
            </a:r>
          </a:p>
          <a:p>
            <a:pPr marL="0" indent="0">
              <a:buNone/>
            </a:pPr>
            <a:r>
              <a:rPr lang="en-US" dirty="0" smtClean="0"/>
              <a:t>2. Define the TF-IDF algorithm in python IDE and passive aggressive classifier which is achieved to convert the text into numeric form in binary form such as 0 and 1 and to classify the news dataset with label classification to predict the news is real either fake.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1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For python flask application Github repository which is used to build the model and prepare the application</a:t>
            </a:r>
          </a:p>
          <a:p>
            <a:pPr marL="514350" indent="-514350">
              <a:buAutoNum type="arabicPeriod"/>
            </a:pPr>
            <a:r>
              <a:rPr lang="en-US" dirty="0" smtClean="0"/>
              <a:t>Develop the Passive aggressive &amp; TF-IDF algorithm which used the dataset to predict the fake and real news in web browser. </a:t>
            </a:r>
          </a:p>
          <a:p>
            <a:pPr marL="514350" indent="-514350">
              <a:buAutoNum type="arabicPeriod"/>
            </a:pPr>
            <a:r>
              <a:rPr lang="en-US" dirty="0" smtClean="0"/>
              <a:t>HTML &amp; CSS based index page which design to predict the news  by entering the dataset in the text area and make prediction, </a:t>
            </a:r>
          </a:p>
          <a:p>
            <a:pPr marL="514350" indent="-514350">
              <a:buAutoNum type="arabicPeriod"/>
            </a:pPr>
            <a:r>
              <a:rPr lang="en-US" dirty="0" smtClean="0"/>
              <a:t>Application running on 127.0.0.1:5000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5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Design / Application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 the application is design using the Flask python library which is web application platform to design web application</a:t>
            </a:r>
          </a:p>
          <a:p>
            <a:pPr lvl="0"/>
            <a:r>
              <a:rPr lang="en-US" dirty="0" smtClean="0"/>
              <a:t>Web based application which is used to predict the fake and real news from the dataset. Using the TF-IDF and Passive Aggressive classifier algorithm </a:t>
            </a:r>
          </a:p>
          <a:p>
            <a:pPr lvl="0"/>
            <a:r>
              <a:rPr lang="en-US" dirty="0" smtClean="0"/>
              <a:t>System is designed with Web application which is design through HTML &amp; CSS programming and backend flask code. </a:t>
            </a:r>
          </a:p>
          <a:p>
            <a:pPr lvl="0"/>
            <a:r>
              <a:rPr lang="en-US" dirty="0" smtClean="0"/>
              <a:t>Dataset is used exclusively to classify fake and real news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69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Progress &amp; Achievement / Limitation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achieve to build a Flask application in real to predict the fake and real news by using the web browser that is my achievement. Previously the Github application is not achieve the accurate result I achieve the accuracy. </a:t>
            </a:r>
          </a:p>
          <a:p>
            <a:r>
              <a:rPr lang="en-US" dirty="0" smtClean="0"/>
              <a:t>The progress of learning machine learning algorithm is amazing to produce the application. </a:t>
            </a:r>
          </a:p>
          <a:p>
            <a:r>
              <a:rPr lang="en-US" dirty="0" smtClean="0"/>
              <a:t>Limitation that is its only predict dataset, the future direction work is to design a more productive and innovative application which is execute on telephone and predict fake and real news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20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0929" y="313497"/>
            <a:ext cx="10058400" cy="735373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0929" y="1946182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3, T. C., 2021. </a:t>
            </a:r>
            <a:r>
              <a:rPr lang="en-US" i="1" dirty="0"/>
              <a:t>Passive Agressive Algorithm. </a:t>
            </a:r>
            <a:r>
              <a:rPr lang="en-US" dirty="0"/>
              <a:t>[Online] </a:t>
            </a:r>
            <a:br>
              <a:rPr lang="en-US" dirty="0"/>
            </a:br>
            <a:r>
              <a:rPr lang="en-US" dirty="0"/>
              <a:t>Available at: </a:t>
            </a:r>
            <a:r>
              <a:rPr lang="en-US" u="sng" dirty="0"/>
              <a:t>http://www.youtube.com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[Accessed 11 August 2021].</a:t>
            </a:r>
          </a:p>
          <a:p>
            <a:r>
              <a:rPr lang="en-US" dirty="0"/>
              <a:t>Abbasi, A. Z. Z. D. Z. H. C. a. J. F. N. J., 2010. Detecting fake websites: The contribution of statistical learning theory.. </a:t>
            </a:r>
            <a:r>
              <a:rPr lang="en-US" i="1" dirty="0" err="1"/>
              <a:t>Mis</a:t>
            </a:r>
            <a:r>
              <a:rPr lang="en-US" i="1" dirty="0"/>
              <a:t> Quarterly</a:t>
            </a:r>
            <a:r>
              <a:rPr lang="en-US" dirty="0"/>
              <a:t>, pp. 435-461.</a:t>
            </a:r>
          </a:p>
          <a:p>
            <a:r>
              <a:rPr lang="en-US" dirty="0"/>
              <a:t>Abu </a:t>
            </a:r>
            <a:r>
              <a:rPr lang="en-US" dirty="0" err="1"/>
              <a:t>Hammad</a:t>
            </a:r>
            <a:r>
              <a:rPr lang="en-US" dirty="0"/>
              <a:t>, A. S., 2013. </a:t>
            </a:r>
            <a:r>
              <a:rPr lang="en-US" i="1" dirty="0"/>
              <a:t>An approach for detecting spam in </a:t>
            </a:r>
            <a:r>
              <a:rPr lang="en-US" i="1" dirty="0" err="1"/>
              <a:t>arabic</a:t>
            </a:r>
            <a:r>
              <a:rPr lang="en-US" i="1" dirty="0"/>
              <a:t> opinion reviews, </a:t>
            </a:r>
            <a:r>
              <a:rPr lang="en-US" dirty="0" err="1"/>
              <a:t>s.l</a:t>
            </a:r>
            <a:r>
              <a:rPr lang="en-US" dirty="0"/>
              <a:t>.: </a:t>
            </a:r>
            <a:r>
              <a:rPr lang="en-US" dirty="0" err="1"/>
              <a:t>s.n</a:t>
            </a:r>
            <a:r>
              <a:rPr lang="en-US" dirty="0"/>
              <a:t>.</a:t>
            </a:r>
          </a:p>
          <a:p>
            <a:r>
              <a:rPr lang="en-US" dirty="0"/>
              <a:t>Acharya, A., Jathan, A. &amp; Anchan, D., 2019. Fake News Detection using machine learning. </a:t>
            </a:r>
            <a:r>
              <a:rPr lang="en-US" i="1" dirty="0" err="1"/>
              <a:t>Sahyadri</a:t>
            </a:r>
            <a:r>
              <a:rPr lang="en-US" i="1" dirty="0"/>
              <a:t> International Journal of Research , </a:t>
            </a:r>
            <a:r>
              <a:rPr lang="en-US" dirty="0"/>
              <a:t>5(1), pp. 2-7.</a:t>
            </a:r>
          </a:p>
          <a:p>
            <a:r>
              <a:rPr lang="en-US" dirty="0" err="1"/>
              <a:t>Aguledo</a:t>
            </a:r>
            <a:r>
              <a:rPr lang="en-US" dirty="0"/>
              <a:t>, G. E. R. &amp; Parra, O. J. S., 2018. Raising a model for fake news detection using machine learning in python. </a:t>
            </a:r>
            <a:r>
              <a:rPr lang="en-US" i="1" dirty="0"/>
              <a:t>Conference on E-Business, E-Service Springer Link , </a:t>
            </a:r>
            <a:r>
              <a:rPr lang="en-US" dirty="0"/>
              <a:t>p. 1.</a:t>
            </a:r>
          </a:p>
          <a:p>
            <a:r>
              <a:rPr lang="en-US" dirty="0"/>
              <a:t>Ahmed, H. I. T. a. S. S., 2017. </a:t>
            </a:r>
            <a:r>
              <a:rPr lang="en-US" i="1" dirty="0"/>
              <a:t>Detection of online fake news using n-gram analysis and machine learning techniques. </a:t>
            </a:r>
            <a:r>
              <a:rPr lang="en-US" dirty="0" err="1"/>
              <a:t>s.l</a:t>
            </a:r>
            <a:r>
              <a:rPr lang="en-US" dirty="0"/>
              <a:t>., Springer, Cham, pp. 127-138.</a:t>
            </a:r>
          </a:p>
          <a:p>
            <a:r>
              <a:rPr lang="en-US" dirty="0" smtClean="0"/>
              <a:t> Github.com </a:t>
            </a:r>
          </a:p>
          <a:p>
            <a:r>
              <a:rPr lang="en-US" dirty="0" smtClean="0"/>
              <a:t> ieeexplore.org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26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41" y="874059"/>
            <a:ext cx="10730754" cy="403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1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</TotalTime>
  <Words>640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       MSc Dissertation (COS7004-E) Big Data for Detection of Fake News, Spam Advertising and Biased/Non-impartial Journalism using Social-Media and Web Resources                                                 Supervisor: Prof. Dr Paul Trundle                                                 Student: Gurpreet Kaur                                                 UoB: 190257                                                                         A Thesis submitted in part fulfilment of the degree of                           MSc in Big data science and Technology 2021 </vt:lpstr>
      <vt:lpstr>CONTENT</vt:lpstr>
      <vt:lpstr>Problem Specification </vt:lpstr>
      <vt:lpstr>Challenges </vt:lpstr>
      <vt:lpstr>Resources</vt:lpstr>
      <vt:lpstr>Workflow </vt:lpstr>
      <vt:lpstr>Methodology </vt:lpstr>
      <vt:lpstr>Methodology</vt:lpstr>
      <vt:lpstr>System Design / Application </vt:lpstr>
      <vt:lpstr>Progress &amp; Achievement / Limitation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Dissertation (COS7004-E) Big Data for Detection of Fake News, Spam Advertising and Biased/Non-impartial Journalism using Social-Media and Web Resources                                                 Supervisor: Prof. Dr Paul Trundle                                                 Student: Gurpreet Kaur                                                 UoB: 190257                                                                         A Thesis submitted in part fulfilment of the degree of                           MSc in Big data science and Technology 2021</dc:title>
  <dc:creator>hp</dc:creator>
  <cp:lastModifiedBy>hp</cp:lastModifiedBy>
  <cp:revision>35</cp:revision>
  <dcterms:created xsi:type="dcterms:W3CDTF">2021-09-10T10:56:22Z</dcterms:created>
  <dcterms:modified xsi:type="dcterms:W3CDTF">2021-09-11T14:16:48Z</dcterms:modified>
</cp:coreProperties>
</file>