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309" r:id="rId4"/>
    <p:sldId id="258" r:id="rId5"/>
    <p:sldId id="330" r:id="rId6"/>
    <p:sldId id="261" r:id="rId7"/>
    <p:sldId id="262" r:id="rId8"/>
    <p:sldId id="263" r:id="rId9"/>
    <p:sldId id="264" r:id="rId10"/>
    <p:sldId id="265" r:id="rId11"/>
    <p:sldId id="266" r:id="rId12"/>
    <p:sldId id="267" r:id="rId13"/>
    <p:sldId id="268" r:id="rId14"/>
    <p:sldId id="308" r:id="rId15"/>
    <p:sldId id="312" r:id="rId16"/>
    <p:sldId id="313" r:id="rId17"/>
    <p:sldId id="307" r:id="rId18"/>
    <p:sldId id="314" r:id="rId19"/>
    <p:sldId id="275" r:id="rId20"/>
    <p:sldId id="273" r:id="rId21"/>
    <p:sldId id="274" r:id="rId22"/>
    <p:sldId id="315" r:id="rId23"/>
    <p:sldId id="270" r:id="rId24"/>
    <p:sldId id="271" r:id="rId25"/>
    <p:sldId id="272" r:id="rId26"/>
    <p:sldId id="316" r:id="rId27"/>
    <p:sldId id="320" r:id="rId28"/>
    <p:sldId id="321" r:id="rId29"/>
    <p:sldId id="322" r:id="rId30"/>
    <p:sldId id="323" r:id="rId31"/>
    <p:sldId id="324" r:id="rId32"/>
    <p:sldId id="325" r:id="rId33"/>
    <p:sldId id="326" r:id="rId34"/>
    <p:sldId id="327" r:id="rId35"/>
    <p:sldId id="328" r:id="rId36"/>
    <p:sldId id="329"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07" d="100"/>
          <a:sy n="107" d="100"/>
        </p:scale>
        <p:origin x="138" y="1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ABCC4F-6BE4-494C-929A-FD14CA75CE53}" type="datetimeFigureOut">
              <a:rPr lang="en-GB" smtClean="0"/>
              <a:t>30/03/2022</a:t>
            </a:fld>
            <a:endParaRPr lang="en-GB"/>
          </a:p>
        </p:txBody>
      </p:sp>
      <p:sp>
        <p:nvSpPr>
          <p:cNvPr id="5" name="Footer Placeholder 4"/>
          <p:cNvSpPr>
            <a:spLocks noGrp="1"/>
          </p:cNvSpPr>
          <p:nvPr>
            <p:ph type="ftr" sz="quarter" idx="11"/>
          </p:nvPr>
        </p:nvSpPr>
        <p:spPr/>
        <p:txBody>
          <a:bodyPr/>
          <a:lstStyle/>
          <a:p>
            <a:endParaRPr lang="en-GB"/>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3BDC2FB-FE89-46A2-9E9B-F173AC42CFFA}" type="slidenum">
              <a:rPr lang="en-GB" smtClean="0"/>
              <a:t>‹#›</a:t>
            </a:fld>
            <a:endParaRPr lang="en-GB"/>
          </a:p>
        </p:txBody>
      </p:sp>
    </p:spTree>
    <p:extLst>
      <p:ext uri="{BB962C8B-B14F-4D97-AF65-F5344CB8AC3E}">
        <p14:creationId xmlns:p14="http://schemas.microsoft.com/office/powerpoint/2010/main" val="2517314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ABCC4F-6BE4-494C-929A-FD14CA75CE53}" type="datetimeFigureOut">
              <a:rPr lang="en-GB" smtClean="0"/>
              <a:t>30/03/2022</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3BDC2FB-FE89-46A2-9E9B-F173AC42CFFA}" type="slidenum">
              <a:rPr lang="en-GB" smtClean="0"/>
              <a:t>‹#›</a:t>
            </a:fld>
            <a:endParaRPr lang="en-GB"/>
          </a:p>
        </p:txBody>
      </p:sp>
    </p:spTree>
    <p:extLst>
      <p:ext uri="{BB962C8B-B14F-4D97-AF65-F5344CB8AC3E}">
        <p14:creationId xmlns:p14="http://schemas.microsoft.com/office/powerpoint/2010/main" val="1678117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ABCC4F-6BE4-494C-929A-FD14CA75CE53}" type="datetimeFigureOut">
              <a:rPr lang="en-GB" smtClean="0"/>
              <a:t>30/03/2022</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3BDC2FB-FE89-46A2-9E9B-F173AC42CFFA}" type="slidenum">
              <a:rPr lang="en-GB" smtClean="0"/>
              <a:t>‹#›</a:t>
            </a:fld>
            <a:endParaRPr lang="en-GB"/>
          </a:p>
        </p:txBody>
      </p:sp>
    </p:spTree>
    <p:extLst>
      <p:ext uri="{BB962C8B-B14F-4D97-AF65-F5344CB8AC3E}">
        <p14:creationId xmlns:p14="http://schemas.microsoft.com/office/powerpoint/2010/main" val="981934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ABCC4F-6BE4-494C-929A-FD14CA75CE53}" type="datetimeFigureOut">
              <a:rPr lang="en-GB" smtClean="0"/>
              <a:t>30/03/2022</a:t>
            </a:fld>
            <a:endParaRPr lang="en-GB"/>
          </a:p>
        </p:txBody>
      </p:sp>
      <p:sp>
        <p:nvSpPr>
          <p:cNvPr id="6" name="Footer Placeholder 5"/>
          <p:cNvSpPr>
            <a:spLocks noGrp="1"/>
          </p:cNvSpPr>
          <p:nvPr>
            <p:ph type="ftr" sz="quarter" idx="11"/>
          </p:nvPr>
        </p:nvSpPr>
        <p:spPr/>
        <p:txBody>
          <a:bodyPr/>
          <a:lstStyle/>
          <a:p>
            <a:endParaRPr lang="en-GB"/>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3BDC2FB-FE89-46A2-9E9B-F173AC42CFFA}" type="slidenum">
              <a:rPr lang="en-GB" smtClean="0"/>
              <a:t>‹#›</a:t>
            </a:fld>
            <a:endParaRPr lang="en-GB"/>
          </a:p>
        </p:txBody>
      </p:sp>
    </p:spTree>
    <p:extLst>
      <p:ext uri="{BB962C8B-B14F-4D97-AF65-F5344CB8AC3E}">
        <p14:creationId xmlns:p14="http://schemas.microsoft.com/office/powerpoint/2010/main" val="2457536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ABCC4F-6BE4-494C-929A-FD14CA75CE53}" type="datetimeFigureOut">
              <a:rPr lang="en-GB" smtClean="0"/>
              <a:t>30/03/2022</a:t>
            </a:fld>
            <a:endParaRPr lang="en-GB"/>
          </a:p>
        </p:txBody>
      </p:sp>
      <p:sp>
        <p:nvSpPr>
          <p:cNvPr id="8" name="Footer Placeholder 7"/>
          <p:cNvSpPr>
            <a:spLocks noGrp="1"/>
          </p:cNvSpPr>
          <p:nvPr>
            <p:ph type="ftr" sz="quarter" idx="11"/>
          </p:nvPr>
        </p:nvSpPr>
        <p:spPr/>
        <p:txBody>
          <a:bodyPr/>
          <a:lstStyle/>
          <a:p>
            <a:endParaRPr lang="en-GB"/>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3BDC2FB-FE89-46A2-9E9B-F173AC42CFFA}" type="slidenum">
              <a:rPr lang="en-GB" smtClean="0"/>
              <a:t>‹#›</a:t>
            </a:fld>
            <a:endParaRPr lang="en-GB"/>
          </a:p>
        </p:txBody>
      </p:sp>
    </p:spTree>
    <p:extLst>
      <p:ext uri="{BB962C8B-B14F-4D97-AF65-F5344CB8AC3E}">
        <p14:creationId xmlns:p14="http://schemas.microsoft.com/office/powerpoint/2010/main" val="3581020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ABCC4F-6BE4-494C-929A-FD14CA75CE53}" type="datetimeFigureOut">
              <a:rPr lang="en-GB" smtClean="0"/>
              <a:t>30/03/2022</a:t>
            </a:fld>
            <a:endParaRPr lang="en-GB"/>
          </a:p>
        </p:txBody>
      </p:sp>
      <p:sp>
        <p:nvSpPr>
          <p:cNvPr id="4" name="Footer Placeholder 3"/>
          <p:cNvSpPr>
            <a:spLocks noGrp="1"/>
          </p:cNvSpPr>
          <p:nvPr>
            <p:ph type="ftr" sz="quarter" idx="11"/>
          </p:nvPr>
        </p:nvSpPr>
        <p:spPr/>
        <p:txBody>
          <a:bodyPr/>
          <a:lstStyle/>
          <a:p>
            <a:endParaRPr lang="en-GB"/>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3BDC2FB-FE89-46A2-9E9B-F173AC42CFFA}" type="slidenum">
              <a:rPr lang="en-GB" smtClean="0"/>
              <a:t>‹#›</a:t>
            </a:fld>
            <a:endParaRPr lang="en-GB"/>
          </a:p>
        </p:txBody>
      </p:sp>
    </p:spTree>
    <p:extLst>
      <p:ext uri="{BB962C8B-B14F-4D97-AF65-F5344CB8AC3E}">
        <p14:creationId xmlns:p14="http://schemas.microsoft.com/office/powerpoint/2010/main" val="200381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ABCC4F-6BE4-494C-929A-FD14CA75CE53}" type="datetimeFigureOut">
              <a:rPr lang="en-GB" smtClean="0"/>
              <a:t>30/03/2022</a:t>
            </a:fld>
            <a:endParaRPr lang="en-GB"/>
          </a:p>
        </p:txBody>
      </p:sp>
      <p:sp>
        <p:nvSpPr>
          <p:cNvPr id="3" name="Footer Placeholder 2"/>
          <p:cNvSpPr>
            <a:spLocks noGrp="1"/>
          </p:cNvSpPr>
          <p:nvPr>
            <p:ph type="ftr" sz="quarter" idx="11"/>
          </p:nvPr>
        </p:nvSpPr>
        <p:spPr/>
        <p:txBody>
          <a:bodyPr/>
          <a:lstStyle/>
          <a:p>
            <a:endParaRPr lang="en-GB"/>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3BDC2FB-FE89-46A2-9E9B-F173AC42CFFA}" type="slidenum">
              <a:rPr lang="en-GB" smtClean="0"/>
              <a:t>‹#›</a:t>
            </a:fld>
            <a:endParaRPr lang="en-GB"/>
          </a:p>
        </p:txBody>
      </p:sp>
    </p:spTree>
    <p:extLst>
      <p:ext uri="{BB962C8B-B14F-4D97-AF65-F5344CB8AC3E}">
        <p14:creationId xmlns:p14="http://schemas.microsoft.com/office/powerpoint/2010/main" val="3331399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ABCC4F-6BE4-494C-929A-FD14CA75CE53}" type="datetimeFigureOut">
              <a:rPr lang="en-GB" smtClean="0"/>
              <a:t>30/03/2022</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3BDC2FB-FE89-46A2-9E9B-F173AC42CFFA}" type="slidenum">
              <a:rPr lang="en-GB" smtClean="0"/>
              <a:t>‹#›</a:t>
            </a:fld>
            <a:endParaRPr lang="en-GB"/>
          </a:p>
        </p:txBody>
      </p:sp>
    </p:spTree>
    <p:extLst>
      <p:ext uri="{BB962C8B-B14F-4D97-AF65-F5344CB8AC3E}">
        <p14:creationId xmlns:p14="http://schemas.microsoft.com/office/powerpoint/2010/main" val="349671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ABCC4F-6BE4-494C-929A-FD14CA75CE53}" type="datetimeFigureOut">
              <a:rPr lang="en-GB" smtClean="0"/>
              <a:t>30/03/2022</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3BDC2FB-FE89-46A2-9E9B-F173AC42CFFA}" type="slidenum">
              <a:rPr lang="en-GB" smtClean="0"/>
              <a:t>‹#›</a:t>
            </a:fld>
            <a:endParaRPr lang="en-GB"/>
          </a:p>
        </p:txBody>
      </p:sp>
    </p:spTree>
    <p:extLst>
      <p:ext uri="{BB962C8B-B14F-4D97-AF65-F5344CB8AC3E}">
        <p14:creationId xmlns:p14="http://schemas.microsoft.com/office/powerpoint/2010/main" val="2822745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ABCC4F-6BE4-494C-929A-FD14CA75CE53}" type="datetimeFigureOut">
              <a:rPr lang="en-GB" smtClean="0"/>
              <a:t>30/03/2022</a:t>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3BDC2FB-FE89-46A2-9E9B-F173AC42CFFA}" type="slidenum">
              <a:rPr lang="en-GB" smtClean="0"/>
              <a:t>‹#›</a:t>
            </a:fld>
            <a:endParaRPr lang="en-GB"/>
          </a:p>
        </p:txBody>
      </p:sp>
    </p:spTree>
    <p:extLst>
      <p:ext uri="{BB962C8B-B14F-4D97-AF65-F5344CB8AC3E}">
        <p14:creationId xmlns:p14="http://schemas.microsoft.com/office/powerpoint/2010/main" val="2074986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ABCC4F-6BE4-494C-929A-FD14CA75CE53}" type="datetimeFigureOut">
              <a:rPr lang="en-GB" smtClean="0"/>
              <a:t>30/03/2022</a:t>
            </a:fld>
            <a:endParaRPr lang="en-GB"/>
          </a:p>
        </p:txBody>
      </p:sp>
      <p:sp>
        <p:nvSpPr>
          <p:cNvPr id="5" name="Footer Placeholder 4"/>
          <p:cNvSpPr>
            <a:spLocks noGrp="1"/>
          </p:cNvSpPr>
          <p:nvPr>
            <p:ph type="ftr" sz="quarter" idx="11"/>
          </p:nvPr>
        </p:nvSpPr>
        <p:spPr/>
        <p:txBody>
          <a:bodyPr/>
          <a:lstStyle/>
          <a:p>
            <a:endParaRPr lang="en-GB"/>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3BDC2FB-FE89-46A2-9E9B-F173AC42CFFA}" type="slidenum">
              <a:rPr lang="en-GB" smtClean="0"/>
              <a:t>‹#›</a:t>
            </a:fld>
            <a:endParaRPr lang="en-GB"/>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788250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7ABCC4F-6BE4-494C-929A-FD14CA75CE53}" type="datetimeFigureOut">
              <a:rPr lang="en-GB" smtClean="0"/>
              <a:t>30/03/2022</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3BDC2FB-FE89-46A2-9E9B-F173AC42CFFA}" type="slidenum">
              <a:rPr lang="en-GB" smtClean="0"/>
              <a:t>‹#›</a:t>
            </a:fld>
            <a:endParaRPr lang="en-GB"/>
          </a:p>
        </p:txBody>
      </p:sp>
    </p:spTree>
    <p:extLst>
      <p:ext uri="{BB962C8B-B14F-4D97-AF65-F5344CB8AC3E}">
        <p14:creationId xmlns:p14="http://schemas.microsoft.com/office/powerpoint/2010/main" val="32074646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7ABCC4F-6BE4-494C-929A-FD14CA75CE53}" type="datetimeFigureOut">
              <a:rPr lang="en-GB" smtClean="0"/>
              <a:t>30/03/2022</a:t>
            </a:fld>
            <a:endParaRPr lang="en-GB"/>
          </a:p>
        </p:txBody>
      </p:sp>
      <p:sp>
        <p:nvSpPr>
          <p:cNvPr id="6" name="Footer Placeholder 5"/>
          <p:cNvSpPr>
            <a:spLocks noGrp="1"/>
          </p:cNvSpPr>
          <p:nvPr>
            <p:ph type="ftr" sz="quarter" idx="11"/>
          </p:nvPr>
        </p:nvSpPr>
        <p:spPr/>
        <p:txBody>
          <a:bodyPr/>
          <a:lstStyle/>
          <a:p>
            <a:endParaRPr lang="en-GB"/>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3BDC2FB-FE89-46A2-9E9B-F173AC42CFFA}" type="slidenum">
              <a:rPr lang="en-GB" smtClean="0"/>
              <a:t>‹#›</a:t>
            </a:fld>
            <a:endParaRPr lang="en-GB"/>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233215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7ABCC4F-6BE4-494C-929A-FD14CA75CE53}" type="datetimeFigureOut">
              <a:rPr lang="en-GB" smtClean="0"/>
              <a:t>30/03/2022</a:t>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3BDC2FB-FE89-46A2-9E9B-F173AC42CFFA}" type="slidenum">
              <a:rPr lang="en-GB" smtClean="0"/>
              <a:t>‹#›</a:t>
            </a:fld>
            <a:endParaRPr lang="en-GB"/>
          </a:p>
        </p:txBody>
      </p:sp>
    </p:spTree>
    <p:extLst>
      <p:ext uri="{BB962C8B-B14F-4D97-AF65-F5344CB8AC3E}">
        <p14:creationId xmlns:p14="http://schemas.microsoft.com/office/powerpoint/2010/main" val="25355246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ABCC4F-6BE4-494C-929A-FD14CA75CE53}" type="datetimeFigureOut">
              <a:rPr lang="en-GB" smtClean="0"/>
              <a:t>30/03/2022</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3BDC2FB-FE89-46A2-9E9B-F173AC42CFFA}" type="slidenum">
              <a:rPr lang="en-GB" smtClean="0"/>
              <a:t>‹#›</a:t>
            </a:fld>
            <a:endParaRPr lang="en-GB"/>
          </a:p>
        </p:txBody>
      </p:sp>
    </p:spTree>
    <p:extLst>
      <p:ext uri="{BB962C8B-B14F-4D97-AF65-F5344CB8AC3E}">
        <p14:creationId xmlns:p14="http://schemas.microsoft.com/office/powerpoint/2010/main" val="5284490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ABCC4F-6BE4-494C-929A-FD14CA75CE53}" type="datetimeFigureOut">
              <a:rPr lang="en-GB" smtClean="0"/>
              <a:t>30/03/2022</a:t>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3BDC2FB-FE89-46A2-9E9B-F173AC42CFFA}" type="slidenum">
              <a:rPr lang="en-GB" smtClean="0"/>
              <a:t>‹#›</a:t>
            </a:fld>
            <a:endParaRPr lang="en-GB"/>
          </a:p>
        </p:txBody>
      </p:sp>
    </p:spTree>
    <p:extLst>
      <p:ext uri="{BB962C8B-B14F-4D97-AF65-F5344CB8AC3E}">
        <p14:creationId xmlns:p14="http://schemas.microsoft.com/office/powerpoint/2010/main" val="1062647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7ABCC4F-6BE4-494C-929A-FD14CA75CE53}" type="datetimeFigureOut">
              <a:rPr lang="en-GB" smtClean="0"/>
              <a:t>30/03/2022</a:t>
            </a:fld>
            <a:endParaRPr lang="en-GB"/>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3BDC2FB-FE89-46A2-9E9B-F173AC42CFFA}" type="slidenum">
              <a:rPr lang="en-GB" smtClean="0"/>
              <a:t>‹#›</a:t>
            </a:fld>
            <a:endParaRPr lang="en-GB"/>
          </a:p>
        </p:txBody>
      </p:sp>
    </p:spTree>
    <p:extLst>
      <p:ext uri="{BB962C8B-B14F-4D97-AF65-F5344CB8AC3E}">
        <p14:creationId xmlns:p14="http://schemas.microsoft.com/office/powerpoint/2010/main" val="30964678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277D6-1B09-480C-8326-1BDCFD393844}"/>
              </a:ext>
            </a:extLst>
          </p:cNvPr>
          <p:cNvSpPr>
            <a:spLocks noGrp="1"/>
          </p:cNvSpPr>
          <p:nvPr>
            <p:ph type="ctrTitle"/>
          </p:nvPr>
        </p:nvSpPr>
        <p:spPr/>
        <p:txBody>
          <a:bodyPr/>
          <a:lstStyle/>
          <a:p>
            <a:r>
              <a:rPr lang="en-GB" dirty="0"/>
              <a:t>Class Diagrams</a:t>
            </a:r>
          </a:p>
        </p:txBody>
      </p:sp>
      <p:sp>
        <p:nvSpPr>
          <p:cNvPr id="3" name="Subtitle 2">
            <a:extLst>
              <a:ext uri="{FF2B5EF4-FFF2-40B4-BE49-F238E27FC236}">
                <a16:creationId xmlns:a16="http://schemas.microsoft.com/office/drawing/2014/main" id="{89B8A463-AC12-4FE2-B455-1E22D4FE4603}"/>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828232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2878A-7A86-4A46-B27F-20EB73E68806}"/>
              </a:ext>
            </a:extLst>
          </p:cNvPr>
          <p:cNvSpPr>
            <a:spLocks noGrp="1"/>
          </p:cNvSpPr>
          <p:nvPr>
            <p:ph type="title"/>
          </p:nvPr>
        </p:nvSpPr>
        <p:spPr/>
        <p:txBody>
          <a:bodyPr/>
          <a:lstStyle/>
          <a:p>
            <a:r>
              <a:rPr lang="en-GB" dirty="0"/>
              <a:t>Objectives</a:t>
            </a:r>
          </a:p>
        </p:txBody>
      </p:sp>
      <p:sp>
        <p:nvSpPr>
          <p:cNvPr id="3" name="Content Placeholder 2">
            <a:extLst>
              <a:ext uri="{FF2B5EF4-FFF2-40B4-BE49-F238E27FC236}">
                <a16:creationId xmlns:a16="http://schemas.microsoft.com/office/drawing/2014/main" id="{693DDB25-E833-4C9B-AA21-CC536FDE8790}"/>
              </a:ext>
            </a:extLst>
          </p:cNvPr>
          <p:cNvSpPr>
            <a:spLocks noGrp="1"/>
          </p:cNvSpPr>
          <p:nvPr>
            <p:ph idx="1"/>
          </p:nvPr>
        </p:nvSpPr>
        <p:spPr/>
        <p:txBody>
          <a:bodyPr/>
          <a:lstStyle/>
          <a:p>
            <a:r>
              <a:rPr lang="en-US" altLang="en-US" sz="1800" dirty="0"/>
              <a:t>What is a class diagram and what is its purpose?</a:t>
            </a:r>
          </a:p>
          <a:p>
            <a:r>
              <a:rPr lang="en-US" altLang="en-US" dirty="0"/>
              <a:t>C</a:t>
            </a:r>
            <a:r>
              <a:rPr lang="en-US" altLang="en-US" sz="1800" dirty="0"/>
              <a:t>omponents of a Class diagram?</a:t>
            </a:r>
          </a:p>
          <a:p>
            <a:r>
              <a:rPr lang="en-US" altLang="en-US" sz="1800" dirty="0"/>
              <a:t>How do we develop a Class Diagram?</a:t>
            </a:r>
          </a:p>
          <a:p>
            <a:r>
              <a:rPr lang="en-US" altLang="en-US" sz="1800" dirty="0"/>
              <a:t>How is a Class Diagram related to other UML diagrams? </a:t>
            </a:r>
          </a:p>
          <a:p>
            <a:endParaRPr lang="en-GB" dirty="0"/>
          </a:p>
        </p:txBody>
      </p:sp>
    </p:spTree>
    <p:extLst>
      <p:ext uri="{BB962C8B-B14F-4D97-AF65-F5344CB8AC3E}">
        <p14:creationId xmlns:p14="http://schemas.microsoft.com/office/powerpoint/2010/main" val="531909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142C1-9704-4B4D-8099-53E9A6FD685D}"/>
              </a:ext>
            </a:extLst>
          </p:cNvPr>
          <p:cNvSpPr>
            <a:spLocks noGrp="1"/>
          </p:cNvSpPr>
          <p:nvPr>
            <p:ph type="title"/>
          </p:nvPr>
        </p:nvSpPr>
        <p:spPr/>
        <p:txBody>
          <a:bodyPr/>
          <a:lstStyle/>
          <a:p>
            <a:r>
              <a:rPr lang="en-GB" dirty="0"/>
              <a:t>Unified Modelling Language (UML)</a:t>
            </a:r>
          </a:p>
        </p:txBody>
      </p:sp>
      <p:sp>
        <p:nvSpPr>
          <p:cNvPr id="3" name="Content Placeholder 2">
            <a:extLst>
              <a:ext uri="{FF2B5EF4-FFF2-40B4-BE49-F238E27FC236}">
                <a16:creationId xmlns:a16="http://schemas.microsoft.com/office/drawing/2014/main" id="{94E509CB-A400-4F35-8DD3-280216875B03}"/>
              </a:ext>
            </a:extLst>
          </p:cNvPr>
          <p:cNvSpPr>
            <a:spLocks noGrp="1"/>
          </p:cNvSpPr>
          <p:nvPr>
            <p:ph idx="1"/>
          </p:nvPr>
        </p:nvSpPr>
        <p:spPr/>
        <p:txBody>
          <a:bodyPr>
            <a:normAutofit fontScale="92500" lnSpcReduction="10000"/>
          </a:bodyPr>
          <a:lstStyle/>
          <a:p>
            <a:r>
              <a:rPr lang="en-GB" sz="2200" dirty="0"/>
              <a:t>Developed in the mid-90s by Grady </a:t>
            </a:r>
            <a:r>
              <a:rPr lang="en-GB" sz="2200" dirty="0" err="1"/>
              <a:t>Booch</a:t>
            </a:r>
            <a:r>
              <a:rPr lang="en-GB" sz="2200" dirty="0"/>
              <a:t>, Ivar Jacobson and James Rumbaugh</a:t>
            </a:r>
          </a:p>
          <a:p>
            <a:pPr lvl="1">
              <a:buFont typeface="Arial" panose="020B0604020202020204" pitchFamily="34" charset="0"/>
              <a:buChar char="•"/>
            </a:pPr>
            <a:r>
              <a:rPr lang="en-GB" sz="2000" dirty="0"/>
              <a:t>First draft published in 1997</a:t>
            </a:r>
          </a:p>
          <a:p>
            <a:pPr lvl="1">
              <a:buFont typeface="Arial" panose="020B0604020202020204" pitchFamily="34" charset="0"/>
              <a:buChar char="•"/>
            </a:pPr>
            <a:r>
              <a:rPr lang="en-GB" sz="2000" dirty="0"/>
              <a:t>UML 2.0 published in 2005</a:t>
            </a:r>
          </a:p>
          <a:p>
            <a:pPr lvl="1">
              <a:buFont typeface="Arial" panose="020B0604020202020204" pitchFamily="34" charset="0"/>
              <a:buChar char="•"/>
            </a:pPr>
            <a:r>
              <a:rPr lang="en-GB" sz="2000" dirty="0"/>
              <a:t>UML 2.5 published in 2015</a:t>
            </a:r>
          </a:p>
          <a:p>
            <a:r>
              <a:rPr lang="en-GB" sz="2200" dirty="0"/>
              <a:t>Brings together numerous modelling methods</a:t>
            </a:r>
          </a:p>
          <a:p>
            <a:r>
              <a:rPr lang="en-GB" sz="2200" dirty="0"/>
              <a:t>Primarily aimed at Object-Oriented Analysis and Design</a:t>
            </a:r>
          </a:p>
          <a:p>
            <a:r>
              <a:rPr lang="en-GB" sz="2200" dirty="0"/>
              <a:t>Includes things like Use Case Diagrams, Activity Diagrams and Class Diagrams</a:t>
            </a:r>
          </a:p>
          <a:p>
            <a:r>
              <a:rPr lang="en-GB" sz="2200" dirty="0"/>
              <a:t>Widely used and understood</a:t>
            </a:r>
          </a:p>
          <a:p>
            <a:endParaRPr lang="en-GB" dirty="0"/>
          </a:p>
        </p:txBody>
      </p:sp>
    </p:spTree>
    <p:extLst>
      <p:ext uri="{BB962C8B-B14F-4D97-AF65-F5344CB8AC3E}">
        <p14:creationId xmlns:p14="http://schemas.microsoft.com/office/powerpoint/2010/main" val="1405261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E5B60-4A2E-431F-8CED-F30AE997A352}"/>
              </a:ext>
            </a:extLst>
          </p:cNvPr>
          <p:cNvSpPr>
            <a:spLocks noGrp="1"/>
          </p:cNvSpPr>
          <p:nvPr>
            <p:ph type="title"/>
          </p:nvPr>
        </p:nvSpPr>
        <p:spPr/>
        <p:txBody>
          <a:bodyPr/>
          <a:lstStyle/>
          <a:p>
            <a:r>
              <a:rPr lang="en-GB" dirty="0"/>
              <a:t>What is a Class Diagram</a:t>
            </a:r>
          </a:p>
        </p:txBody>
      </p:sp>
      <p:sp>
        <p:nvSpPr>
          <p:cNvPr id="3" name="Content Placeholder 2">
            <a:extLst>
              <a:ext uri="{FF2B5EF4-FFF2-40B4-BE49-F238E27FC236}">
                <a16:creationId xmlns:a16="http://schemas.microsoft.com/office/drawing/2014/main" id="{B6A93062-2A0E-4712-BC1E-840FB599F7DF}"/>
              </a:ext>
            </a:extLst>
          </p:cNvPr>
          <p:cNvSpPr>
            <a:spLocks noGrp="1"/>
          </p:cNvSpPr>
          <p:nvPr>
            <p:ph idx="1"/>
          </p:nvPr>
        </p:nvSpPr>
        <p:spPr/>
        <p:txBody>
          <a:bodyPr/>
          <a:lstStyle/>
          <a:p>
            <a:r>
              <a:rPr lang="en-US" altLang="en-US" dirty="0"/>
              <a:t>Class diagrams are used to show </a:t>
            </a:r>
          </a:p>
          <a:p>
            <a:pPr lvl="1"/>
            <a:r>
              <a:rPr lang="en-US" altLang="en-US" dirty="0"/>
              <a:t>A static structural view of a system</a:t>
            </a:r>
          </a:p>
          <a:p>
            <a:pPr lvl="1"/>
            <a:r>
              <a:rPr lang="en-US" altLang="en-US" dirty="0"/>
              <a:t>The relationships between types of objects in the system (Hierarchy and Structure) </a:t>
            </a:r>
          </a:p>
          <a:p>
            <a:pPr lvl="1"/>
            <a:r>
              <a:rPr lang="en-US" altLang="en-US" dirty="0"/>
              <a:t>The types of objects that will be created in the system</a:t>
            </a:r>
          </a:p>
          <a:p>
            <a:pPr lvl="1"/>
            <a:r>
              <a:rPr lang="en-US" altLang="en-US" dirty="0"/>
              <a:t>Object attributes</a:t>
            </a:r>
          </a:p>
          <a:p>
            <a:pPr lvl="1"/>
            <a:r>
              <a:rPr lang="en-US" altLang="en-US" dirty="0"/>
              <a:t>Object operations/methods that they carry out</a:t>
            </a:r>
          </a:p>
          <a:p>
            <a:pPr lvl="1"/>
            <a:r>
              <a:rPr lang="en-US" altLang="en-US" dirty="0"/>
              <a:t>Original notations for ERDS are becoming less popular – most likely will see ERDs represented by UML Class Diagrams</a:t>
            </a:r>
          </a:p>
          <a:p>
            <a:pPr lvl="1"/>
            <a:r>
              <a:rPr lang="en-GB" sz="1600" dirty="0"/>
              <a:t>Class Diagram = ERD + Object-Oriented Components</a:t>
            </a:r>
          </a:p>
          <a:p>
            <a:pPr lvl="1"/>
            <a:endParaRPr lang="en-US" altLang="en-US" dirty="0"/>
          </a:p>
          <a:p>
            <a:endParaRPr lang="en-GB" dirty="0"/>
          </a:p>
        </p:txBody>
      </p:sp>
    </p:spTree>
    <p:extLst>
      <p:ext uri="{BB962C8B-B14F-4D97-AF65-F5344CB8AC3E}">
        <p14:creationId xmlns:p14="http://schemas.microsoft.com/office/powerpoint/2010/main" val="594303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E7B5-A898-4904-B6DB-F45791266E29}"/>
              </a:ext>
            </a:extLst>
          </p:cNvPr>
          <p:cNvSpPr>
            <a:spLocks noGrp="1"/>
          </p:cNvSpPr>
          <p:nvPr>
            <p:ph type="title"/>
          </p:nvPr>
        </p:nvSpPr>
        <p:spPr/>
        <p:txBody>
          <a:bodyPr/>
          <a:lstStyle/>
          <a:p>
            <a:r>
              <a:rPr lang="en-GB" dirty="0"/>
              <a:t>Class Components</a:t>
            </a:r>
          </a:p>
        </p:txBody>
      </p:sp>
      <p:pic>
        <p:nvPicPr>
          <p:cNvPr id="8" name="Picture 4">
            <a:extLst>
              <a:ext uri="{FF2B5EF4-FFF2-40B4-BE49-F238E27FC236}">
                <a16:creationId xmlns:a16="http://schemas.microsoft.com/office/drawing/2014/main" id="{4B766361-092F-4965-BCE3-0FB4E14BD5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0246" y="3265437"/>
            <a:ext cx="2838450" cy="2265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Arrow: Down 8">
            <a:extLst>
              <a:ext uri="{FF2B5EF4-FFF2-40B4-BE49-F238E27FC236}">
                <a16:creationId xmlns:a16="http://schemas.microsoft.com/office/drawing/2014/main" id="{D8E4DEC3-63A1-466A-83DB-C9E03D2FDC00}"/>
              </a:ext>
            </a:extLst>
          </p:cNvPr>
          <p:cNvSpPr/>
          <p:nvPr/>
        </p:nvSpPr>
        <p:spPr>
          <a:xfrm>
            <a:off x="2700997" y="2841674"/>
            <a:ext cx="196948" cy="3657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2CC492F-6397-4717-9793-8A3E6BF72BEE}"/>
              </a:ext>
            </a:extLst>
          </p:cNvPr>
          <p:cNvSpPr txBox="1"/>
          <p:nvPr/>
        </p:nvSpPr>
        <p:spPr>
          <a:xfrm>
            <a:off x="2292824" y="2308774"/>
            <a:ext cx="2115403" cy="523220"/>
          </a:xfrm>
          <a:prstGeom prst="rect">
            <a:avLst/>
          </a:prstGeom>
          <a:noFill/>
        </p:spPr>
        <p:txBody>
          <a:bodyPr wrap="square" rtlCol="0">
            <a:spAutoFit/>
          </a:bodyPr>
          <a:lstStyle/>
          <a:p>
            <a:r>
              <a:rPr lang="en-GB" sz="2800" dirty="0"/>
              <a:t>Class</a:t>
            </a:r>
            <a:endParaRPr lang="en-GB" dirty="0"/>
          </a:p>
        </p:txBody>
      </p:sp>
      <p:pic>
        <p:nvPicPr>
          <p:cNvPr id="13" name="Picture 5">
            <a:extLst>
              <a:ext uri="{FF2B5EF4-FFF2-40B4-BE49-F238E27FC236}">
                <a16:creationId xmlns:a16="http://schemas.microsoft.com/office/drawing/2014/main" id="{7BA72D09-6BC1-41C3-A1E6-5020583FEC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00" y="3231932"/>
            <a:ext cx="2667000" cy="285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Box 13">
            <a:extLst>
              <a:ext uri="{FF2B5EF4-FFF2-40B4-BE49-F238E27FC236}">
                <a16:creationId xmlns:a16="http://schemas.microsoft.com/office/drawing/2014/main" id="{95A3112C-8F2C-4CDF-8D01-3D0C5E97D361}"/>
              </a:ext>
            </a:extLst>
          </p:cNvPr>
          <p:cNvSpPr txBox="1"/>
          <p:nvPr/>
        </p:nvSpPr>
        <p:spPr>
          <a:xfrm>
            <a:off x="4762500" y="2318454"/>
            <a:ext cx="2211506" cy="523220"/>
          </a:xfrm>
          <a:prstGeom prst="rect">
            <a:avLst/>
          </a:prstGeom>
          <a:noFill/>
        </p:spPr>
        <p:txBody>
          <a:bodyPr wrap="square" rtlCol="0">
            <a:spAutoFit/>
          </a:bodyPr>
          <a:lstStyle/>
          <a:p>
            <a:r>
              <a:rPr lang="en-GB" sz="2800" dirty="0"/>
              <a:t>Association</a:t>
            </a:r>
            <a:endParaRPr lang="en-GB" dirty="0"/>
          </a:p>
        </p:txBody>
      </p:sp>
      <p:sp>
        <p:nvSpPr>
          <p:cNvPr id="15" name="Arrow: Down 14">
            <a:extLst>
              <a:ext uri="{FF2B5EF4-FFF2-40B4-BE49-F238E27FC236}">
                <a16:creationId xmlns:a16="http://schemas.microsoft.com/office/drawing/2014/main" id="{825324CE-9113-4ABB-BE58-FA3FB0D0EDD0}"/>
              </a:ext>
            </a:extLst>
          </p:cNvPr>
          <p:cNvSpPr/>
          <p:nvPr/>
        </p:nvSpPr>
        <p:spPr>
          <a:xfrm>
            <a:off x="5671305" y="2788910"/>
            <a:ext cx="196948" cy="3657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9">
            <a:extLst>
              <a:ext uri="{FF2B5EF4-FFF2-40B4-BE49-F238E27FC236}">
                <a16:creationId xmlns:a16="http://schemas.microsoft.com/office/drawing/2014/main" id="{7A800E02-03F2-41C8-BC24-9D2FAF6D08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4997" y="4398407"/>
            <a:ext cx="2676346" cy="484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16">
            <a:extLst>
              <a:ext uri="{FF2B5EF4-FFF2-40B4-BE49-F238E27FC236}">
                <a16:creationId xmlns:a16="http://schemas.microsoft.com/office/drawing/2014/main" id="{65DCECF3-D8BC-4461-855E-F51C21EF46C3}"/>
              </a:ext>
            </a:extLst>
          </p:cNvPr>
          <p:cNvSpPr txBox="1"/>
          <p:nvPr/>
        </p:nvSpPr>
        <p:spPr>
          <a:xfrm>
            <a:off x="4762499" y="3722287"/>
            <a:ext cx="2548843" cy="523220"/>
          </a:xfrm>
          <a:prstGeom prst="rect">
            <a:avLst/>
          </a:prstGeom>
          <a:noFill/>
        </p:spPr>
        <p:txBody>
          <a:bodyPr wrap="square" rtlCol="0">
            <a:spAutoFit/>
          </a:bodyPr>
          <a:lstStyle/>
          <a:p>
            <a:r>
              <a:rPr lang="en-GB" sz="2800" dirty="0"/>
              <a:t>Multiplicities</a:t>
            </a:r>
            <a:endParaRPr lang="en-GB" dirty="0"/>
          </a:p>
        </p:txBody>
      </p:sp>
      <p:sp>
        <p:nvSpPr>
          <p:cNvPr id="18" name="Arrow: Down 17">
            <a:extLst>
              <a:ext uri="{FF2B5EF4-FFF2-40B4-BE49-F238E27FC236}">
                <a16:creationId xmlns:a16="http://schemas.microsoft.com/office/drawing/2014/main" id="{20C6F86F-B09C-457F-B77A-859742776F75}"/>
              </a:ext>
            </a:extLst>
          </p:cNvPr>
          <p:cNvSpPr/>
          <p:nvPr/>
        </p:nvSpPr>
        <p:spPr>
          <a:xfrm>
            <a:off x="5671305" y="4192743"/>
            <a:ext cx="196948" cy="3657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9" name="Straight Connector 18">
            <a:extLst>
              <a:ext uri="{FF2B5EF4-FFF2-40B4-BE49-F238E27FC236}">
                <a16:creationId xmlns:a16="http://schemas.microsoft.com/office/drawing/2014/main" id="{36231E8F-C9EC-47C4-8124-8717E30D9B88}"/>
              </a:ext>
            </a:extLst>
          </p:cNvPr>
          <p:cNvCxnSpPr>
            <a:cxnSpLocks/>
          </p:cNvCxnSpPr>
          <p:nvPr/>
        </p:nvCxnSpPr>
        <p:spPr>
          <a:xfrm>
            <a:off x="4744617" y="5886556"/>
            <a:ext cx="2566725" cy="0"/>
          </a:xfrm>
          <a:prstGeom prst="line">
            <a:avLst/>
          </a:prstGeom>
          <a:ln w="2540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B53377B-D32A-43AB-B7E0-86B88885E67F}"/>
              </a:ext>
            </a:extLst>
          </p:cNvPr>
          <p:cNvSpPr txBox="1"/>
          <p:nvPr/>
        </p:nvSpPr>
        <p:spPr>
          <a:xfrm>
            <a:off x="4744617" y="4966024"/>
            <a:ext cx="2838450" cy="523220"/>
          </a:xfrm>
          <a:prstGeom prst="rect">
            <a:avLst/>
          </a:prstGeom>
          <a:noFill/>
        </p:spPr>
        <p:txBody>
          <a:bodyPr wrap="square" rtlCol="0">
            <a:spAutoFit/>
          </a:bodyPr>
          <a:lstStyle/>
          <a:p>
            <a:r>
              <a:rPr lang="en-GB" sz="2800" dirty="0"/>
              <a:t>Dependencies</a:t>
            </a:r>
            <a:endParaRPr lang="en-GB" dirty="0"/>
          </a:p>
        </p:txBody>
      </p:sp>
      <p:sp>
        <p:nvSpPr>
          <p:cNvPr id="22" name="Arrow: Down 21">
            <a:extLst>
              <a:ext uri="{FF2B5EF4-FFF2-40B4-BE49-F238E27FC236}">
                <a16:creationId xmlns:a16="http://schemas.microsoft.com/office/drawing/2014/main" id="{F5600BE2-77EC-4386-8F90-B4B28E9B64CA}"/>
              </a:ext>
            </a:extLst>
          </p:cNvPr>
          <p:cNvSpPr/>
          <p:nvPr/>
        </p:nvSpPr>
        <p:spPr>
          <a:xfrm>
            <a:off x="5653423" y="5436480"/>
            <a:ext cx="196948" cy="3657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3" name="Picture 6">
            <a:extLst>
              <a:ext uri="{FF2B5EF4-FFF2-40B4-BE49-F238E27FC236}">
                <a16:creationId xmlns:a16="http://schemas.microsoft.com/office/drawing/2014/main" id="{ED35B3F4-9B0B-40B9-A43C-B851DB247C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44943" y="3429000"/>
            <a:ext cx="1037166" cy="823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TextBox 23">
            <a:extLst>
              <a:ext uri="{FF2B5EF4-FFF2-40B4-BE49-F238E27FC236}">
                <a16:creationId xmlns:a16="http://schemas.microsoft.com/office/drawing/2014/main" id="{6B816FCA-2752-4D9E-8BC0-A81E3938D283}"/>
              </a:ext>
            </a:extLst>
          </p:cNvPr>
          <p:cNvSpPr txBox="1"/>
          <p:nvPr/>
        </p:nvSpPr>
        <p:spPr>
          <a:xfrm>
            <a:off x="7814223" y="2265690"/>
            <a:ext cx="2762791" cy="523220"/>
          </a:xfrm>
          <a:prstGeom prst="rect">
            <a:avLst/>
          </a:prstGeom>
          <a:noFill/>
        </p:spPr>
        <p:txBody>
          <a:bodyPr wrap="square" rtlCol="0">
            <a:spAutoFit/>
          </a:bodyPr>
          <a:lstStyle/>
          <a:p>
            <a:r>
              <a:rPr lang="en-GB" sz="2800" dirty="0"/>
              <a:t>Generalisation</a:t>
            </a:r>
            <a:endParaRPr lang="en-GB" dirty="0"/>
          </a:p>
        </p:txBody>
      </p:sp>
      <p:sp>
        <p:nvSpPr>
          <p:cNvPr id="25" name="Arrow: Down 24">
            <a:extLst>
              <a:ext uri="{FF2B5EF4-FFF2-40B4-BE49-F238E27FC236}">
                <a16:creationId xmlns:a16="http://schemas.microsoft.com/office/drawing/2014/main" id="{12AD94CA-C45E-4DD8-B2E7-BEEB7282538B}"/>
              </a:ext>
            </a:extLst>
          </p:cNvPr>
          <p:cNvSpPr/>
          <p:nvPr/>
        </p:nvSpPr>
        <p:spPr>
          <a:xfrm>
            <a:off x="8898139" y="2788831"/>
            <a:ext cx="196948" cy="3657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7" name="Group 26">
            <a:extLst>
              <a:ext uri="{FF2B5EF4-FFF2-40B4-BE49-F238E27FC236}">
                <a16:creationId xmlns:a16="http://schemas.microsoft.com/office/drawing/2014/main" id="{39C4494A-C11D-494F-B99E-81A6420799FC}"/>
              </a:ext>
            </a:extLst>
          </p:cNvPr>
          <p:cNvGrpSpPr/>
          <p:nvPr/>
        </p:nvGrpSpPr>
        <p:grpSpPr>
          <a:xfrm>
            <a:off x="10828881" y="5387757"/>
            <a:ext cx="918102" cy="216024"/>
            <a:chOff x="2927648" y="3784541"/>
            <a:chExt cx="1224136" cy="216024"/>
          </a:xfrm>
        </p:grpSpPr>
        <p:sp>
          <p:nvSpPr>
            <p:cNvPr id="28" name="Diamond 27">
              <a:extLst>
                <a:ext uri="{FF2B5EF4-FFF2-40B4-BE49-F238E27FC236}">
                  <a16:creationId xmlns:a16="http://schemas.microsoft.com/office/drawing/2014/main" id="{591ACA70-916A-43CA-8ACA-857293E8BCEC}"/>
                </a:ext>
              </a:extLst>
            </p:cNvPr>
            <p:cNvSpPr/>
            <p:nvPr/>
          </p:nvSpPr>
          <p:spPr>
            <a:xfrm>
              <a:off x="2927648" y="3784541"/>
              <a:ext cx="216024" cy="216024"/>
            </a:xfrm>
            <a:prstGeom prst="diamond">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9" name="Straight Connector 28">
              <a:extLst>
                <a:ext uri="{FF2B5EF4-FFF2-40B4-BE49-F238E27FC236}">
                  <a16:creationId xmlns:a16="http://schemas.microsoft.com/office/drawing/2014/main" id="{7663102B-23A6-4D45-94CB-7147407F084E}"/>
                </a:ext>
              </a:extLst>
            </p:cNvPr>
            <p:cNvCxnSpPr/>
            <p:nvPr/>
          </p:nvCxnSpPr>
          <p:spPr>
            <a:xfrm>
              <a:off x="3143672" y="3892553"/>
              <a:ext cx="100811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2380B010-5195-4263-AAC6-684FFE769319}"/>
              </a:ext>
            </a:extLst>
          </p:cNvPr>
          <p:cNvGrpSpPr/>
          <p:nvPr/>
        </p:nvGrpSpPr>
        <p:grpSpPr>
          <a:xfrm>
            <a:off x="10828881" y="6248865"/>
            <a:ext cx="918102" cy="216024"/>
            <a:chOff x="2927648" y="4119964"/>
            <a:chExt cx="1224136" cy="216024"/>
          </a:xfrm>
        </p:grpSpPr>
        <p:sp>
          <p:nvSpPr>
            <p:cNvPr id="31" name="Diamond 30">
              <a:extLst>
                <a:ext uri="{FF2B5EF4-FFF2-40B4-BE49-F238E27FC236}">
                  <a16:creationId xmlns:a16="http://schemas.microsoft.com/office/drawing/2014/main" id="{7DFC3C82-E899-4915-9A6B-C9E5E22FFB16}"/>
                </a:ext>
              </a:extLst>
            </p:cNvPr>
            <p:cNvSpPr/>
            <p:nvPr/>
          </p:nvSpPr>
          <p:spPr>
            <a:xfrm>
              <a:off x="2927648" y="4119964"/>
              <a:ext cx="216024" cy="216024"/>
            </a:xfrm>
            <a:prstGeom prst="diamond">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2" name="Straight Connector 31">
              <a:extLst>
                <a:ext uri="{FF2B5EF4-FFF2-40B4-BE49-F238E27FC236}">
                  <a16:creationId xmlns:a16="http://schemas.microsoft.com/office/drawing/2014/main" id="{9B14589A-32A0-4193-81CC-B69E6A6845DD}"/>
                </a:ext>
              </a:extLst>
            </p:cNvPr>
            <p:cNvCxnSpPr/>
            <p:nvPr/>
          </p:nvCxnSpPr>
          <p:spPr>
            <a:xfrm>
              <a:off x="3143672" y="4227976"/>
              <a:ext cx="100811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5D9A3A09-D9AD-4063-A8FE-EB495E7E83E4}"/>
              </a:ext>
            </a:extLst>
          </p:cNvPr>
          <p:cNvSpPr txBox="1"/>
          <p:nvPr/>
        </p:nvSpPr>
        <p:spPr>
          <a:xfrm>
            <a:off x="7912040" y="5206446"/>
            <a:ext cx="2480515" cy="523220"/>
          </a:xfrm>
          <a:prstGeom prst="rect">
            <a:avLst/>
          </a:prstGeom>
          <a:noFill/>
        </p:spPr>
        <p:txBody>
          <a:bodyPr wrap="square" rtlCol="0">
            <a:spAutoFit/>
          </a:bodyPr>
          <a:lstStyle/>
          <a:p>
            <a:r>
              <a:rPr lang="en-GB" sz="2800" dirty="0"/>
              <a:t>Aggregation</a:t>
            </a:r>
            <a:endParaRPr lang="en-GB" dirty="0"/>
          </a:p>
        </p:txBody>
      </p:sp>
      <p:sp>
        <p:nvSpPr>
          <p:cNvPr id="34" name="TextBox 33">
            <a:extLst>
              <a:ext uri="{FF2B5EF4-FFF2-40B4-BE49-F238E27FC236}">
                <a16:creationId xmlns:a16="http://schemas.microsoft.com/office/drawing/2014/main" id="{558573F0-CECA-42EF-B96F-90F305A69F01}"/>
              </a:ext>
            </a:extLst>
          </p:cNvPr>
          <p:cNvSpPr txBox="1"/>
          <p:nvPr/>
        </p:nvSpPr>
        <p:spPr>
          <a:xfrm>
            <a:off x="7889664" y="6095267"/>
            <a:ext cx="2373452" cy="523220"/>
          </a:xfrm>
          <a:prstGeom prst="rect">
            <a:avLst/>
          </a:prstGeom>
          <a:noFill/>
        </p:spPr>
        <p:txBody>
          <a:bodyPr wrap="square" rtlCol="0">
            <a:spAutoFit/>
          </a:bodyPr>
          <a:lstStyle/>
          <a:p>
            <a:r>
              <a:rPr lang="en-GB" sz="2800" dirty="0"/>
              <a:t>Composition</a:t>
            </a:r>
            <a:endParaRPr lang="en-GB" dirty="0"/>
          </a:p>
        </p:txBody>
      </p:sp>
      <p:sp>
        <p:nvSpPr>
          <p:cNvPr id="35" name="Arrow: Right 34">
            <a:extLst>
              <a:ext uri="{FF2B5EF4-FFF2-40B4-BE49-F238E27FC236}">
                <a16:creationId xmlns:a16="http://schemas.microsoft.com/office/drawing/2014/main" id="{9D3655A3-5793-44E0-8563-816CD8BDC855}"/>
              </a:ext>
            </a:extLst>
          </p:cNvPr>
          <p:cNvSpPr/>
          <p:nvPr/>
        </p:nvSpPr>
        <p:spPr>
          <a:xfrm>
            <a:off x="10263116" y="5436480"/>
            <a:ext cx="458412" cy="1673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Arrow: Right 35">
            <a:extLst>
              <a:ext uri="{FF2B5EF4-FFF2-40B4-BE49-F238E27FC236}">
                <a16:creationId xmlns:a16="http://schemas.microsoft.com/office/drawing/2014/main" id="{E696D528-F838-492F-AFE0-E433D97BE35C}"/>
              </a:ext>
            </a:extLst>
          </p:cNvPr>
          <p:cNvSpPr/>
          <p:nvPr/>
        </p:nvSpPr>
        <p:spPr>
          <a:xfrm>
            <a:off x="10276763" y="6301062"/>
            <a:ext cx="458412" cy="1673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9" name="Picture 38">
            <a:extLst>
              <a:ext uri="{FF2B5EF4-FFF2-40B4-BE49-F238E27FC236}">
                <a16:creationId xmlns:a16="http://schemas.microsoft.com/office/drawing/2014/main" id="{959B1ADC-F350-450E-972B-1F44C64CB356}"/>
              </a:ext>
            </a:extLst>
          </p:cNvPr>
          <p:cNvPicPr>
            <a:picLocks noChangeAspect="1"/>
          </p:cNvPicPr>
          <p:nvPr/>
        </p:nvPicPr>
        <p:blipFill>
          <a:blip r:embed="rId6"/>
          <a:stretch>
            <a:fillRect/>
          </a:stretch>
        </p:blipFill>
        <p:spPr>
          <a:xfrm>
            <a:off x="8996613" y="3383905"/>
            <a:ext cx="1390650" cy="1266825"/>
          </a:xfrm>
          <a:prstGeom prst="rect">
            <a:avLst/>
          </a:prstGeom>
        </p:spPr>
      </p:pic>
    </p:spTree>
    <p:extLst>
      <p:ext uri="{BB962C8B-B14F-4D97-AF65-F5344CB8AC3E}">
        <p14:creationId xmlns:p14="http://schemas.microsoft.com/office/powerpoint/2010/main" val="3113851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Representing a Class</a:t>
            </a:r>
          </a:p>
        </p:txBody>
      </p:sp>
      <p:sp>
        <p:nvSpPr>
          <p:cNvPr id="3" name="Content Placeholder 2"/>
          <p:cNvSpPr>
            <a:spLocks noGrp="1"/>
          </p:cNvSpPr>
          <p:nvPr>
            <p:ph idx="1"/>
          </p:nvPr>
        </p:nvSpPr>
        <p:spPr>
          <a:xfrm>
            <a:off x="2302609" y="1622800"/>
            <a:ext cx="8915400" cy="3777622"/>
          </a:xfrm>
        </p:spPr>
        <p:txBody>
          <a:bodyPr>
            <a:noAutofit/>
          </a:bodyPr>
          <a:lstStyle/>
          <a:p>
            <a:r>
              <a:rPr lang="en-GB" sz="2200" dirty="0"/>
              <a:t>A class is represented with a rectangular box </a:t>
            </a:r>
          </a:p>
          <a:p>
            <a:r>
              <a:rPr lang="en-GB" sz="2200" dirty="0"/>
              <a:t>Each class has three sections:</a:t>
            </a:r>
          </a:p>
          <a:p>
            <a:pPr lvl="1">
              <a:buFont typeface="Arial" panose="020B0604020202020204" pitchFamily="34" charset="0"/>
              <a:buChar char="•"/>
            </a:pPr>
            <a:r>
              <a:rPr lang="en-GB" dirty="0"/>
              <a:t>Class name</a:t>
            </a:r>
          </a:p>
          <a:p>
            <a:pPr lvl="1">
              <a:buFont typeface="Arial" panose="020B0604020202020204" pitchFamily="34" charset="0"/>
              <a:buChar char="•"/>
            </a:pPr>
            <a:r>
              <a:rPr lang="en-GB" dirty="0"/>
              <a:t>Attributes</a:t>
            </a:r>
          </a:p>
          <a:p>
            <a:pPr lvl="1">
              <a:buFont typeface="Arial" panose="020B0604020202020204" pitchFamily="34" charset="0"/>
              <a:buChar char="•"/>
            </a:pPr>
            <a:r>
              <a:rPr lang="en-GB" dirty="0"/>
              <a:t>Methods/Operations</a:t>
            </a:r>
          </a:p>
          <a:p>
            <a:pPr lvl="1"/>
            <a:endParaRPr lang="en-GB" sz="2200" dirty="0"/>
          </a:p>
          <a:p>
            <a:r>
              <a:rPr lang="en-GB" sz="2200" dirty="0"/>
              <a:t>Attributes are information we store about the class</a:t>
            </a:r>
          </a:p>
          <a:p>
            <a:r>
              <a:rPr lang="en-GB" sz="2200" dirty="0"/>
              <a:t>Methods/Operations are things the class can do</a:t>
            </a:r>
          </a:p>
          <a:p>
            <a:r>
              <a:rPr lang="en-GB" sz="2200" dirty="0"/>
              <a:t>Operations are optional in the diagram for database classes</a:t>
            </a:r>
          </a:p>
        </p:txBody>
      </p:sp>
      <p:sp>
        <p:nvSpPr>
          <p:cNvPr id="6" name="Rectangle 5"/>
          <p:cNvSpPr/>
          <p:nvPr/>
        </p:nvSpPr>
        <p:spPr>
          <a:xfrm>
            <a:off x="6965401" y="2240122"/>
            <a:ext cx="1795467" cy="1511300"/>
          </a:xfrm>
          <a:prstGeom prst="rect">
            <a:avLst/>
          </a:prstGeom>
          <a:noFill/>
          <a:ln w="127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GB">
              <a:solidFill>
                <a:srgbClr val="FFFFFF"/>
              </a:solidFill>
            </a:endParaRPr>
          </a:p>
        </p:txBody>
      </p:sp>
      <p:cxnSp>
        <p:nvCxnSpPr>
          <p:cNvPr id="7" name="Straight Connector 6"/>
          <p:cNvCxnSpPr/>
          <p:nvPr/>
        </p:nvCxnSpPr>
        <p:spPr>
          <a:xfrm>
            <a:off x="6984419" y="2635409"/>
            <a:ext cx="17764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6984419" y="3204668"/>
            <a:ext cx="1776448" cy="117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14"/>
          <p:cNvSpPr txBox="1">
            <a:spLocks noChangeArrowheads="1"/>
          </p:cNvSpPr>
          <p:nvPr/>
        </p:nvSpPr>
        <p:spPr bwMode="auto">
          <a:xfrm>
            <a:off x="7339575" y="2240122"/>
            <a:ext cx="8386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GB" altLang="en-US" sz="1800" dirty="0">
                <a:solidFill>
                  <a:srgbClr val="000000"/>
                </a:solidFill>
              </a:rPr>
              <a:t>Planet</a:t>
            </a:r>
          </a:p>
        </p:txBody>
      </p:sp>
      <p:sp>
        <p:nvSpPr>
          <p:cNvPr id="10" name="TextBox 16"/>
          <p:cNvSpPr txBox="1">
            <a:spLocks noChangeArrowheads="1"/>
          </p:cNvSpPr>
          <p:nvPr/>
        </p:nvSpPr>
        <p:spPr bwMode="auto">
          <a:xfrm>
            <a:off x="6984419" y="2681447"/>
            <a:ext cx="177644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err="1">
                <a:solidFill>
                  <a:srgbClr val="000000"/>
                </a:solidFill>
              </a:rPr>
              <a:t>Planet_name</a:t>
            </a:r>
            <a:r>
              <a:rPr lang="en-GB" altLang="en-US" sz="1400" dirty="0">
                <a:solidFill>
                  <a:srgbClr val="000000"/>
                </a:solidFill>
              </a:rPr>
              <a:t>: string</a:t>
            </a:r>
          </a:p>
          <a:p>
            <a:pPr eaLnBrk="1" hangingPunct="1">
              <a:spcBef>
                <a:spcPct val="0"/>
              </a:spcBef>
              <a:buClrTx/>
              <a:buSzTx/>
              <a:buFontTx/>
              <a:buNone/>
            </a:pPr>
            <a:r>
              <a:rPr lang="en-GB" altLang="en-US" sz="1400" dirty="0" err="1">
                <a:solidFill>
                  <a:srgbClr val="000000"/>
                </a:solidFill>
              </a:rPr>
              <a:t>Planet_size</a:t>
            </a:r>
            <a:r>
              <a:rPr lang="en-GB" altLang="en-US" sz="1400" dirty="0">
                <a:solidFill>
                  <a:srgbClr val="000000"/>
                </a:solidFill>
              </a:rPr>
              <a:t>: </a:t>
            </a:r>
            <a:r>
              <a:rPr lang="en-GB" altLang="en-US" sz="1400" dirty="0" err="1">
                <a:solidFill>
                  <a:srgbClr val="000000"/>
                </a:solidFill>
              </a:rPr>
              <a:t>int</a:t>
            </a:r>
            <a:endParaRPr lang="en-GB" altLang="en-US" sz="1400" dirty="0">
              <a:solidFill>
                <a:srgbClr val="000000"/>
              </a:solidFill>
            </a:endParaRPr>
          </a:p>
        </p:txBody>
      </p:sp>
      <p:sp>
        <p:nvSpPr>
          <p:cNvPr id="11" name="TextBox 17"/>
          <p:cNvSpPr txBox="1">
            <a:spLocks noChangeArrowheads="1"/>
          </p:cNvSpPr>
          <p:nvPr/>
        </p:nvSpPr>
        <p:spPr bwMode="auto">
          <a:xfrm>
            <a:off x="6984421" y="3357723"/>
            <a:ext cx="183575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err="1">
                <a:solidFill>
                  <a:srgbClr val="000000"/>
                </a:solidFill>
              </a:rPr>
              <a:t>mineResources</a:t>
            </a:r>
            <a:r>
              <a:rPr lang="en-GB" altLang="en-US" sz="1400" dirty="0">
                <a:solidFill>
                  <a:srgbClr val="000000"/>
                </a:solidFill>
              </a:rPr>
              <a:t>(): </a:t>
            </a:r>
            <a:r>
              <a:rPr lang="en-GB" altLang="en-US" sz="1400" dirty="0" err="1">
                <a:solidFill>
                  <a:srgbClr val="000000"/>
                </a:solidFill>
              </a:rPr>
              <a:t>int</a:t>
            </a:r>
            <a:endParaRPr lang="en-GB" altLang="en-US" sz="1400" dirty="0">
              <a:solidFill>
                <a:srgbClr val="000000"/>
              </a:solidFill>
            </a:endParaRPr>
          </a:p>
        </p:txBody>
      </p:sp>
      <p:cxnSp>
        <p:nvCxnSpPr>
          <p:cNvPr id="12" name="Straight Arrow Connector 11"/>
          <p:cNvCxnSpPr/>
          <p:nvPr/>
        </p:nvCxnSpPr>
        <p:spPr>
          <a:xfrm flipH="1">
            <a:off x="8781137" y="2240122"/>
            <a:ext cx="553641" cy="18415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a:stCxn id="17" idx="1"/>
            <a:endCxn id="6" idx="3"/>
          </p:cNvCxnSpPr>
          <p:nvPr/>
        </p:nvCxnSpPr>
        <p:spPr>
          <a:xfrm flipH="1">
            <a:off x="8760868" y="2880472"/>
            <a:ext cx="692496" cy="1153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flipV="1">
            <a:off x="8861654" y="3699725"/>
            <a:ext cx="553641" cy="857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9453365" y="1916956"/>
            <a:ext cx="972108" cy="523220"/>
          </a:xfrm>
          <a:prstGeom prst="rect">
            <a:avLst/>
          </a:prstGeom>
          <a:noFill/>
        </p:spPr>
        <p:txBody>
          <a:bodyPr wrap="square" rtlCol="0">
            <a:spAutoFit/>
          </a:bodyPr>
          <a:lstStyle/>
          <a:p>
            <a:r>
              <a:rPr lang="en-GB" sz="1400" dirty="0"/>
              <a:t>Class name</a:t>
            </a:r>
          </a:p>
        </p:txBody>
      </p:sp>
      <p:sp>
        <p:nvSpPr>
          <p:cNvPr id="17" name="TextBox 16"/>
          <p:cNvSpPr txBox="1"/>
          <p:nvPr/>
        </p:nvSpPr>
        <p:spPr>
          <a:xfrm>
            <a:off x="9453364" y="2726583"/>
            <a:ext cx="1161121" cy="307777"/>
          </a:xfrm>
          <a:prstGeom prst="rect">
            <a:avLst/>
          </a:prstGeom>
          <a:noFill/>
        </p:spPr>
        <p:txBody>
          <a:bodyPr wrap="square" rtlCol="0">
            <a:spAutoFit/>
          </a:bodyPr>
          <a:lstStyle/>
          <a:p>
            <a:r>
              <a:rPr lang="en-GB" sz="1400" dirty="0"/>
              <a:t>Attributes</a:t>
            </a:r>
          </a:p>
        </p:txBody>
      </p:sp>
      <p:sp>
        <p:nvSpPr>
          <p:cNvPr id="18" name="TextBox 17"/>
          <p:cNvSpPr txBox="1"/>
          <p:nvPr/>
        </p:nvSpPr>
        <p:spPr>
          <a:xfrm>
            <a:off x="9264353" y="3724966"/>
            <a:ext cx="1161121" cy="307777"/>
          </a:xfrm>
          <a:prstGeom prst="rect">
            <a:avLst/>
          </a:prstGeom>
          <a:noFill/>
        </p:spPr>
        <p:txBody>
          <a:bodyPr wrap="square" rtlCol="0">
            <a:spAutoFit/>
          </a:bodyPr>
          <a:lstStyle/>
          <a:p>
            <a:r>
              <a:rPr lang="en-GB" sz="1400" dirty="0"/>
              <a:t>Operations</a:t>
            </a:r>
          </a:p>
        </p:txBody>
      </p:sp>
    </p:spTree>
    <p:extLst>
      <p:ext uri="{BB962C8B-B14F-4D97-AF65-F5344CB8AC3E}">
        <p14:creationId xmlns:p14="http://schemas.microsoft.com/office/powerpoint/2010/main" val="3059103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47A8C-7AB6-466E-BC2D-0D8FF615997E}"/>
              </a:ext>
            </a:extLst>
          </p:cNvPr>
          <p:cNvSpPr>
            <a:spLocks noGrp="1"/>
          </p:cNvSpPr>
          <p:nvPr>
            <p:ph type="title"/>
          </p:nvPr>
        </p:nvSpPr>
        <p:spPr/>
        <p:txBody>
          <a:bodyPr/>
          <a:lstStyle/>
          <a:p>
            <a:r>
              <a:rPr lang="en-GB" dirty="0"/>
              <a:t>Class Attributes</a:t>
            </a:r>
          </a:p>
        </p:txBody>
      </p:sp>
      <p:sp>
        <p:nvSpPr>
          <p:cNvPr id="3" name="Content Placeholder 2">
            <a:extLst>
              <a:ext uri="{FF2B5EF4-FFF2-40B4-BE49-F238E27FC236}">
                <a16:creationId xmlns:a16="http://schemas.microsoft.com/office/drawing/2014/main" id="{4E9E3A41-A3A5-47AA-B449-30992452A54A}"/>
              </a:ext>
            </a:extLst>
          </p:cNvPr>
          <p:cNvSpPr>
            <a:spLocks noGrp="1"/>
          </p:cNvSpPr>
          <p:nvPr>
            <p:ph idx="1"/>
          </p:nvPr>
        </p:nvSpPr>
        <p:spPr>
          <a:xfrm>
            <a:off x="2589211" y="2133600"/>
            <a:ext cx="9448113" cy="3777622"/>
          </a:xfrm>
        </p:spPr>
        <p:txBody>
          <a:bodyPr/>
          <a:lstStyle/>
          <a:p>
            <a:r>
              <a:rPr lang="en-GB" sz="2200" dirty="0"/>
              <a:t>Attributes are pieces of information stored about the class</a:t>
            </a:r>
          </a:p>
          <a:p>
            <a:pPr lvl="1">
              <a:buFont typeface="Arial" panose="020B0604020202020204" pitchFamily="34" charset="0"/>
              <a:buChar char="•"/>
            </a:pPr>
            <a:r>
              <a:rPr lang="en-GB" sz="2000" dirty="0"/>
              <a:t>Can think of them as variables in an object</a:t>
            </a:r>
          </a:p>
          <a:p>
            <a:endParaRPr lang="en-GB" sz="2200" dirty="0"/>
          </a:p>
          <a:p>
            <a:r>
              <a:rPr lang="en-GB" sz="2200" dirty="0"/>
              <a:t>Standard syntax is:</a:t>
            </a:r>
          </a:p>
          <a:p>
            <a:r>
              <a:rPr lang="en-GB" sz="2200" i="1" dirty="0">
                <a:latin typeface="Courier New" panose="02070309020205020404" pitchFamily="49" charset="0"/>
                <a:cs typeface="Courier New" panose="02070309020205020404" pitchFamily="49" charset="0"/>
              </a:rPr>
              <a:t>visibility   name  :  type multiplicity {properties}</a:t>
            </a:r>
          </a:p>
          <a:p>
            <a:endParaRPr lang="en-GB" dirty="0"/>
          </a:p>
        </p:txBody>
      </p:sp>
      <p:grpSp>
        <p:nvGrpSpPr>
          <p:cNvPr id="4" name="Group 3">
            <a:extLst>
              <a:ext uri="{FF2B5EF4-FFF2-40B4-BE49-F238E27FC236}">
                <a16:creationId xmlns:a16="http://schemas.microsoft.com/office/drawing/2014/main" id="{017405B8-88F2-4507-89F8-A17A7ED95497}"/>
              </a:ext>
            </a:extLst>
          </p:cNvPr>
          <p:cNvGrpSpPr/>
          <p:nvPr/>
        </p:nvGrpSpPr>
        <p:grpSpPr>
          <a:xfrm>
            <a:off x="2893176" y="4900575"/>
            <a:ext cx="2065337" cy="1511300"/>
            <a:chOff x="7392144" y="3645024"/>
            <a:chExt cx="2065337" cy="1511300"/>
          </a:xfrm>
        </p:grpSpPr>
        <p:sp>
          <p:nvSpPr>
            <p:cNvPr id="5" name="Rectangle 4">
              <a:extLst>
                <a:ext uri="{FF2B5EF4-FFF2-40B4-BE49-F238E27FC236}">
                  <a16:creationId xmlns:a16="http://schemas.microsoft.com/office/drawing/2014/main" id="{F8025A4F-E7BB-4DB6-8BE9-6CE99C21929E}"/>
                </a:ext>
              </a:extLst>
            </p:cNvPr>
            <p:cNvSpPr/>
            <p:nvPr/>
          </p:nvSpPr>
          <p:spPr>
            <a:xfrm>
              <a:off x="7392144" y="3645024"/>
              <a:ext cx="2065337" cy="1511300"/>
            </a:xfrm>
            <a:prstGeom prst="rect">
              <a:avLst/>
            </a:prstGeom>
            <a:noFill/>
            <a:ln w="127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GB">
                <a:solidFill>
                  <a:srgbClr val="FFFFFF"/>
                </a:solidFill>
              </a:endParaRPr>
            </a:p>
          </p:txBody>
        </p:sp>
        <p:cxnSp>
          <p:nvCxnSpPr>
            <p:cNvPr id="6" name="Straight Connector 5">
              <a:extLst>
                <a:ext uri="{FF2B5EF4-FFF2-40B4-BE49-F238E27FC236}">
                  <a16:creationId xmlns:a16="http://schemas.microsoft.com/office/drawing/2014/main" id="{985AE034-6FF2-440B-9893-4AFC711D67A6}"/>
                </a:ext>
              </a:extLst>
            </p:cNvPr>
            <p:cNvCxnSpPr/>
            <p:nvPr/>
          </p:nvCxnSpPr>
          <p:spPr>
            <a:xfrm>
              <a:off x="7392144" y="4040311"/>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8D3AF32-5312-4BB2-AFF8-219F532BF7C6}"/>
                </a:ext>
              </a:extLst>
            </p:cNvPr>
            <p:cNvCxnSpPr/>
            <p:nvPr/>
          </p:nvCxnSpPr>
          <p:spPr>
            <a:xfrm>
              <a:off x="7392144" y="4621336"/>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14">
              <a:extLst>
                <a:ext uri="{FF2B5EF4-FFF2-40B4-BE49-F238E27FC236}">
                  <a16:creationId xmlns:a16="http://schemas.microsoft.com/office/drawing/2014/main" id="{AFDEC87C-2973-480C-B800-73D65ECDEF78}"/>
                </a:ext>
              </a:extLst>
            </p:cNvPr>
            <p:cNvSpPr txBox="1">
              <a:spLocks noChangeArrowheads="1"/>
            </p:cNvSpPr>
            <p:nvPr/>
          </p:nvSpPr>
          <p:spPr bwMode="auto">
            <a:xfrm>
              <a:off x="7838756" y="3645024"/>
              <a:ext cx="11721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GB" altLang="en-US" sz="1800" dirty="0">
                  <a:solidFill>
                    <a:srgbClr val="000000"/>
                  </a:solidFill>
                </a:rPr>
                <a:t>Resource</a:t>
              </a:r>
            </a:p>
          </p:txBody>
        </p:sp>
        <p:sp>
          <p:nvSpPr>
            <p:cNvPr id="9" name="TextBox 8">
              <a:extLst>
                <a:ext uri="{FF2B5EF4-FFF2-40B4-BE49-F238E27FC236}">
                  <a16:creationId xmlns:a16="http://schemas.microsoft.com/office/drawing/2014/main" id="{B2460E41-EFB5-4E8A-BEAB-6DC4F275F5A3}"/>
                </a:ext>
              </a:extLst>
            </p:cNvPr>
            <p:cNvSpPr txBox="1">
              <a:spLocks noChangeArrowheads="1"/>
            </p:cNvSpPr>
            <p:nvPr/>
          </p:nvSpPr>
          <p:spPr bwMode="auto">
            <a:xfrm>
              <a:off x="7392144" y="4086349"/>
              <a:ext cx="129715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a:solidFill>
                    <a:srgbClr val="000000"/>
                  </a:solidFill>
                </a:rPr>
                <a:t>Name : string</a:t>
              </a:r>
            </a:p>
            <a:p>
              <a:pPr eaLnBrk="1" hangingPunct="1">
                <a:spcBef>
                  <a:spcPct val="0"/>
                </a:spcBef>
                <a:buClrTx/>
                <a:buSzTx/>
                <a:buFontTx/>
                <a:buNone/>
              </a:pPr>
              <a:r>
                <a:rPr lang="en-GB" altLang="en-US" sz="1400" dirty="0">
                  <a:solidFill>
                    <a:srgbClr val="000000"/>
                  </a:solidFill>
                </a:rPr>
                <a:t>Amount : int</a:t>
              </a:r>
            </a:p>
            <a:p>
              <a:pPr eaLnBrk="1" hangingPunct="1">
                <a:spcBef>
                  <a:spcPct val="0"/>
                </a:spcBef>
                <a:buClrTx/>
                <a:buSzTx/>
                <a:buFontTx/>
                <a:buNone/>
              </a:pPr>
              <a:endParaRPr lang="en-GB" altLang="en-US" sz="1400" dirty="0">
                <a:solidFill>
                  <a:srgbClr val="000000"/>
                </a:solidFill>
              </a:endParaRPr>
            </a:p>
          </p:txBody>
        </p:sp>
        <p:sp>
          <p:nvSpPr>
            <p:cNvPr id="10" name="TextBox 9">
              <a:extLst>
                <a:ext uri="{FF2B5EF4-FFF2-40B4-BE49-F238E27FC236}">
                  <a16:creationId xmlns:a16="http://schemas.microsoft.com/office/drawing/2014/main" id="{384DDBBD-6B8B-499C-B7A1-CCBFC5B49190}"/>
                </a:ext>
              </a:extLst>
            </p:cNvPr>
            <p:cNvSpPr txBox="1">
              <a:spLocks noChangeArrowheads="1"/>
            </p:cNvSpPr>
            <p:nvPr/>
          </p:nvSpPr>
          <p:spPr bwMode="auto">
            <a:xfrm>
              <a:off x="7392144" y="4762624"/>
              <a:ext cx="18473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GB" altLang="en-US" sz="1400" dirty="0">
                <a:solidFill>
                  <a:srgbClr val="000000"/>
                </a:solidFill>
              </a:endParaRPr>
            </a:p>
          </p:txBody>
        </p:sp>
      </p:grpSp>
    </p:spTree>
    <p:extLst>
      <p:ext uri="{BB962C8B-B14F-4D97-AF65-F5344CB8AC3E}">
        <p14:creationId xmlns:p14="http://schemas.microsoft.com/office/powerpoint/2010/main" val="2920125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E2347-E25B-4D63-8658-C0B739B58B15}"/>
              </a:ext>
            </a:extLst>
          </p:cNvPr>
          <p:cNvSpPr>
            <a:spLocks noGrp="1"/>
          </p:cNvSpPr>
          <p:nvPr>
            <p:ph type="title"/>
          </p:nvPr>
        </p:nvSpPr>
        <p:spPr/>
        <p:txBody>
          <a:bodyPr/>
          <a:lstStyle/>
          <a:p>
            <a:r>
              <a:rPr lang="en-GB" dirty="0"/>
              <a:t>Attribute visibility</a:t>
            </a:r>
          </a:p>
        </p:txBody>
      </p:sp>
      <p:pic>
        <p:nvPicPr>
          <p:cNvPr id="5" name="Content Placeholder 4">
            <a:extLst>
              <a:ext uri="{FF2B5EF4-FFF2-40B4-BE49-F238E27FC236}">
                <a16:creationId xmlns:a16="http://schemas.microsoft.com/office/drawing/2014/main" id="{076AC48F-2E3F-4213-8854-8808B02AFCEA}"/>
              </a:ext>
            </a:extLst>
          </p:cNvPr>
          <p:cNvPicPr>
            <a:picLocks noGrp="1" noChangeAspect="1"/>
          </p:cNvPicPr>
          <p:nvPr>
            <p:ph idx="1"/>
          </p:nvPr>
        </p:nvPicPr>
        <p:blipFill>
          <a:blip r:embed="rId2"/>
          <a:stretch>
            <a:fillRect/>
          </a:stretch>
        </p:blipFill>
        <p:spPr>
          <a:xfrm>
            <a:off x="2522270" y="2005207"/>
            <a:ext cx="7147459" cy="1784042"/>
          </a:xfrm>
        </p:spPr>
      </p:pic>
      <p:grpSp>
        <p:nvGrpSpPr>
          <p:cNvPr id="6" name="Group 5">
            <a:extLst>
              <a:ext uri="{FF2B5EF4-FFF2-40B4-BE49-F238E27FC236}">
                <a16:creationId xmlns:a16="http://schemas.microsoft.com/office/drawing/2014/main" id="{5C0BA61E-C2C6-46EA-9AF4-8AA1D64565D0}"/>
              </a:ext>
            </a:extLst>
          </p:cNvPr>
          <p:cNvGrpSpPr/>
          <p:nvPr/>
        </p:nvGrpSpPr>
        <p:grpSpPr>
          <a:xfrm>
            <a:off x="2592925" y="4272778"/>
            <a:ext cx="2065337" cy="1511300"/>
            <a:chOff x="7392144" y="3645024"/>
            <a:chExt cx="2065337" cy="1511300"/>
          </a:xfrm>
        </p:grpSpPr>
        <p:sp>
          <p:nvSpPr>
            <p:cNvPr id="7" name="Rectangle 6">
              <a:extLst>
                <a:ext uri="{FF2B5EF4-FFF2-40B4-BE49-F238E27FC236}">
                  <a16:creationId xmlns:a16="http://schemas.microsoft.com/office/drawing/2014/main" id="{4B2C3B1E-9B65-4661-AEBB-20DE0F758826}"/>
                </a:ext>
              </a:extLst>
            </p:cNvPr>
            <p:cNvSpPr/>
            <p:nvPr/>
          </p:nvSpPr>
          <p:spPr>
            <a:xfrm>
              <a:off x="7392144" y="3645024"/>
              <a:ext cx="2065337" cy="1511300"/>
            </a:xfrm>
            <a:prstGeom prst="rect">
              <a:avLst/>
            </a:prstGeom>
            <a:noFill/>
            <a:ln w="127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GB">
                <a:solidFill>
                  <a:srgbClr val="FFFFFF"/>
                </a:solidFill>
              </a:endParaRPr>
            </a:p>
          </p:txBody>
        </p:sp>
        <p:cxnSp>
          <p:nvCxnSpPr>
            <p:cNvPr id="8" name="Straight Connector 7">
              <a:extLst>
                <a:ext uri="{FF2B5EF4-FFF2-40B4-BE49-F238E27FC236}">
                  <a16:creationId xmlns:a16="http://schemas.microsoft.com/office/drawing/2014/main" id="{53321B89-4583-43A4-BB57-74CB234F85DB}"/>
                </a:ext>
              </a:extLst>
            </p:cNvPr>
            <p:cNvCxnSpPr/>
            <p:nvPr/>
          </p:nvCxnSpPr>
          <p:spPr>
            <a:xfrm>
              <a:off x="7392144" y="4040311"/>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B99F1D5-D88B-41D9-AE27-FE9E372DD642}"/>
                </a:ext>
              </a:extLst>
            </p:cNvPr>
            <p:cNvCxnSpPr/>
            <p:nvPr/>
          </p:nvCxnSpPr>
          <p:spPr>
            <a:xfrm>
              <a:off x="7392144" y="4621336"/>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14">
              <a:extLst>
                <a:ext uri="{FF2B5EF4-FFF2-40B4-BE49-F238E27FC236}">
                  <a16:creationId xmlns:a16="http://schemas.microsoft.com/office/drawing/2014/main" id="{D7832BF9-A268-409E-A0AD-3B7EF37A933D}"/>
                </a:ext>
              </a:extLst>
            </p:cNvPr>
            <p:cNvSpPr txBox="1">
              <a:spLocks noChangeArrowheads="1"/>
            </p:cNvSpPr>
            <p:nvPr/>
          </p:nvSpPr>
          <p:spPr bwMode="auto">
            <a:xfrm>
              <a:off x="7838756" y="3645024"/>
              <a:ext cx="11721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GB" altLang="en-US" sz="1800" dirty="0">
                  <a:solidFill>
                    <a:srgbClr val="000000"/>
                  </a:solidFill>
                </a:rPr>
                <a:t>Resource</a:t>
              </a:r>
            </a:p>
          </p:txBody>
        </p:sp>
        <p:sp>
          <p:nvSpPr>
            <p:cNvPr id="11" name="TextBox 10">
              <a:extLst>
                <a:ext uri="{FF2B5EF4-FFF2-40B4-BE49-F238E27FC236}">
                  <a16:creationId xmlns:a16="http://schemas.microsoft.com/office/drawing/2014/main" id="{0725C6B4-E5F4-47B9-9286-FBC894C7BB09}"/>
                </a:ext>
              </a:extLst>
            </p:cNvPr>
            <p:cNvSpPr txBox="1">
              <a:spLocks noChangeArrowheads="1"/>
            </p:cNvSpPr>
            <p:nvPr/>
          </p:nvSpPr>
          <p:spPr bwMode="auto">
            <a:xfrm>
              <a:off x="7392144" y="4086349"/>
              <a:ext cx="200728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a:solidFill>
                    <a:srgbClr val="000000"/>
                  </a:solidFill>
                </a:rPr>
                <a:t>+ Name :	 	string</a:t>
              </a:r>
            </a:p>
            <a:p>
              <a:pPr eaLnBrk="1" hangingPunct="1">
                <a:spcBef>
                  <a:spcPct val="0"/>
                </a:spcBef>
                <a:buClrTx/>
                <a:buSzTx/>
                <a:buFontTx/>
                <a:buNone/>
              </a:pPr>
              <a:r>
                <a:rPr lang="en-GB" altLang="en-US" sz="1400" dirty="0">
                  <a:solidFill>
                    <a:srgbClr val="000000"/>
                  </a:solidFill>
                </a:rPr>
                <a:t># Amount :		</a:t>
              </a:r>
              <a:r>
                <a:rPr lang="en-GB" altLang="en-US" sz="1400" dirty="0" err="1">
                  <a:solidFill>
                    <a:srgbClr val="000000"/>
                  </a:solidFill>
                </a:rPr>
                <a:t>int</a:t>
              </a:r>
              <a:endParaRPr lang="en-GB" altLang="en-US" sz="1400" dirty="0">
                <a:solidFill>
                  <a:srgbClr val="000000"/>
                </a:solidFill>
              </a:endParaRPr>
            </a:p>
            <a:p>
              <a:pPr eaLnBrk="1" hangingPunct="1">
                <a:spcBef>
                  <a:spcPct val="0"/>
                </a:spcBef>
                <a:buClrTx/>
                <a:buSzTx/>
                <a:buFontTx/>
                <a:buNone/>
              </a:pPr>
              <a:endParaRPr lang="en-GB" altLang="en-US" sz="1400" dirty="0">
                <a:solidFill>
                  <a:srgbClr val="000000"/>
                </a:solidFill>
              </a:endParaRPr>
            </a:p>
          </p:txBody>
        </p:sp>
        <p:sp>
          <p:nvSpPr>
            <p:cNvPr id="12" name="TextBox 11">
              <a:extLst>
                <a:ext uri="{FF2B5EF4-FFF2-40B4-BE49-F238E27FC236}">
                  <a16:creationId xmlns:a16="http://schemas.microsoft.com/office/drawing/2014/main" id="{B428E00A-000C-430B-BAB0-7893652D9A9E}"/>
                </a:ext>
              </a:extLst>
            </p:cNvPr>
            <p:cNvSpPr txBox="1">
              <a:spLocks noChangeArrowheads="1"/>
            </p:cNvSpPr>
            <p:nvPr/>
          </p:nvSpPr>
          <p:spPr bwMode="auto">
            <a:xfrm>
              <a:off x="7392144" y="4762624"/>
              <a:ext cx="18473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GB" altLang="en-US" sz="1400" dirty="0">
                <a:solidFill>
                  <a:srgbClr val="000000"/>
                </a:solidFill>
              </a:endParaRPr>
            </a:p>
          </p:txBody>
        </p:sp>
      </p:grpSp>
    </p:spTree>
    <p:extLst>
      <p:ext uri="{BB962C8B-B14F-4D97-AF65-F5344CB8AC3E}">
        <p14:creationId xmlns:p14="http://schemas.microsoft.com/office/powerpoint/2010/main" val="595201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93936-E7E5-4285-826A-E97DB441F345}"/>
              </a:ext>
            </a:extLst>
          </p:cNvPr>
          <p:cNvSpPr>
            <a:spLocks noGrp="1"/>
          </p:cNvSpPr>
          <p:nvPr>
            <p:ph type="title"/>
          </p:nvPr>
        </p:nvSpPr>
        <p:spPr/>
        <p:txBody>
          <a:bodyPr/>
          <a:lstStyle/>
          <a:p>
            <a:r>
              <a:rPr lang="en-GB" dirty="0"/>
              <a:t>Multiplicity</a:t>
            </a:r>
          </a:p>
        </p:txBody>
      </p:sp>
      <p:sp>
        <p:nvSpPr>
          <p:cNvPr id="3" name="Content Placeholder 2">
            <a:extLst>
              <a:ext uri="{FF2B5EF4-FFF2-40B4-BE49-F238E27FC236}">
                <a16:creationId xmlns:a16="http://schemas.microsoft.com/office/drawing/2014/main" id="{065BEC25-6808-4462-9570-98F1845340F5}"/>
              </a:ext>
            </a:extLst>
          </p:cNvPr>
          <p:cNvSpPr>
            <a:spLocks noGrp="1"/>
          </p:cNvSpPr>
          <p:nvPr>
            <p:ph idx="1"/>
          </p:nvPr>
        </p:nvSpPr>
        <p:spPr/>
        <p:txBody>
          <a:bodyPr>
            <a:normAutofit fontScale="85000" lnSpcReduction="10000"/>
          </a:bodyPr>
          <a:lstStyle/>
          <a:p>
            <a:r>
              <a:rPr lang="en-GB" sz="2200" i="1" dirty="0">
                <a:latin typeface="Courier New" panose="02070309020205020404" pitchFamily="49" charset="0"/>
                <a:cs typeface="Courier New" panose="02070309020205020404" pitchFamily="49" charset="0"/>
              </a:rPr>
              <a:t>visibility   name  :  type   multiplicity   {properties}</a:t>
            </a:r>
          </a:p>
          <a:p>
            <a:r>
              <a:rPr lang="en-GB" sz="2200" dirty="0"/>
              <a:t>Sometimes attributes may have many instances</a:t>
            </a:r>
          </a:p>
          <a:p>
            <a:pPr lvl="1">
              <a:buFont typeface="Arial" panose="020B0604020202020204" pitchFamily="34" charset="0"/>
              <a:buChar char="•"/>
            </a:pPr>
            <a:r>
              <a:rPr lang="en-GB" sz="2000" dirty="0"/>
              <a:t>e.g. a planet may have many resources</a:t>
            </a:r>
          </a:p>
          <a:p>
            <a:r>
              <a:rPr lang="en-GB" sz="2200" dirty="0"/>
              <a:t>Specify the multiplicity inside square brackets</a:t>
            </a:r>
          </a:p>
          <a:p>
            <a:r>
              <a:rPr lang="en-GB" sz="2200" dirty="0"/>
              <a:t>A single integer means exactly that many instances</a:t>
            </a:r>
          </a:p>
          <a:p>
            <a:pPr lvl="1">
              <a:buFont typeface="Arial" panose="020B0604020202020204" pitchFamily="34" charset="0"/>
              <a:buChar char="•"/>
            </a:pPr>
            <a:r>
              <a:rPr lang="en-GB" sz="2000" dirty="0"/>
              <a:t>e.g. [4] wheels on a car</a:t>
            </a:r>
          </a:p>
          <a:p>
            <a:pPr lvl="1">
              <a:buFont typeface="Arial" panose="020B0604020202020204" pitchFamily="34" charset="0"/>
              <a:buChar char="•"/>
            </a:pPr>
            <a:r>
              <a:rPr lang="en-GB" sz="2000" dirty="0"/>
              <a:t>Default for all attributes is 1</a:t>
            </a:r>
          </a:p>
          <a:p>
            <a:r>
              <a:rPr lang="en-GB" sz="2200" dirty="0"/>
              <a:t>A range is shown with two dots: [</a:t>
            </a:r>
            <a:r>
              <a:rPr lang="en-GB" sz="2200" dirty="0" err="1"/>
              <a:t>min..max</a:t>
            </a:r>
            <a:r>
              <a:rPr lang="en-GB" sz="2200" dirty="0"/>
              <a:t>]</a:t>
            </a:r>
          </a:p>
          <a:p>
            <a:r>
              <a:rPr lang="en-GB" sz="2200" dirty="0"/>
              <a:t>An infinite range is shown with a *: [min..*]</a:t>
            </a:r>
          </a:p>
          <a:p>
            <a:r>
              <a:rPr lang="en-GB" sz="2200" dirty="0"/>
              <a:t>* on its own means zero or more</a:t>
            </a:r>
          </a:p>
          <a:p>
            <a:endParaRPr lang="en-GB" dirty="0"/>
          </a:p>
        </p:txBody>
      </p:sp>
      <p:grpSp>
        <p:nvGrpSpPr>
          <p:cNvPr id="4" name="Group 3">
            <a:extLst>
              <a:ext uri="{FF2B5EF4-FFF2-40B4-BE49-F238E27FC236}">
                <a16:creationId xmlns:a16="http://schemas.microsoft.com/office/drawing/2014/main" id="{8DE5302C-A235-4342-841E-BCDE87C54A35}"/>
              </a:ext>
            </a:extLst>
          </p:cNvPr>
          <p:cNvGrpSpPr/>
          <p:nvPr/>
        </p:nvGrpSpPr>
        <p:grpSpPr>
          <a:xfrm>
            <a:off x="8900562" y="4209882"/>
            <a:ext cx="2065337" cy="1511300"/>
            <a:chOff x="7392144" y="3645024"/>
            <a:chExt cx="2065337" cy="1511300"/>
          </a:xfrm>
        </p:grpSpPr>
        <p:sp>
          <p:nvSpPr>
            <p:cNvPr id="5" name="Rectangle 4">
              <a:extLst>
                <a:ext uri="{FF2B5EF4-FFF2-40B4-BE49-F238E27FC236}">
                  <a16:creationId xmlns:a16="http://schemas.microsoft.com/office/drawing/2014/main" id="{385ACA66-6A9F-447D-82CF-27929474E16E}"/>
                </a:ext>
              </a:extLst>
            </p:cNvPr>
            <p:cNvSpPr/>
            <p:nvPr/>
          </p:nvSpPr>
          <p:spPr>
            <a:xfrm>
              <a:off x="7392144" y="3645024"/>
              <a:ext cx="2065337" cy="1511300"/>
            </a:xfrm>
            <a:prstGeom prst="rect">
              <a:avLst/>
            </a:prstGeom>
            <a:noFill/>
            <a:ln w="127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GB">
                <a:solidFill>
                  <a:srgbClr val="FFFFFF"/>
                </a:solidFill>
              </a:endParaRPr>
            </a:p>
          </p:txBody>
        </p:sp>
        <p:cxnSp>
          <p:nvCxnSpPr>
            <p:cNvPr id="6" name="Straight Connector 5">
              <a:extLst>
                <a:ext uri="{FF2B5EF4-FFF2-40B4-BE49-F238E27FC236}">
                  <a16:creationId xmlns:a16="http://schemas.microsoft.com/office/drawing/2014/main" id="{D95F19C6-B771-47F8-B560-49B02C1BEAC0}"/>
                </a:ext>
              </a:extLst>
            </p:cNvPr>
            <p:cNvCxnSpPr/>
            <p:nvPr/>
          </p:nvCxnSpPr>
          <p:spPr>
            <a:xfrm>
              <a:off x="7392144" y="4040311"/>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5AA17D1-015D-40BB-A708-9B0292D908A1}"/>
                </a:ext>
              </a:extLst>
            </p:cNvPr>
            <p:cNvCxnSpPr/>
            <p:nvPr/>
          </p:nvCxnSpPr>
          <p:spPr>
            <a:xfrm>
              <a:off x="7392144" y="4621336"/>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14">
              <a:extLst>
                <a:ext uri="{FF2B5EF4-FFF2-40B4-BE49-F238E27FC236}">
                  <a16:creationId xmlns:a16="http://schemas.microsoft.com/office/drawing/2014/main" id="{3C66CFDC-8DF2-4830-8DE3-D50400C52A12}"/>
                </a:ext>
              </a:extLst>
            </p:cNvPr>
            <p:cNvSpPr txBox="1">
              <a:spLocks noChangeArrowheads="1"/>
            </p:cNvSpPr>
            <p:nvPr/>
          </p:nvSpPr>
          <p:spPr bwMode="auto">
            <a:xfrm>
              <a:off x="8101648" y="364502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GB" altLang="en-US" sz="1800" dirty="0">
                  <a:solidFill>
                    <a:srgbClr val="000000"/>
                  </a:solidFill>
                </a:rPr>
                <a:t>Ship</a:t>
              </a:r>
            </a:p>
          </p:txBody>
        </p:sp>
        <p:sp>
          <p:nvSpPr>
            <p:cNvPr id="9" name="TextBox 16">
              <a:extLst>
                <a:ext uri="{FF2B5EF4-FFF2-40B4-BE49-F238E27FC236}">
                  <a16:creationId xmlns:a16="http://schemas.microsoft.com/office/drawing/2014/main" id="{D83519C4-E038-43F7-950C-CC7B2C987CEB}"/>
                </a:ext>
              </a:extLst>
            </p:cNvPr>
            <p:cNvSpPr txBox="1">
              <a:spLocks noChangeArrowheads="1"/>
            </p:cNvSpPr>
            <p:nvPr/>
          </p:nvSpPr>
          <p:spPr bwMode="auto">
            <a:xfrm>
              <a:off x="7392144" y="4086349"/>
              <a:ext cx="200407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a:solidFill>
                    <a:srgbClr val="000000"/>
                  </a:solidFill>
                </a:rPr>
                <a:t>+ name : string</a:t>
              </a:r>
            </a:p>
            <a:p>
              <a:pPr eaLnBrk="1" hangingPunct="1">
                <a:spcBef>
                  <a:spcPct val="0"/>
                </a:spcBef>
                <a:buClrTx/>
                <a:buSzTx/>
                <a:buFontTx/>
                <a:buNone/>
              </a:pPr>
              <a:r>
                <a:rPr lang="en-GB" altLang="en-US" sz="1400" dirty="0">
                  <a:solidFill>
                    <a:srgbClr val="000000"/>
                  </a:solidFill>
                </a:rPr>
                <a:t>- max_speed : int [800]</a:t>
              </a:r>
            </a:p>
            <a:p>
              <a:pPr eaLnBrk="1" hangingPunct="1">
                <a:spcBef>
                  <a:spcPct val="0"/>
                </a:spcBef>
                <a:buClrTx/>
                <a:buSzTx/>
                <a:buFontTx/>
                <a:buNone/>
              </a:pPr>
              <a:endParaRPr lang="en-GB" altLang="en-US" sz="1400" dirty="0">
                <a:solidFill>
                  <a:srgbClr val="000000"/>
                </a:solidFill>
              </a:endParaRPr>
            </a:p>
            <a:p>
              <a:pPr eaLnBrk="1" hangingPunct="1">
                <a:spcBef>
                  <a:spcPct val="0"/>
                </a:spcBef>
                <a:buClrTx/>
                <a:buSzTx/>
                <a:buFontTx/>
                <a:buNone/>
              </a:pPr>
              <a:endParaRPr lang="en-GB" altLang="en-US" sz="1400" dirty="0">
                <a:solidFill>
                  <a:srgbClr val="000000"/>
                </a:solidFill>
              </a:endParaRPr>
            </a:p>
          </p:txBody>
        </p:sp>
      </p:grpSp>
    </p:spTree>
    <p:extLst>
      <p:ext uri="{BB962C8B-B14F-4D97-AF65-F5344CB8AC3E}">
        <p14:creationId xmlns:p14="http://schemas.microsoft.com/office/powerpoint/2010/main" val="808191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9E7F3-09E4-4AA9-B1EF-726C85B99FCD}"/>
              </a:ext>
            </a:extLst>
          </p:cNvPr>
          <p:cNvSpPr>
            <a:spLocks noGrp="1"/>
          </p:cNvSpPr>
          <p:nvPr>
            <p:ph type="title"/>
          </p:nvPr>
        </p:nvSpPr>
        <p:spPr/>
        <p:txBody>
          <a:bodyPr/>
          <a:lstStyle/>
          <a:p>
            <a:r>
              <a:rPr lang="en-GB" dirty="0"/>
              <a:t>Attribute Properties</a:t>
            </a:r>
          </a:p>
        </p:txBody>
      </p:sp>
      <p:sp>
        <p:nvSpPr>
          <p:cNvPr id="3" name="Content Placeholder 2">
            <a:extLst>
              <a:ext uri="{FF2B5EF4-FFF2-40B4-BE49-F238E27FC236}">
                <a16:creationId xmlns:a16="http://schemas.microsoft.com/office/drawing/2014/main" id="{3C59F911-4369-42B7-883D-2F7B952FD489}"/>
              </a:ext>
            </a:extLst>
          </p:cNvPr>
          <p:cNvSpPr>
            <a:spLocks noGrp="1"/>
          </p:cNvSpPr>
          <p:nvPr>
            <p:ph idx="1"/>
          </p:nvPr>
        </p:nvSpPr>
        <p:spPr/>
        <p:txBody>
          <a:bodyPr/>
          <a:lstStyle/>
          <a:p>
            <a:r>
              <a:rPr lang="en-GB" sz="2200" i="1" dirty="0">
                <a:latin typeface="Courier New" panose="02070309020205020404" pitchFamily="49" charset="0"/>
                <a:cs typeface="Courier New" panose="02070309020205020404" pitchFamily="49" charset="0"/>
              </a:rPr>
              <a:t>visibility  name : type multiplicity {properties}</a:t>
            </a:r>
          </a:p>
          <a:p>
            <a:endParaRPr lang="en-GB" dirty="0"/>
          </a:p>
          <a:p>
            <a:r>
              <a:rPr lang="en-GB" sz="2200" dirty="0"/>
              <a:t>Within curly brackets (braces) we can specify any number of properties</a:t>
            </a:r>
          </a:p>
          <a:p>
            <a:pPr lvl="1">
              <a:buFont typeface="Arial" panose="020B0604020202020204" pitchFamily="34" charset="0"/>
              <a:buChar char="•"/>
            </a:pPr>
            <a:r>
              <a:rPr lang="en-GB" sz="2000" dirty="0"/>
              <a:t>e.g. </a:t>
            </a:r>
            <a:r>
              <a:rPr lang="en-GB" sz="2000"/>
              <a:t>{Read Only</a:t>
            </a:r>
            <a:r>
              <a:rPr lang="en-GB" sz="2000" dirty="0"/>
              <a:t>}, {static}</a:t>
            </a:r>
          </a:p>
          <a:p>
            <a:r>
              <a:rPr lang="en-GB" sz="2200" dirty="0"/>
              <a:t>Can also specify constraints</a:t>
            </a:r>
          </a:p>
          <a:p>
            <a:pPr lvl="1">
              <a:buFont typeface="Arial" panose="020B0604020202020204" pitchFamily="34" charset="0"/>
              <a:buChar char="•"/>
            </a:pPr>
            <a:r>
              <a:rPr lang="en-GB" sz="2000" dirty="0"/>
              <a:t>e.g. {not null}</a:t>
            </a:r>
          </a:p>
          <a:p>
            <a:endParaRPr lang="en-GB" dirty="0"/>
          </a:p>
        </p:txBody>
      </p:sp>
      <p:grpSp>
        <p:nvGrpSpPr>
          <p:cNvPr id="4" name="Group 3">
            <a:extLst>
              <a:ext uri="{FF2B5EF4-FFF2-40B4-BE49-F238E27FC236}">
                <a16:creationId xmlns:a16="http://schemas.microsoft.com/office/drawing/2014/main" id="{809BD02B-0DBE-4B5D-B55A-48C28707182C}"/>
              </a:ext>
            </a:extLst>
          </p:cNvPr>
          <p:cNvGrpSpPr/>
          <p:nvPr/>
        </p:nvGrpSpPr>
        <p:grpSpPr>
          <a:xfrm>
            <a:off x="7685911" y="4022411"/>
            <a:ext cx="3818701" cy="1511300"/>
            <a:chOff x="7392144" y="3645024"/>
            <a:chExt cx="2801115" cy="1511300"/>
          </a:xfrm>
        </p:grpSpPr>
        <p:sp>
          <p:nvSpPr>
            <p:cNvPr id="5" name="Rectangle 4">
              <a:extLst>
                <a:ext uri="{FF2B5EF4-FFF2-40B4-BE49-F238E27FC236}">
                  <a16:creationId xmlns:a16="http://schemas.microsoft.com/office/drawing/2014/main" id="{7C2A99E0-15F4-4B87-B8D4-A6CF1AC256B3}"/>
                </a:ext>
              </a:extLst>
            </p:cNvPr>
            <p:cNvSpPr/>
            <p:nvPr/>
          </p:nvSpPr>
          <p:spPr>
            <a:xfrm>
              <a:off x="7392144" y="3645024"/>
              <a:ext cx="2065337" cy="1511300"/>
            </a:xfrm>
            <a:prstGeom prst="rect">
              <a:avLst/>
            </a:prstGeom>
            <a:noFill/>
            <a:ln w="127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GB">
                <a:solidFill>
                  <a:srgbClr val="FFFFFF"/>
                </a:solidFill>
              </a:endParaRPr>
            </a:p>
          </p:txBody>
        </p:sp>
        <p:cxnSp>
          <p:nvCxnSpPr>
            <p:cNvPr id="6" name="Straight Connector 5">
              <a:extLst>
                <a:ext uri="{FF2B5EF4-FFF2-40B4-BE49-F238E27FC236}">
                  <a16:creationId xmlns:a16="http://schemas.microsoft.com/office/drawing/2014/main" id="{2ECADEE2-773E-4AB4-B269-B9CC99E2675E}"/>
                </a:ext>
              </a:extLst>
            </p:cNvPr>
            <p:cNvCxnSpPr/>
            <p:nvPr/>
          </p:nvCxnSpPr>
          <p:spPr>
            <a:xfrm>
              <a:off x="7392144" y="4040311"/>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9153B40-8211-45EB-95D3-6A57216F95A2}"/>
                </a:ext>
              </a:extLst>
            </p:cNvPr>
            <p:cNvCxnSpPr/>
            <p:nvPr/>
          </p:nvCxnSpPr>
          <p:spPr>
            <a:xfrm>
              <a:off x="7392144" y="4621336"/>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14">
              <a:extLst>
                <a:ext uri="{FF2B5EF4-FFF2-40B4-BE49-F238E27FC236}">
                  <a16:creationId xmlns:a16="http://schemas.microsoft.com/office/drawing/2014/main" id="{B8399BCE-9882-47A2-AE0F-B05216F6D1DC}"/>
                </a:ext>
              </a:extLst>
            </p:cNvPr>
            <p:cNvSpPr txBox="1">
              <a:spLocks noChangeArrowheads="1"/>
            </p:cNvSpPr>
            <p:nvPr/>
          </p:nvSpPr>
          <p:spPr bwMode="auto">
            <a:xfrm>
              <a:off x="8101648" y="364502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GB" altLang="en-US" sz="1800" dirty="0">
                  <a:solidFill>
                    <a:srgbClr val="000000"/>
                  </a:solidFill>
                </a:rPr>
                <a:t>Ship</a:t>
              </a:r>
            </a:p>
          </p:txBody>
        </p:sp>
        <p:sp>
          <p:nvSpPr>
            <p:cNvPr id="9" name="TextBox 16">
              <a:extLst>
                <a:ext uri="{FF2B5EF4-FFF2-40B4-BE49-F238E27FC236}">
                  <a16:creationId xmlns:a16="http://schemas.microsoft.com/office/drawing/2014/main" id="{9746A570-ADE8-49FB-8C74-1D22AC26B339}"/>
                </a:ext>
              </a:extLst>
            </p:cNvPr>
            <p:cNvSpPr txBox="1">
              <a:spLocks noChangeArrowheads="1"/>
            </p:cNvSpPr>
            <p:nvPr/>
          </p:nvSpPr>
          <p:spPr bwMode="auto">
            <a:xfrm>
              <a:off x="7453406" y="4085879"/>
              <a:ext cx="273985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a:solidFill>
                    <a:srgbClr val="000000"/>
                  </a:solidFill>
                </a:rPr>
                <a:t>+ name : string</a:t>
              </a:r>
            </a:p>
            <a:p>
              <a:pPr eaLnBrk="1" hangingPunct="1">
                <a:spcBef>
                  <a:spcPct val="0"/>
                </a:spcBef>
                <a:buClrTx/>
                <a:buSzTx/>
                <a:buFontTx/>
                <a:buNone/>
              </a:pPr>
              <a:r>
                <a:rPr lang="en-GB" altLang="en-US" sz="1400" dirty="0">
                  <a:solidFill>
                    <a:srgbClr val="000000"/>
                  </a:solidFill>
                </a:rPr>
                <a:t>- max_speed : int [800] {not null}</a:t>
              </a:r>
            </a:p>
          </p:txBody>
        </p:sp>
      </p:grpSp>
    </p:spTree>
    <p:extLst>
      <p:ext uri="{BB962C8B-B14F-4D97-AF65-F5344CB8AC3E}">
        <p14:creationId xmlns:p14="http://schemas.microsoft.com/office/powerpoint/2010/main" val="1588847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F326D-E21F-4194-8D58-DAA679618BA3}"/>
              </a:ext>
            </a:extLst>
          </p:cNvPr>
          <p:cNvSpPr>
            <a:spLocks noGrp="1"/>
          </p:cNvSpPr>
          <p:nvPr>
            <p:ph type="title"/>
          </p:nvPr>
        </p:nvSpPr>
        <p:spPr/>
        <p:txBody>
          <a:bodyPr/>
          <a:lstStyle/>
          <a:p>
            <a:r>
              <a:rPr lang="en-GB" dirty="0"/>
              <a:t>Class operations/methods</a:t>
            </a:r>
          </a:p>
        </p:txBody>
      </p:sp>
      <p:sp>
        <p:nvSpPr>
          <p:cNvPr id="3" name="Content Placeholder 2">
            <a:extLst>
              <a:ext uri="{FF2B5EF4-FFF2-40B4-BE49-F238E27FC236}">
                <a16:creationId xmlns:a16="http://schemas.microsoft.com/office/drawing/2014/main" id="{FAC571D2-807E-4F0C-823D-05D968C97DEB}"/>
              </a:ext>
            </a:extLst>
          </p:cNvPr>
          <p:cNvSpPr>
            <a:spLocks noGrp="1"/>
          </p:cNvSpPr>
          <p:nvPr>
            <p:ph idx="1"/>
          </p:nvPr>
        </p:nvSpPr>
        <p:spPr/>
        <p:txBody>
          <a:bodyPr>
            <a:normAutofit fontScale="92500" lnSpcReduction="20000"/>
          </a:bodyPr>
          <a:lstStyle/>
          <a:p>
            <a:r>
              <a:rPr lang="en-GB" sz="2200" dirty="0"/>
              <a:t>Operations specify the behaviour of a class</a:t>
            </a:r>
          </a:p>
          <a:p>
            <a:pPr lvl="1"/>
            <a:r>
              <a:rPr lang="en-GB" sz="1800" dirty="0"/>
              <a:t>Can think of them as functions of the object</a:t>
            </a:r>
          </a:p>
          <a:p>
            <a:endParaRPr lang="en-GB" sz="2200" dirty="0"/>
          </a:p>
          <a:p>
            <a:r>
              <a:rPr lang="en-GB" sz="2200" dirty="0"/>
              <a:t>Standard syntax is:</a:t>
            </a:r>
          </a:p>
          <a:p>
            <a:r>
              <a:rPr lang="en-GB" sz="2200" i="1" dirty="0">
                <a:latin typeface="Courier New" panose="02070309020205020404" pitchFamily="49" charset="0"/>
                <a:cs typeface="Courier New" panose="02070309020205020404" pitchFamily="49" charset="0"/>
              </a:rPr>
              <a:t>visibility  name(parameters) : return-type {properties}</a:t>
            </a:r>
          </a:p>
          <a:p>
            <a:endParaRPr lang="en-GB" sz="2200" dirty="0"/>
          </a:p>
          <a:p>
            <a:r>
              <a:rPr lang="en-GB" sz="2200" dirty="0"/>
              <a:t>Visibility and properties same as for class attributes</a:t>
            </a:r>
          </a:p>
          <a:p>
            <a:r>
              <a:rPr lang="en-GB" sz="2200" dirty="0"/>
              <a:t>Parameters are attributes and have the same syntax as class attributes</a:t>
            </a:r>
          </a:p>
          <a:p>
            <a:endParaRPr lang="en-GB" sz="1200" dirty="0"/>
          </a:p>
          <a:p>
            <a:r>
              <a:rPr lang="en-GB" sz="2200" b="1" dirty="0"/>
              <a:t>Database classes usually don’t have operations</a:t>
            </a:r>
          </a:p>
          <a:p>
            <a:endParaRPr lang="en-GB" dirty="0"/>
          </a:p>
        </p:txBody>
      </p:sp>
      <p:grpSp>
        <p:nvGrpSpPr>
          <p:cNvPr id="11" name="Group 10">
            <a:extLst>
              <a:ext uri="{FF2B5EF4-FFF2-40B4-BE49-F238E27FC236}">
                <a16:creationId xmlns:a16="http://schemas.microsoft.com/office/drawing/2014/main" id="{9E695301-1FFE-4AE4-BF2D-032C6A0FA574}"/>
              </a:ext>
            </a:extLst>
          </p:cNvPr>
          <p:cNvGrpSpPr/>
          <p:nvPr/>
        </p:nvGrpSpPr>
        <p:grpSpPr>
          <a:xfrm>
            <a:off x="8709493" y="1688644"/>
            <a:ext cx="3818701" cy="1511300"/>
            <a:chOff x="7392144" y="3645024"/>
            <a:chExt cx="2801115" cy="1511300"/>
          </a:xfrm>
        </p:grpSpPr>
        <p:sp>
          <p:nvSpPr>
            <p:cNvPr id="12" name="Rectangle 11">
              <a:extLst>
                <a:ext uri="{FF2B5EF4-FFF2-40B4-BE49-F238E27FC236}">
                  <a16:creationId xmlns:a16="http://schemas.microsoft.com/office/drawing/2014/main" id="{92D4BD37-A3F2-413D-A3FB-D98BD3F5AFF5}"/>
                </a:ext>
              </a:extLst>
            </p:cNvPr>
            <p:cNvSpPr/>
            <p:nvPr/>
          </p:nvSpPr>
          <p:spPr>
            <a:xfrm>
              <a:off x="7392144" y="3645024"/>
              <a:ext cx="2065337" cy="1511300"/>
            </a:xfrm>
            <a:prstGeom prst="rect">
              <a:avLst/>
            </a:prstGeom>
            <a:noFill/>
            <a:ln w="127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GB">
                <a:solidFill>
                  <a:srgbClr val="FFFFFF"/>
                </a:solidFill>
              </a:endParaRPr>
            </a:p>
          </p:txBody>
        </p:sp>
        <p:cxnSp>
          <p:nvCxnSpPr>
            <p:cNvPr id="13" name="Straight Connector 12">
              <a:extLst>
                <a:ext uri="{FF2B5EF4-FFF2-40B4-BE49-F238E27FC236}">
                  <a16:creationId xmlns:a16="http://schemas.microsoft.com/office/drawing/2014/main" id="{0E5609F8-9464-4C31-8DCD-1FFBA973489A}"/>
                </a:ext>
              </a:extLst>
            </p:cNvPr>
            <p:cNvCxnSpPr/>
            <p:nvPr/>
          </p:nvCxnSpPr>
          <p:spPr>
            <a:xfrm>
              <a:off x="7392144" y="4040311"/>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F9FA372-4C7F-41CF-82EF-728EFAF2267C}"/>
                </a:ext>
              </a:extLst>
            </p:cNvPr>
            <p:cNvCxnSpPr/>
            <p:nvPr/>
          </p:nvCxnSpPr>
          <p:spPr>
            <a:xfrm>
              <a:off x="7392144" y="4621336"/>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D230E19-19CF-472A-8336-754D89433AFA}"/>
                </a:ext>
              </a:extLst>
            </p:cNvPr>
            <p:cNvSpPr txBox="1">
              <a:spLocks noChangeArrowheads="1"/>
            </p:cNvSpPr>
            <p:nvPr/>
          </p:nvSpPr>
          <p:spPr bwMode="auto">
            <a:xfrm>
              <a:off x="8101648" y="364502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GB" altLang="en-US" sz="1800" dirty="0">
                  <a:solidFill>
                    <a:srgbClr val="000000"/>
                  </a:solidFill>
                </a:rPr>
                <a:t>Ship</a:t>
              </a:r>
            </a:p>
          </p:txBody>
        </p:sp>
        <p:sp>
          <p:nvSpPr>
            <p:cNvPr id="16" name="TextBox 16">
              <a:extLst>
                <a:ext uri="{FF2B5EF4-FFF2-40B4-BE49-F238E27FC236}">
                  <a16:creationId xmlns:a16="http://schemas.microsoft.com/office/drawing/2014/main" id="{7B315944-98BC-4531-BD3F-E055547CCB39}"/>
                </a:ext>
              </a:extLst>
            </p:cNvPr>
            <p:cNvSpPr txBox="1">
              <a:spLocks noChangeArrowheads="1"/>
            </p:cNvSpPr>
            <p:nvPr/>
          </p:nvSpPr>
          <p:spPr bwMode="auto">
            <a:xfrm>
              <a:off x="7453406" y="4085879"/>
              <a:ext cx="273985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a:solidFill>
                    <a:srgbClr val="000000"/>
                  </a:solidFill>
                </a:rPr>
                <a:t>+ name : string</a:t>
              </a:r>
            </a:p>
            <a:p>
              <a:pPr eaLnBrk="1" hangingPunct="1">
                <a:spcBef>
                  <a:spcPct val="0"/>
                </a:spcBef>
                <a:buClrTx/>
                <a:buSzTx/>
                <a:buFontTx/>
                <a:buNone/>
              </a:pPr>
              <a:r>
                <a:rPr lang="en-GB" altLang="en-US" sz="1400" dirty="0">
                  <a:solidFill>
                    <a:srgbClr val="000000"/>
                  </a:solidFill>
                </a:rPr>
                <a:t>- max_speed : int [800] {not null}</a:t>
              </a:r>
            </a:p>
          </p:txBody>
        </p:sp>
      </p:grpSp>
      <p:sp>
        <p:nvSpPr>
          <p:cNvPr id="17" name="TextBox 17">
            <a:extLst>
              <a:ext uri="{FF2B5EF4-FFF2-40B4-BE49-F238E27FC236}">
                <a16:creationId xmlns:a16="http://schemas.microsoft.com/office/drawing/2014/main" id="{EAB79D7C-3E0D-43DB-AA4F-8329384FE087}"/>
              </a:ext>
            </a:extLst>
          </p:cNvPr>
          <p:cNvSpPr txBox="1">
            <a:spLocks noChangeArrowheads="1"/>
          </p:cNvSpPr>
          <p:nvPr/>
        </p:nvSpPr>
        <p:spPr bwMode="auto">
          <a:xfrm>
            <a:off x="8793010" y="2677194"/>
            <a:ext cx="118333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a:solidFill>
                  <a:srgbClr val="000000"/>
                </a:solidFill>
              </a:rPr>
              <a:t>+ move(): int</a:t>
            </a:r>
          </a:p>
          <a:p>
            <a:pPr eaLnBrk="1" hangingPunct="1">
              <a:spcBef>
                <a:spcPct val="0"/>
              </a:spcBef>
              <a:buClrTx/>
              <a:buSzTx/>
              <a:buFontTx/>
              <a:buNone/>
            </a:pPr>
            <a:r>
              <a:rPr lang="en-GB" altLang="en-US" sz="1400" dirty="0">
                <a:solidFill>
                  <a:srgbClr val="000000"/>
                </a:solidFill>
              </a:rPr>
              <a:t>+ fire(): int</a:t>
            </a:r>
          </a:p>
        </p:txBody>
      </p:sp>
    </p:spTree>
    <p:extLst>
      <p:ext uri="{BB962C8B-B14F-4D97-AF65-F5344CB8AC3E}">
        <p14:creationId xmlns:p14="http://schemas.microsoft.com/office/powerpoint/2010/main" val="3838962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Relationships Between Classes</a:t>
            </a:r>
          </a:p>
        </p:txBody>
      </p:sp>
      <p:sp>
        <p:nvSpPr>
          <p:cNvPr id="3" name="Content Placeholder 2"/>
          <p:cNvSpPr>
            <a:spLocks noGrp="1"/>
          </p:cNvSpPr>
          <p:nvPr>
            <p:ph idx="1"/>
          </p:nvPr>
        </p:nvSpPr>
        <p:spPr/>
        <p:txBody>
          <a:bodyPr>
            <a:normAutofit/>
          </a:bodyPr>
          <a:lstStyle/>
          <a:p>
            <a:r>
              <a:rPr lang="en-GB" sz="2200" dirty="0"/>
              <a:t>In a class diagram we will probably have many classes</a:t>
            </a:r>
          </a:p>
          <a:p>
            <a:r>
              <a:rPr lang="en-GB" sz="2200" dirty="0"/>
              <a:t>Want to show how different classes relate to each other</a:t>
            </a:r>
          </a:p>
          <a:p>
            <a:r>
              <a:rPr lang="en-GB" sz="2200" dirty="0"/>
              <a:t>Different relationships:</a:t>
            </a:r>
          </a:p>
          <a:p>
            <a:pPr lvl="1">
              <a:buFont typeface="Arial" panose="020B0604020202020204" pitchFamily="34" charset="0"/>
              <a:buChar char="•"/>
            </a:pPr>
            <a:r>
              <a:rPr lang="en-GB" sz="2200" dirty="0"/>
              <a:t>Dependency	</a:t>
            </a:r>
          </a:p>
          <a:p>
            <a:pPr lvl="1">
              <a:buFont typeface="Arial" panose="020B0604020202020204" pitchFamily="34" charset="0"/>
              <a:buChar char="•"/>
            </a:pPr>
            <a:r>
              <a:rPr lang="en-GB" sz="2200" dirty="0"/>
              <a:t>Association	</a:t>
            </a:r>
          </a:p>
          <a:p>
            <a:pPr lvl="1">
              <a:buFont typeface="Arial" panose="020B0604020202020204" pitchFamily="34" charset="0"/>
              <a:buChar char="•"/>
            </a:pPr>
            <a:r>
              <a:rPr lang="en-GB" sz="2200" dirty="0"/>
              <a:t>Aggregation	</a:t>
            </a:r>
          </a:p>
          <a:p>
            <a:pPr lvl="1">
              <a:buFont typeface="Arial" panose="020B0604020202020204" pitchFamily="34" charset="0"/>
              <a:buChar char="•"/>
            </a:pPr>
            <a:r>
              <a:rPr lang="en-GB" sz="2200" dirty="0"/>
              <a:t>Composition</a:t>
            </a:r>
          </a:p>
          <a:p>
            <a:pPr lvl="1">
              <a:buFont typeface="Arial" panose="020B0604020202020204" pitchFamily="34" charset="0"/>
              <a:buChar char="•"/>
            </a:pPr>
            <a:r>
              <a:rPr lang="en-GB" sz="2200" dirty="0"/>
              <a:t>Generalisation	</a:t>
            </a:r>
          </a:p>
          <a:p>
            <a:pPr marL="0" indent="0">
              <a:buNone/>
            </a:pPr>
            <a:endParaRPr lang="en-GB" sz="2200" dirty="0"/>
          </a:p>
        </p:txBody>
      </p:sp>
      <p:cxnSp>
        <p:nvCxnSpPr>
          <p:cNvPr id="6" name="Straight Arrow Connector 5"/>
          <p:cNvCxnSpPr/>
          <p:nvPr/>
        </p:nvCxnSpPr>
        <p:spPr>
          <a:xfrm>
            <a:off x="5480818" y="3790016"/>
            <a:ext cx="918102" cy="0"/>
          </a:xfrm>
          <a:prstGeom prst="straightConnector1">
            <a:avLst/>
          </a:prstGeom>
          <a:ln w="2222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480818" y="4252163"/>
            <a:ext cx="918102" cy="0"/>
          </a:xfrm>
          <a:prstGeom prst="line">
            <a:avLst/>
          </a:prstGeom>
          <a:ln w="22225"/>
        </p:spPr>
        <p:style>
          <a:lnRef idx="1">
            <a:schemeClr val="dk1"/>
          </a:lnRef>
          <a:fillRef idx="0">
            <a:schemeClr val="dk1"/>
          </a:fillRef>
          <a:effectRef idx="0">
            <a:schemeClr val="dk1"/>
          </a:effectRef>
          <a:fontRef idx="minor">
            <a:schemeClr val="tx1"/>
          </a:fontRef>
        </p:style>
      </p:cxnSp>
      <p:grpSp>
        <p:nvGrpSpPr>
          <p:cNvPr id="23" name="Group 22"/>
          <p:cNvGrpSpPr/>
          <p:nvPr/>
        </p:nvGrpSpPr>
        <p:grpSpPr>
          <a:xfrm>
            <a:off x="5480818" y="4556016"/>
            <a:ext cx="918102" cy="216024"/>
            <a:chOff x="2927648" y="3784541"/>
            <a:chExt cx="1224136" cy="216024"/>
          </a:xfrm>
        </p:grpSpPr>
        <p:sp>
          <p:nvSpPr>
            <p:cNvPr id="9" name="Diamond 8"/>
            <p:cNvSpPr/>
            <p:nvPr/>
          </p:nvSpPr>
          <p:spPr>
            <a:xfrm>
              <a:off x="2927648" y="3784541"/>
              <a:ext cx="216024" cy="216024"/>
            </a:xfrm>
            <a:prstGeom prst="diamond">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1" name="Straight Connector 10"/>
            <p:cNvCxnSpPr/>
            <p:nvPr/>
          </p:nvCxnSpPr>
          <p:spPr>
            <a:xfrm>
              <a:off x="3143672" y="3892553"/>
              <a:ext cx="100811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5480818" y="4955837"/>
            <a:ext cx="918102" cy="216024"/>
            <a:chOff x="2927648" y="4119964"/>
            <a:chExt cx="1224136" cy="216024"/>
          </a:xfrm>
        </p:grpSpPr>
        <p:sp>
          <p:nvSpPr>
            <p:cNvPr id="12" name="Diamond 11"/>
            <p:cNvSpPr/>
            <p:nvPr/>
          </p:nvSpPr>
          <p:spPr>
            <a:xfrm>
              <a:off x="2927648" y="4119964"/>
              <a:ext cx="216024" cy="216024"/>
            </a:xfrm>
            <a:prstGeom prst="diamond">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3" name="Straight Connector 12"/>
            <p:cNvCxnSpPr/>
            <p:nvPr/>
          </p:nvCxnSpPr>
          <p:spPr>
            <a:xfrm>
              <a:off x="3143672" y="4227976"/>
              <a:ext cx="100811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5572525" y="5516554"/>
            <a:ext cx="896706" cy="167059"/>
            <a:chOff x="2927648" y="4462524"/>
            <a:chExt cx="1195608" cy="167059"/>
          </a:xfrm>
        </p:grpSpPr>
        <p:sp>
          <p:nvSpPr>
            <p:cNvPr id="17" name="Isosceles Triangle 16"/>
            <p:cNvSpPr/>
            <p:nvPr/>
          </p:nvSpPr>
          <p:spPr>
            <a:xfrm rot="5400000">
              <a:off x="3967718" y="4474046"/>
              <a:ext cx="167059" cy="144016"/>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9" name="Straight Connector 18"/>
            <p:cNvCxnSpPr>
              <a:endCxn id="17" idx="3"/>
            </p:cNvCxnSpPr>
            <p:nvPr/>
          </p:nvCxnSpPr>
          <p:spPr>
            <a:xfrm flipV="1">
              <a:off x="2927648" y="4546055"/>
              <a:ext cx="1051592" cy="17344"/>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48626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657108" y="533392"/>
            <a:ext cx="9905998" cy="1478570"/>
          </a:xfrm>
        </p:spPr>
        <p:txBody>
          <a:bodyPr/>
          <a:lstStyle/>
          <a:p>
            <a:r>
              <a:rPr lang="en-GB" dirty="0"/>
              <a:t>Multiplicity</a:t>
            </a:r>
          </a:p>
        </p:txBody>
      </p:sp>
      <p:graphicFrame>
        <p:nvGraphicFramePr>
          <p:cNvPr id="6" name="Content Placeholder 5"/>
          <p:cNvGraphicFramePr>
            <a:graphicFrameLocks noGrp="1"/>
          </p:cNvGraphicFramePr>
          <p:nvPr>
            <p:ph idx="1"/>
          </p:nvPr>
        </p:nvGraphicFramePr>
        <p:xfrm>
          <a:off x="1881158" y="1500174"/>
          <a:ext cx="8229600" cy="286512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r>
                        <a:rPr lang="en-GB" dirty="0"/>
                        <a:t>MULTIPLICITY/Degre</a:t>
                      </a:r>
                      <a:r>
                        <a:rPr lang="en-GB" baseline="0" dirty="0"/>
                        <a:t>e of Relationship</a:t>
                      </a:r>
                      <a:endParaRPr lang="en-GB" dirty="0"/>
                    </a:p>
                  </a:txBody>
                  <a:tcPr/>
                </a:tc>
                <a:tc>
                  <a:txBody>
                    <a:bodyPr/>
                    <a:lstStyle/>
                    <a:p>
                      <a:r>
                        <a:rPr lang="en-GB" dirty="0"/>
                        <a:t>SHOWN AS</a:t>
                      </a:r>
                    </a:p>
                  </a:txBody>
                  <a:tcPr/>
                </a:tc>
                <a:extLst>
                  <a:ext uri="{0D108BD9-81ED-4DB2-BD59-A6C34878D82A}">
                    <a16:rowId xmlns:a16="http://schemas.microsoft.com/office/drawing/2014/main" val="10000"/>
                  </a:ext>
                </a:extLst>
              </a:tr>
              <a:tr h="370840">
                <a:tc>
                  <a:txBody>
                    <a:bodyPr/>
                    <a:lstStyle/>
                    <a:p>
                      <a:r>
                        <a:rPr lang="en-GB" dirty="0"/>
                        <a:t>One</a:t>
                      </a:r>
                      <a:r>
                        <a:rPr lang="en-GB" baseline="0" dirty="0"/>
                        <a:t> or many</a:t>
                      </a:r>
                      <a:endParaRPr lang="en-GB" dirty="0"/>
                    </a:p>
                  </a:txBody>
                  <a:tcPr/>
                </a:tc>
                <a:tc>
                  <a:txBody>
                    <a:bodyPr/>
                    <a:lstStyle/>
                    <a:p>
                      <a:r>
                        <a:rPr lang="en-GB" dirty="0"/>
                        <a:t>1..*</a:t>
                      </a:r>
                    </a:p>
                  </a:txBody>
                  <a:tcPr/>
                </a:tc>
                <a:extLst>
                  <a:ext uri="{0D108BD9-81ED-4DB2-BD59-A6C34878D82A}">
                    <a16:rowId xmlns:a16="http://schemas.microsoft.com/office/drawing/2014/main" val="10001"/>
                  </a:ext>
                </a:extLst>
              </a:tr>
              <a:tr h="370840">
                <a:tc>
                  <a:txBody>
                    <a:bodyPr/>
                    <a:lstStyle/>
                    <a:p>
                      <a:r>
                        <a:rPr lang="en-GB" dirty="0"/>
                        <a:t>Zero, one or many</a:t>
                      </a:r>
                    </a:p>
                  </a:txBody>
                  <a:tcPr/>
                </a:tc>
                <a:tc>
                  <a:txBody>
                    <a:bodyPr/>
                    <a:lstStyle/>
                    <a:p>
                      <a:r>
                        <a:rPr lang="en-GB" dirty="0"/>
                        <a:t>0..* or just *</a:t>
                      </a:r>
                    </a:p>
                  </a:txBody>
                  <a:tcPr/>
                </a:tc>
                <a:extLst>
                  <a:ext uri="{0D108BD9-81ED-4DB2-BD59-A6C34878D82A}">
                    <a16:rowId xmlns:a16="http://schemas.microsoft.com/office/drawing/2014/main" val="10002"/>
                  </a:ext>
                </a:extLst>
              </a:tr>
              <a:tr h="370840">
                <a:tc>
                  <a:txBody>
                    <a:bodyPr/>
                    <a:lstStyle/>
                    <a:p>
                      <a:r>
                        <a:rPr lang="en-GB" dirty="0"/>
                        <a:t>Zero</a:t>
                      </a:r>
                      <a:r>
                        <a:rPr lang="en-GB" baseline="0" dirty="0"/>
                        <a:t> or one</a:t>
                      </a:r>
                      <a:endParaRPr lang="en-GB" dirty="0"/>
                    </a:p>
                  </a:txBody>
                  <a:tcPr/>
                </a:tc>
                <a:tc>
                  <a:txBody>
                    <a:bodyPr/>
                    <a:lstStyle/>
                    <a:p>
                      <a:r>
                        <a:rPr lang="en-GB" dirty="0"/>
                        <a:t>0..1</a:t>
                      </a:r>
                    </a:p>
                  </a:txBody>
                  <a:tcPr/>
                </a:tc>
                <a:extLst>
                  <a:ext uri="{0D108BD9-81ED-4DB2-BD59-A6C34878D82A}">
                    <a16:rowId xmlns:a16="http://schemas.microsoft.com/office/drawing/2014/main" val="10003"/>
                  </a:ext>
                </a:extLst>
              </a:tr>
              <a:tr h="370840">
                <a:tc>
                  <a:txBody>
                    <a:bodyPr/>
                    <a:lstStyle/>
                    <a:p>
                      <a:r>
                        <a:rPr lang="en-GB" dirty="0"/>
                        <a:t>Precisely one</a:t>
                      </a:r>
                    </a:p>
                  </a:txBody>
                  <a:tcPr/>
                </a:tc>
                <a:tc>
                  <a:txBody>
                    <a:bodyPr/>
                    <a:lstStyle/>
                    <a:p>
                      <a:r>
                        <a:rPr lang="en-GB" dirty="0"/>
                        <a:t>1 (or omitted)</a:t>
                      </a:r>
                    </a:p>
                  </a:txBody>
                  <a:tcPr/>
                </a:tc>
                <a:extLst>
                  <a:ext uri="{0D108BD9-81ED-4DB2-BD59-A6C34878D82A}">
                    <a16:rowId xmlns:a16="http://schemas.microsoft.com/office/drawing/2014/main" val="10004"/>
                  </a:ext>
                </a:extLst>
              </a:tr>
              <a:tr h="370840">
                <a:tc>
                  <a:txBody>
                    <a:bodyPr/>
                    <a:lstStyle/>
                    <a:p>
                      <a:r>
                        <a:rPr lang="en-GB" dirty="0"/>
                        <a:t>Precisely</a:t>
                      </a:r>
                      <a:r>
                        <a:rPr lang="en-GB" baseline="0" dirty="0"/>
                        <a:t> a number</a:t>
                      </a:r>
                      <a:endParaRPr lang="en-GB" dirty="0"/>
                    </a:p>
                  </a:txBody>
                  <a:tcPr/>
                </a:tc>
                <a:tc>
                  <a:txBody>
                    <a:bodyPr/>
                    <a:lstStyle/>
                    <a:p>
                      <a:r>
                        <a:rPr lang="en-GB" dirty="0"/>
                        <a:t>e.g. 2 or 5 or 19</a:t>
                      </a:r>
                    </a:p>
                  </a:txBody>
                  <a:tcPr/>
                </a:tc>
                <a:extLst>
                  <a:ext uri="{0D108BD9-81ED-4DB2-BD59-A6C34878D82A}">
                    <a16:rowId xmlns:a16="http://schemas.microsoft.com/office/drawing/2014/main" val="10005"/>
                  </a:ext>
                </a:extLst>
              </a:tr>
              <a:tr h="370840">
                <a:tc>
                  <a:txBody>
                    <a:bodyPr/>
                    <a:lstStyle/>
                    <a:p>
                      <a:r>
                        <a:rPr lang="en-GB" dirty="0"/>
                        <a:t>Range of numbers</a:t>
                      </a:r>
                    </a:p>
                  </a:txBody>
                  <a:tcPr/>
                </a:tc>
                <a:tc>
                  <a:txBody>
                    <a:bodyPr/>
                    <a:lstStyle/>
                    <a:p>
                      <a:r>
                        <a:rPr lang="en-GB" dirty="0"/>
                        <a:t>e.g.</a:t>
                      </a:r>
                      <a:r>
                        <a:rPr lang="en-GB" baseline="0" dirty="0"/>
                        <a:t> 3..7, 4..*</a:t>
                      </a:r>
                      <a:endParaRPr lang="en-GB" dirty="0"/>
                    </a:p>
                  </a:txBody>
                  <a:tcPr/>
                </a:tc>
                <a:extLst>
                  <a:ext uri="{0D108BD9-81ED-4DB2-BD59-A6C34878D82A}">
                    <a16:rowId xmlns:a16="http://schemas.microsoft.com/office/drawing/2014/main" val="10006"/>
                  </a:ext>
                </a:extLst>
              </a:tr>
            </a:tbl>
          </a:graphicData>
        </a:graphic>
      </p:graphicFrame>
      <p:graphicFrame>
        <p:nvGraphicFramePr>
          <p:cNvPr id="5" name="Content Placeholder 3"/>
          <p:cNvGraphicFramePr>
            <a:graphicFrameLocks/>
          </p:cNvGraphicFramePr>
          <p:nvPr>
            <p:extLst>
              <p:ext uri="{D42A27DB-BD31-4B8C-83A1-F6EECF244321}">
                <p14:modId xmlns:p14="http://schemas.microsoft.com/office/powerpoint/2010/main" val="3595336049"/>
              </p:ext>
            </p:extLst>
          </p:nvPr>
        </p:nvGraphicFramePr>
        <p:xfrm>
          <a:off x="1881158" y="4572008"/>
          <a:ext cx="8229600" cy="1752600"/>
        </p:xfrm>
        <a:graphic>
          <a:graphicData uri="http://schemas.openxmlformats.org/drawingml/2006/table">
            <a:tbl>
              <a:tblPr firstRow="1" bandRow="1">
                <a:tableStyleId>{5C22544A-7EE6-4342-B048-85BDC9FD1C3A}</a:tableStyleId>
              </a:tblPr>
              <a:tblGrid>
                <a:gridCol w="2950149">
                  <a:extLst>
                    <a:ext uri="{9D8B030D-6E8A-4147-A177-3AD203B41FA5}">
                      <a16:colId xmlns:a16="http://schemas.microsoft.com/office/drawing/2014/main" val="20000"/>
                    </a:ext>
                  </a:extLst>
                </a:gridCol>
                <a:gridCol w="2536251">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endParaRPr lang="en-GB" dirty="0"/>
                    </a:p>
                  </a:txBody>
                  <a:tcPr/>
                </a:tc>
                <a:tc>
                  <a:txBody>
                    <a:bodyPr/>
                    <a:lstStyle/>
                    <a:p>
                      <a:r>
                        <a:rPr lang="en-GB" dirty="0"/>
                        <a:t>Entity Model</a:t>
                      </a:r>
                    </a:p>
                  </a:txBody>
                  <a:tcPr/>
                </a:tc>
                <a:tc>
                  <a:txBody>
                    <a:bodyPr/>
                    <a:lstStyle/>
                    <a:p>
                      <a:r>
                        <a:rPr lang="en-GB" dirty="0"/>
                        <a:t>Class Diagram</a:t>
                      </a:r>
                    </a:p>
                  </a:txBody>
                  <a:tcPr/>
                </a:tc>
                <a:extLst>
                  <a:ext uri="{0D108BD9-81ED-4DB2-BD59-A6C34878D82A}">
                    <a16:rowId xmlns:a16="http://schemas.microsoft.com/office/drawing/2014/main" val="10000"/>
                  </a:ext>
                </a:extLst>
              </a:tr>
              <a:tr h="370840">
                <a:tc>
                  <a:txBody>
                    <a:bodyPr/>
                    <a:lstStyle/>
                    <a:p>
                      <a:r>
                        <a:rPr lang="en-GB" dirty="0"/>
                        <a:t>Degree of relationship e.g. 1:M,</a:t>
                      </a:r>
                      <a:r>
                        <a:rPr lang="en-GB" baseline="0" dirty="0"/>
                        <a:t> M:N etc</a:t>
                      </a:r>
                      <a:endParaRPr lang="en-GB" dirty="0"/>
                    </a:p>
                  </a:txBody>
                  <a:tcPr/>
                </a:tc>
                <a:tc>
                  <a:txBody>
                    <a:bodyPr/>
                    <a:lstStyle/>
                    <a:p>
                      <a:r>
                        <a:rPr lang="en-GB" dirty="0"/>
                        <a:t>Many is represented by a crows foot</a:t>
                      </a:r>
                    </a:p>
                  </a:txBody>
                  <a:tcPr/>
                </a:tc>
                <a:tc>
                  <a:txBody>
                    <a:bodyPr/>
                    <a:lstStyle/>
                    <a:p>
                      <a:r>
                        <a:rPr lang="en-GB" dirty="0"/>
                        <a:t>Shown</a:t>
                      </a:r>
                      <a:r>
                        <a:rPr lang="en-GB" baseline="0" dirty="0"/>
                        <a:t> as actual number</a:t>
                      </a:r>
                      <a:endParaRPr lang="en-GB" dirty="0"/>
                    </a:p>
                  </a:txBody>
                  <a:tcPr/>
                </a:tc>
                <a:extLst>
                  <a:ext uri="{0D108BD9-81ED-4DB2-BD59-A6C34878D82A}">
                    <a16:rowId xmlns:a16="http://schemas.microsoft.com/office/drawing/2014/main" val="10001"/>
                  </a:ext>
                </a:extLst>
              </a:tr>
              <a:tr h="370840">
                <a:tc>
                  <a:txBody>
                    <a:bodyPr/>
                    <a:lstStyle/>
                    <a:p>
                      <a:r>
                        <a:rPr lang="en-GB" dirty="0"/>
                        <a:t>Optional relationship</a:t>
                      </a:r>
                    </a:p>
                  </a:txBody>
                  <a:tcPr/>
                </a:tc>
                <a:tc>
                  <a:txBody>
                    <a:bodyPr/>
                    <a:lstStyle/>
                    <a:p>
                      <a:r>
                        <a:rPr lang="en-GB" dirty="0"/>
                        <a:t>Dotted line</a:t>
                      </a:r>
                    </a:p>
                  </a:txBody>
                  <a:tcPr/>
                </a:tc>
                <a:tc>
                  <a:txBody>
                    <a:bodyPr/>
                    <a:lstStyle/>
                    <a:p>
                      <a:r>
                        <a:rPr lang="en-GB" dirty="0"/>
                        <a:t>Shown by a zero</a:t>
                      </a:r>
                    </a:p>
                  </a:txBody>
                  <a:tcPr/>
                </a:tc>
                <a:extLst>
                  <a:ext uri="{0D108BD9-81ED-4DB2-BD59-A6C34878D82A}">
                    <a16:rowId xmlns:a16="http://schemas.microsoft.com/office/drawing/2014/main" val="10002"/>
                  </a:ext>
                </a:extLst>
              </a:tr>
              <a:tr h="370840">
                <a:tc>
                  <a:txBody>
                    <a:bodyPr/>
                    <a:lstStyle/>
                    <a:p>
                      <a:r>
                        <a:rPr lang="en-GB" dirty="0"/>
                        <a:t>Mandatory relationship</a:t>
                      </a:r>
                    </a:p>
                  </a:txBody>
                  <a:tcPr/>
                </a:tc>
                <a:tc>
                  <a:txBody>
                    <a:bodyPr/>
                    <a:lstStyle/>
                    <a:p>
                      <a:r>
                        <a:rPr lang="en-GB" dirty="0"/>
                        <a:t>Solid line</a:t>
                      </a:r>
                    </a:p>
                  </a:txBody>
                  <a:tcPr/>
                </a:tc>
                <a:tc>
                  <a:txBody>
                    <a:bodyPr/>
                    <a:lstStyle/>
                    <a:p>
                      <a:r>
                        <a:rPr lang="en-GB" dirty="0"/>
                        <a:t>Shown by 1</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53356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Associations</a:t>
            </a:r>
          </a:p>
        </p:txBody>
      </p:sp>
      <p:sp>
        <p:nvSpPr>
          <p:cNvPr id="3" name="Content Placeholder 2"/>
          <p:cNvSpPr>
            <a:spLocks noGrp="1"/>
          </p:cNvSpPr>
          <p:nvPr>
            <p:ph idx="1"/>
          </p:nvPr>
        </p:nvSpPr>
        <p:spPr/>
        <p:txBody>
          <a:bodyPr>
            <a:normAutofit/>
          </a:bodyPr>
          <a:lstStyle/>
          <a:p>
            <a:r>
              <a:rPr lang="en-GB" sz="2200" dirty="0"/>
              <a:t>Shows that two classes are related to each other</a:t>
            </a:r>
          </a:p>
          <a:p>
            <a:r>
              <a:rPr lang="en-GB" sz="2200" dirty="0"/>
              <a:t>Say that one class “has” the second class</a:t>
            </a:r>
          </a:p>
          <a:p>
            <a:pPr lvl="1"/>
            <a:r>
              <a:rPr lang="en-GB" sz="1800" dirty="0"/>
              <a:t>A planet has a resource/has resources</a:t>
            </a:r>
          </a:p>
          <a:p>
            <a:r>
              <a:rPr lang="en-GB" sz="2400" dirty="0"/>
              <a:t>Associations indicate a long-term relationships</a:t>
            </a:r>
          </a:p>
          <a:p>
            <a:r>
              <a:rPr lang="en-GB" sz="2400" dirty="0"/>
              <a:t>Associations can have names</a:t>
            </a:r>
          </a:p>
        </p:txBody>
      </p:sp>
      <p:grpSp>
        <p:nvGrpSpPr>
          <p:cNvPr id="28" name="Group 27"/>
          <p:cNvGrpSpPr/>
          <p:nvPr/>
        </p:nvGrpSpPr>
        <p:grpSpPr>
          <a:xfrm>
            <a:off x="7231104" y="4722590"/>
            <a:ext cx="2065337" cy="1511300"/>
            <a:chOff x="7392144" y="3645024"/>
            <a:chExt cx="2065337" cy="1511300"/>
          </a:xfrm>
        </p:grpSpPr>
        <p:sp>
          <p:nvSpPr>
            <p:cNvPr id="29" name="Rectangle 28"/>
            <p:cNvSpPr/>
            <p:nvPr/>
          </p:nvSpPr>
          <p:spPr>
            <a:xfrm>
              <a:off x="7392144" y="3645024"/>
              <a:ext cx="2065337" cy="1511300"/>
            </a:xfrm>
            <a:prstGeom prst="rect">
              <a:avLst/>
            </a:prstGeom>
            <a:noFill/>
            <a:ln w="127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GB">
                <a:solidFill>
                  <a:srgbClr val="FFFFFF"/>
                </a:solidFill>
              </a:endParaRPr>
            </a:p>
          </p:txBody>
        </p:sp>
        <p:cxnSp>
          <p:nvCxnSpPr>
            <p:cNvPr id="30" name="Straight Connector 29"/>
            <p:cNvCxnSpPr/>
            <p:nvPr/>
          </p:nvCxnSpPr>
          <p:spPr>
            <a:xfrm>
              <a:off x="7392144" y="4040311"/>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392144" y="4621336"/>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TextBox 14"/>
            <p:cNvSpPr txBox="1">
              <a:spLocks noChangeArrowheads="1"/>
            </p:cNvSpPr>
            <p:nvPr/>
          </p:nvSpPr>
          <p:spPr bwMode="auto">
            <a:xfrm>
              <a:off x="7838756" y="3645024"/>
              <a:ext cx="11721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GB" altLang="en-US" sz="1800" dirty="0">
                  <a:solidFill>
                    <a:srgbClr val="000000"/>
                  </a:solidFill>
                </a:rPr>
                <a:t>Resource</a:t>
              </a:r>
            </a:p>
          </p:txBody>
        </p:sp>
        <p:sp>
          <p:nvSpPr>
            <p:cNvPr id="33" name="TextBox 16"/>
            <p:cNvSpPr txBox="1">
              <a:spLocks noChangeArrowheads="1"/>
            </p:cNvSpPr>
            <p:nvPr/>
          </p:nvSpPr>
          <p:spPr bwMode="auto">
            <a:xfrm>
              <a:off x="7392144" y="4086349"/>
              <a:ext cx="200728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a:solidFill>
                    <a:srgbClr val="000000"/>
                  </a:solidFill>
                </a:rPr>
                <a:t>+ Name :	 	string</a:t>
              </a:r>
            </a:p>
            <a:p>
              <a:pPr eaLnBrk="1" hangingPunct="1">
                <a:spcBef>
                  <a:spcPct val="0"/>
                </a:spcBef>
                <a:buClrTx/>
                <a:buSzTx/>
                <a:buFontTx/>
                <a:buNone/>
              </a:pPr>
              <a:r>
                <a:rPr lang="en-GB" altLang="en-US" sz="1400" dirty="0">
                  <a:solidFill>
                    <a:srgbClr val="000000"/>
                  </a:solidFill>
                </a:rPr>
                <a:t># Amount :		</a:t>
              </a:r>
              <a:r>
                <a:rPr lang="en-GB" altLang="en-US" sz="1400" dirty="0" err="1">
                  <a:solidFill>
                    <a:srgbClr val="000000"/>
                  </a:solidFill>
                </a:rPr>
                <a:t>int</a:t>
              </a:r>
              <a:endParaRPr lang="en-GB" altLang="en-US" sz="1400" dirty="0">
                <a:solidFill>
                  <a:srgbClr val="000000"/>
                </a:solidFill>
              </a:endParaRPr>
            </a:p>
            <a:p>
              <a:pPr eaLnBrk="1" hangingPunct="1">
                <a:spcBef>
                  <a:spcPct val="0"/>
                </a:spcBef>
                <a:buClrTx/>
                <a:buSzTx/>
                <a:buFontTx/>
                <a:buNone/>
              </a:pPr>
              <a:endParaRPr lang="en-GB" altLang="en-US" sz="1400" dirty="0">
                <a:solidFill>
                  <a:srgbClr val="000000"/>
                </a:solidFill>
              </a:endParaRPr>
            </a:p>
          </p:txBody>
        </p:sp>
        <p:sp>
          <p:nvSpPr>
            <p:cNvPr id="34" name="TextBox 17"/>
            <p:cNvSpPr txBox="1">
              <a:spLocks noChangeArrowheads="1"/>
            </p:cNvSpPr>
            <p:nvPr/>
          </p:nvSpPr>
          <p:spPr bwMode="auto">
            <a:xfrm>
              <a:off x="7392144" y="4762624"/>
              <a:ext cx="18473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GB" altLang="en-US" sz="1400" dirty="0">
                <a:solidFill>
                  <a:srgbClr val="000000"/>
                </a:solidFill>
              </a:endParaRPr>
            </a:p>
          </p:txBody>
        </p:sp>
      </p:grpSp>
      <p:cxnSp>
        <p:nvCxnSpPr>
          <p:cNvPr id="35" name="Straight Connector 34"/>
          <p:cNvCxnSpPr>
            <a:endCxn id="29" idx="1"/>
          </p:cNvCxnSpPr>
          <p:nvPr/>
        </p:nvCxnSpPr>
        <p:spPr>
          <a:xfrm>
            <a:off x="4759937" y="5478240"/>
            <a:ext cx="2471167"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a:off x="2694600" y="4722590"/>
            <a:ext cx="2065337" cy="1511300"/>
            <a:chOff x="7392144" y="3645024"/>
            <a:chExt cx="2065337" cy="1511300"/>
          </a:xfrm>
        </p:grpSpPr>
        <p:sp>
          <p:nvSpPr>
            <p:cNvPr id="36" name="Rectangle 35"/>
            <p:cNvSpPr/>
            <p:nvPr/>
          </p:nvSpPr>
          <p:spPr>
            <a:xfrm>
              <a:off x="7392144" y="3645024"/>
              <a:ext cx="2065337" cy="1511300"/>
            </a:xfrm>
            <a:prstGeom prst="rect">
              <a:avLst/>
            </a:prstGeom>
            <a:noFill/>
            <a:ln w="127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GB">
                <a:solidFill>
                  <a:srgbClr val="FFFFFF"/>
                </a:solidFill>
              </a:endParaRPr>
            </a:p>
          </p:txBody>
        </p:sp>
        <p:cxnSp>
          <p:nvCxnSpPr>
            <p:cNvPr id="37" name="Straight Connector 36"/>
            <p:cNvCxnSpPr/>
            <p:nvPr/>
          </p:nvCxnSpPr>
          <p:spPr>
            <a:xfrm>
              <a:off x="7392144" y="4040311"/>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7392144" y="4621336"/>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TextBox 14"/>
            <p:cNvSpPr txBox="1">
              <a:spLocks noChangeArrowheads="1"/>
            </p:cNvSpPr>
            <p:nvPr/>
          </p:nvSpPr>
          <p:spPr bwMode="auto">
            <a:xfrm>
              <a:off x="8005467" y="3645024"/>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GB" altLang="en-US" sz="1800" dirty="0">
                  <a:solidFill>
                    <a:srgbClr val="000000"/>
                  </a:solidFill>
                </a:rPr>
                <a:t>Planet</a:t>
              </a:r>
            </a:p>
          </p:txBody>
        </p:sp>
        <p:sp>
          <p:nvSpPr>
            <p:cNvPr id="40" name="TextBox 16"/>
            <p:cNvSpPr txBox="1">
              <a:spLocks noChangeArrowheads="1"/>
            </p:cNvSpPr>
            <p:nvPr/>
          </p:nvSpPr>
          <p:spPr bwMode="auto">
            <a:xfrm>
              <a:off x="7392144" y="4086349"/>
              <a:ext cx="200728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a:solidFill>
                    <a:srgbClr val="000000"/>
                  </a:solidFill>
                </a:rPr>
                <a:t>+ </a:t>
              </a:r>
              <a:r>
                <a:rPr lang="en-GB" altLang="en-US" sz="1400" dirty="0" err="1">
                  <a:solidFill>
                    <a:srgbClr val="000000"/>
                  </a:solidFill>
                </a:rPr>
                <a:t>Planet_name</a:t>
              </a:r>
              <a:r>
                <a:rPr lang="en-GB" altLang="en-US" sz="1400" dirty="0">
                  <a:solidFill>
                    <a:srgbClr val="000000"/>
                  </a:solidFill>
                </a:rPr>
                <a:t> :	string</a:t>
              </a:r>
            </a:p>
            <a:p>
              <a:pPr eaLnBrk="1" hangingPunct="1">
                <a:spcBef>
                  <a:spcPct val="0"/>
                </a:spcBef>
                <a:buClrTx/>
                <a:buSzTx/>
                <a:buFontTx/>
                <a:buNone/>
              </a:pPr>
              <a:r>
                <a:rPr lang="en-GB" altLang="en-US" sz="1400" dirty="0">
                  <a:solidFill>
                    <a:srgbClr val="000000"/>
                  </a:solidFill>
                </a:rPr>
                <a:t>-  </a:t>
              </a:r>
              <a:r>
                <a:rPr lang="en-GB" altLang="en-US" sz="1400" dirty="0" err="1">
                  <a:solidFill>
                    <a:srgbClr val="000000"/>
                  </a:solidFill>
                </a:rPr>
                <a:t>Planet_size</a:t>
              </a:r>
              <a:r>
                <a:rPr lang="en-GB" altLang="en-US" sz="1400" dirty="0">
                  <a:solidFill>
                    <a:srgbClr val="000000"/>
                  </a:solidFill>
                </a:rPr>
                <a:t> :	</a:t>
              </a:r>
              <a:r>
                <a:rPr lang="en-GB" altLang="en-US" sz="1400" dirty="0" err="1">
                  <a:solidFill>
                    <a:srgbClr val="000000"/>
                  </a:solidFill>
                </a:rPr>
                <a:t>int</a:t>
              </a:r>
              <a:endParaRPr lang="en-GB" altLang="en-US" sz="1400" dirty="0">
                <a:solidFill>
                  <a:srgbClr val="000000"/>
                </a:solidFill>
              </a:endParaRPr>
            </a:p>
            <a:p>
              <a:pPr eaLnBrk="1" hangingPunct="1">
                <a:spcBef>
                  <a:spcPct val="0"/>
                </a:spcBef>
                <a:buClrTx/>
                <a:buSzTx/>
                <a:buFontTx/>
                <a:buNone/>
              </a:pPr>
              <a:endParaRPr lang="en-GB" altLang="en-US" sz="1400" dirty="0">
                <a:solidFill>
                  <a:srgbClr val="000000"/>
                </a:solidFill>
              </a:endParaRPr>
            </a:p>
            <a:p>
              <a:pPr eaLnBrk="1" hangingPunct="1">
                <a:spcBef>
                  <a:spcPct val="0"/>
                </a:spcBef>
                <a:buClrTx/>
                <a:buSzTx/>
                <a:buFontTx/>
                <a:buNone/>
              </a:pPr>
              <a:endParaRPr lang="en-GB" altLang="en-US" sz="1400" dirty="0">
                <a:solidFill>
                  <a:srgbClr val="000000"/>
                </a:solidFill>
              </a:endParaRPr>
            </a:p>
          </p:txBody>
        </p:sp>
        <p:sp>
          <p:nvSpPr>
            <p:cNvPr id="41" name="TextBox 17"/>
            <p:cNvSpPr txBox="1">
              <a:spLocks noChangeArrowheads="1"/>
            </p:cNvSpPr>
            <p:nvPr/>
          </p:nvSpPr>
          <p:spPr bwMode="auto">
            <a:xfrm>
              <a:off x="7392144" y="4762624"/>
              <a:ext cx="198964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a:solidFill>
                    <a:srgbClr val="000000"/>
                  </a:solidFill>
                </a:rPr>
                <a:t>+ </a:t>
              </a:r>
              <a:r>
                <a:rPr lang="en-GB" altLang="en-US" sz="1400" dirty="0" err="1">
                  <a:solidFill>
                    <a:srgbClr val="000000"/>
                  </a:solidFill>
                </a:rPr>
                <a:t>mineResources</a:t>
              </a:r>
              <a:r>
                <a:rPr lang="en-GB" altLang="en-US" sz="1400" dirty="0">
                  <a:solidFill>
                    <a:srgbClr val="000000"/>
                  </a:solidFill>
                </a:rPr>
                <a:t>(): </a:t>
              </a:r>
              <a:r>
                <a:rPr lang="en-GB" altLang="en-US" sz="1400" dirty="0" err="1">
                  <a:solidFill>
                    <a:srgbClr val="000000"/>
                  </a:solidFill>
                </a:rPr>
                <a:t>int</a:t>
              </a:r>
              <a:endParaRPr lang="en-GB" altLang="en-US" sz="1400" dirty="0">
                <a:solidFill>
                  <a:srgbClr val="000000"/>
                </a:solidFill>
              </a:endParaRPr>
            </a:p>
          </p:txBody>
        </p:sp>
      </p:grpSp>
      <p:sp>
        <p:nvSpPr>
          <p:cNvPr id="21" name="TextBox 20">
            <a:extLst>
              <a:ext uri="{FF2B5EF4-FFF2-40B4-BE49-F238E27FC236}">
                <a16:creationId xmlns:a16="http://schemas.microsoft.com/office/drawing/2014/main" id="{C4C70ED2-3252-4A0E-9363-57A96E7FBA1D}"/>
              </a:ext>
            </a:extLst>
          </p:cNvPr>
          <p:cNvSpPr txBox="1"/>
          <p:nvPr/>
        </p:nvSpPr>
        <p:spPr>
          <a:xfrm>
            <a:off x="5385673" y="5142449"/>
            <a:ext cx="1265187" cy="338554"/>
          </a:xfrm>
          <a:prstGeom prst="rect">
            <a:avLst/>
          </a:prstGeom>
          <a:noFill/>
        </p:spPr>
        <p:txBody>
          <a:bodyPr wrap="square" rtlCol="0">
            <a:spAutoFit/>
          </a:bodyPr>
          <a:lstStyle/>
          <a:p>
            <a:r>
              <a:rPr lang="en-GB" sz="1600" dirty="0"/>
              <a:t>Contains </a:t>
            </a:r>
          </a:p>
        </p:txBody>
      </p:sp>
    </p:spTree>
    <p:extLst>
      <p:ext uri="{BB962C8B-B14F-4D97-AF65-F5344CB8AC3E}">
        <p14:creationId xmlns:p14="http://schemas.microsoft.com/office/powerpoint/2010/main" val="3307478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Association Multiplicities</a:t>
            </a:r>
          </a:p>
        </p:txBody>
      </p:sp>
      <p:sp>
        <p:nvSpPr>
          <p:cNvPr id="3" name="Content Placeholder 2"/>
          <p:cNvSpPr>
            <a:spLocks noGrp="1"/>
          </p:cNvSpPr>
          <p:nvPr>
            <p:ph idx="1"/>
          </p:nvPr>
        </p:nvSpPr>
        <p:spPr>
          <a:xfrm>
            <a:off x="2151209" y="1722279"/>
            <a:ext cx="8915400" cy="3777622"/>
          </a:xfrm>
        </p:spPr>
        <p:txBody>
          <a:bodyPr>
            <a:normAutofit/>
          </a:bodyPr>
          <a:lstStyle/>
          <a:p>
            <a:r>
              <a:rPr lang="en-GB" sz="2200" dirty="0"/>
              <a:t>As with in-line attributes we can add multiplicities to associations</a:t>
            </a:r>
          </a:p>
          <a:p>
            <a:r>
              <a:rPr lang="en-GB" sz="2200" dirty="0"/>
              <a:t>No need for brackets this time</a:t>
            </a:r>
          </a:p>
          <a:p>
            <a:r>
              <a:rPr lang="en-GB" sz="2200" dirty="0"/>
              <a:t>Here one planet has zero or many resources</a:t>
            </a:r>
          </a:p>
        </p:txBody>
      </p:sp>
      <p:grpSp>
        <p:nvGrpSpPr>
          <p:cNvPr id="6" name="Group 5"/>
          <p:cNvGrpSpPr/>
          <p:nvPr/>
        </p:nvGrpSpPr>
        <p:grpSpPr>
          <a:xfrm>
            <a:off x="2172216" y="4412246"/>
            <a:ext cx="2065337" cy="1511300"/>
            <a:chOff x="7392144" y="3645024"/>
            <a:chExt cx="2065337" cy="1511300"/>
          </a:xfrm>
        </p:grpSpPr>
        <p:sp>
          <p:nvSpPr>
            <p:cNvPr id="7" name="Rectangle 6"/>
            <p:cNvSpPr/>
            <p:nvPr/>
          </p:nvSpPr>
          <p:spPr>
            <a:xfrm>
              <a:off x="7392144" y="3645024"/>
              <a:ext cx="2065337" cy="1511300"/>
            </a:xfrm>
            <a:prstGeom prst="rect">
              <a:avLst/>
            </a:prstGeom>
            <a:noFill/>
            <a:ln w="127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GB">
                <a:solidFill>
                  <a:srgbClr val="FFFFFF"/>
                </a:solidFill>
              </a:endParaRPr>
            </a:p>
          </p:txBody>
        </p:sp>
        <p:cxnSp>
          <p:nvCxnSpPr>
            <p:cNvPr id="8" name="Straight Connector 7"/>
            <p:cNvCxnSpPr/>
            <p:nvPr/>
          </p:nvCxnSpPr>
          <p:spPr>
            <a:xfrm>
              <a:off x="7392144" y="4040311"/>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392144" y="4621336"/>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14"/>
            <p:cNvSpPr txBox="1">
              <a:spLocks noChangeArrowheads="1"/>
            </p:cNvSpPr>
            <p:nvPr/>
          </p:nvSpPr>
          <p:spPr bwMode="auto">
            <a:xfrm>
              <a:off x="8005467" y="3645024"/>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GB" altLang="en-US" sz="1800" dirty="0">
                  <a:solidFill>
                    <a:srgbClr val="000000"/>
                  </a:solidFill>
                </a:rPr>
                <a:t>Planet</a:t>
              </a:r>
            </a:p>
          </p:txBody>
        </p:sp>
        <p:sp>
          <p:nvSpPr>
            <p:cNvPr id="11" name="TextBox 16"/>
            <p:cNvSpPr txBox="1">
              <a:spLocks noChangeArrowheads="1"/>
            </p:cNvSpPr>
            <p:nvPr/>
          </p:nvSpPr>
          <p:spPr bwMode="auto">
            <a:xfrm>
              <a:off x="7392144" y="4086349"/>
              <a:ext cx="200728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a:solidFill>
                    <a:srgbClr val="000000"/>
                  </a:solidFill>
                </a:rPr>
                <a:t>+ </a:t>
              </a:r>
              <a:r>
                <a:rPr lang="en-GB" altLang="en-US" sz="1400" dirty="0" err="1">
                  <a:solidFill>
                    <a:srgbClr val="000000"/>
                  </a:solidFill>
                </a:rPr>
                <a:t>Planet_name</a:t>
              </a:r>
              <a:r>
                <a:rPr lang="en-GB" altLang="en-US" sz="1400" dirty="0">
                  <a:solidFill>
                    <a:srgbClr val="000000"/>
                  </a:solidFill>
                </a:rPr>
                <a:t> :	string</a:t>
              </a:r>
            </a:p>
            <a:p>
              <a:pPr eaLnBrk="1" hangingPunct="1">
                <a:spcBef>
                  <a:spcPct val="0"/>
                </a:spcBef>
                <a:buClrTx/>
                <a:buSzTx/>
                <a:buFontTx/>
                <a:buNone/>
              </a:pPr>
              <a:r>
                <a:rPr lang="en-GB" altLang="en-US" sz="1400" dirty="0">
                  <a:solidFill>
                    <a:srgbClr val="000000"/>
                  </a:solidFill>
                </a:rPr>
                <a:t>-  </a:t>
              </a:r>
              <a:r>
                <a:rPr lang="en-GB" altLang="en-US" sz="1400" dirty="0" err="1">
                  <a:solidFill>
                    <a:srgbClr val="000000"/>
                  </a:solidFill>
                </a:rPr>
                <a:t>Planet_size</a:t>
              </a:r>
              <a:r>
                <a:rPr lang="en-GB" altLang="en-US" sz="1400" dirty="0">
                  <a:solidFill>
                    <a:srgbClr val="000000"/>
                  </a:solidFill>
                </a:rPr>
                <a:t> :	</a:t>
              </a:r>
              <a:r>
                <a:rPr lang="en-GB" altLang="en-US" sz="1400" dirty="0" err="1">
                  <a:solidFill>
                    <a:srgbClr val="000000"/>
                  </a:solidFill>
                </a:rPr>
                <a:t>int</a:t>
              </a:r>
              <a:endParaRPr lang="en-GB" altLang="en-US" sz="1400" dirty="0">
                <a:solidFill>
                  <a:srgbClr val="000000"/>
                </a:solidFill>
              </a:endParaRPr>
            </a:p>
            <a:p>
              <a:pPr eaLnBrk="1" hangingPunct="1">
                <a:spcBef>
                  <a:spcPct val="0"/>
                </a:spcBef>
                <a:buClrTx/>
                <a:buSzTx/>
                <a:buFontTx/>
                <a:buNone/>
              </a:pPr>
              <a:endParaRPr lang="en-GB" altLang="en-US" sz="1400" dirty="0">
                <a:solidFill>
                  <a:srgbClr val="000000"/>
                </a:solidFill>
              </a:endParaRPr>
            </a:p>
            <a:p>
              <a:pPr eaLnBrk="1" hangingPunct="1">
                <a:spcBef>
                  <a:spcPct val="0"/>
                </a:spcBef>
                <a:buClrTx/>
                <a:buSzTx/>
                <a:buFontTx/>
                <a:buNone/>
              </a:pPr>
              <a:endParaRPr lang="en-GB" altLang="en-US" sz="1400" dirty="0">
                <a:solidFill>
                  <a:srgbClr val="000000"/>
                </a:solidFill>
              </a:endParaRPr>
            </a:p>
          </p:txBody>
        </p:sp>
        <p:sp>
          <p:nvSpPr>
            <p:cNvPr id="12" name="TextBox 17"/>
            <p:cNvSpPr txBox="1">
              <a:spLocks noChangeArrowheads="1"/>
            </p:cNvSpPr>
            <p:nvPr/>
          </p:nvSpPr>
          <p:spPr bwMode="auto">
            <a:xfrm>
              <a:off x="7392144" y="4762624"/>
              <a:ext cx="198964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a:solidFill>
                    <a:srgbClr val="000000"/>
                  </a:solidFill>
                </a:rPr>
                <a:t>+ </a:t>
              </a:r>
              <a:r>
                <a:rPr lang="en-GB" altLang="en-US" sz="1400" dirty="0" err="1">
                  <a:solidFill>
                    <a:srgbClr val="000000"/>
                  </a:solidFill>
                </a:rPr>
                <a:t>mineResources</a:t>
              </a:r>
              <a:r>
                <a:rPr lang="en-GB" altLang="en-US" sz="1400" dirty="0">
                  <a:solidFill>
                    <a:srgbClr val="000000"/>
                  </a:solidFill>
                </a:rPr>
                <a:t>(): </a:t>
              </a:r>
              <a:r>
                <a:rPr lang="en-GB" altLang="en-US" sz="1400" dirty="0" err="1">
                  <a:solidFill>
                    <a:srgbClr val="000000"/>
                  </a:solidFill>
                </a:rPr>
                <a:t>int</a:t>
              </a:r>
              <a:endParaRPr lang="en-GB" altLang="en-US" sz="1400" dirty="0">
                <a:solidFill>
                  <a:srgbClr val="000000"/>
                </a:solidFill>
              </a:endParaRPr>
            </a:p>
          </p:txBody>
        </p:sp>
      </p:grpSp>
      <p:grpSp>
        <p:nvGrpSpPr>
          <p:cNvPr id="13" name="Group 12"/>
          <p:cNvGrpSpPr/>
          <p:nvPr/>
        </p:nvGrpSpPr>
        <p:grpSpPr>
          <a:xfrm>
            <a:off x="6708720" y="4412246"/>
            <a:ext cx="2065337" cy="1511300"/>
            <a:chOff x="7392144" y="3645024"/>
            <a:chExt cx="2065337" cy="1511300"/>
          </a:xfrm>
        </p:grpSpPr>
        <p:sp>
          <p:nvSpPr>
            <p:cNvPr id="14" name="Rectangle 13"/>
            <p:cNvSpPr/>
            <p:nvPr/>
          </p:nvSpPr>
          <p:spPr>
            <a:xfrm>
              <a:off x="7392144" y="3645024"/>
              <a:ext cx="2065337" cy="1511300"/>
            </a:xfrm>
            <a:prstGeom prst="rect">
              <a:avLst/>
            </a:prstGeom>
            <a:noFill/>
            <a:ln w="127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GB">
                <a:solidFill>
                  <a:srgbClr val="FFFFFF"/>
                </a:solidFill>
              </a:endParaRPr>
            </a:p>
          </p:txBody>
        </p:sp>
        <p:cxnSp>
          <p:nvCxnSpPr>
            <p:cNvPr id="15" name="Straight Connector 14"/>
            <p:cNvCxnSpPr/>
            <p:nvPr/>
          </p:nvCxnSpPr>
          <p:spPr>
            <a:xfrm>
              <a:off x="7392144" y="4040311"/>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7392144" y="4621336"/>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4"/>
            <p:cNvSpPr txBox="1">
              <a:spLocks noChangeArrowheads="1"/>
            </p:cNvSpPr>
            <p:nvPr/>
          </p:nvSpPr>
          <p:spPr bwMode="auto">
            <a:xfrm>
              <a:off x="7838756" y="3645024"/>
              <a:ext cx="11721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GB" altLang="en-US" sz="1800" dirty="0">
                  <a:solidFill>
                    <a:srgbClr val="000000"/>
                  </a:solidFill>
                </a:rPr>
                <a:t>Resource</a:t>
              </a:r>
            </a:p>
          </p:txBody>
        </p:sp>
        <p:sp>
          <p:nvSpPr>
            <p:cNvPr id="18" name="TextBox 16"/>
            <p:cNvSpPr txBox="1">
              <a:spLocks noChangeArrowheads="1"/>
            </p:cNvSpPr>
            <p:nvPr/>
          </p:nvSpPr>
          <p:spPr bwMode="auto">
            <a:xfrm>
              <a:off x="7392144" y="4086349"/>
              <a:ext cx="200728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a:solidFill>
                    <a:srgbClr val="000000"/>
                  </a:solidFill>
                </a:rPr>
                <a:t>+ Name :	 	string</a:t>
              </a:r>
            </a:p>
            <a:p>
              <a:pPr eaLnBrk="1" hangingPunct="1">
                <a:spcBef>
                  <a:spcPct val="0"/>
                </a:spcBef>
                <a:buClrTx/>
                <a:buSzTx/>
                <a:buFontTx/>
                <a:buNone/>
              </a:pPr>
              <a:r>
                <a:rPr lang="en-GB" altLang="en-US" sz="1400" dirty="0">
                  <a:solidFill>
                    <a:srgbClr val="000000"/>
                  </a:solidFill>
                </a:rPr>
                <a:t># Amount :		</a:t>
              </a:r>
              <a:r>
                <a:rPr lang="en-GB" altLang="en-US" sz="1400" dirty="0" err="1">
                  <a:solidFill>
                    <a:srgbClr val="000000"/>
                  </a:solidFill>
                </a:rPr>
                <a:t>int</a:t>
              </a:r>
              <a:endParaRPr lang="en-GB" altLang="en-US" sz="1400" dirty="0">
                <a:solidFill>
                  <a:srgbClr val="000000"/>
                </a:solidFill>
              </a:endParaRPr>
            </a:p>
            <a:p>
              <a:pPr eaLnBrk="1" hangingPunct="1">
                <a:spcBef>
                  <a:spcPct val="0"/>
                </a:spcBef>
                <a:buClrTx/>
                <a:buSzTx/>
                <a:buFontTx/>
                <a:buNone/>
              </a:pPr>
              <a:endParaRPr lang="en-GB" altLang="en-US" sz="1400" dirty="0">
                <a:solidFill>
                  <a:srgbClr val="000000"/>
                </a:solidFill>
              </a:endParaRPr>
            </a:p>
          </p:txBody>
        </p:sp>
        <p:sp>
          <p:nvSpPr>
            <p:cNvPr id="19" name="TextBox 17"/>
            <p:cNvSpPr txBox="1">
              <a:spLocks noChangeArrowheads="1"/>
            </p:cNvSpPr>
            <p:nvPr/>
          </p:nvSpPr>
          <p:spPr bwMode="auto">
            <a:xfrm>
              <a:off x="7392144" y="4762624"/>
              <a:ext cx="18473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GB" altLang="en-US" sz="1400" dirty="0">
                <a:solidFill>
                  <a:srgbClr val="000000"/>
                </a:solidFill>
              </a:endParaRPr>
            </a:p>
          </p:txBody>
        </p:sp>
      </p:grpSp>
      <p:sp>
        <p:nvSpPr>
          <p:cNvPr id="21" name="TextBox 20"/>
          <p:cNvSpPr txBox="1"/>
          <p:nvPr/>
        </p:nvSpPr>
        <p:spPr>
          <a:xfrm>
            <a:off x="4731763" y="4799397"/>
            <a:ext cx="1265187" cy="338554"/>
          </a:xfrm>
          <a:prstGeom prst="rect">
            <a:avLst/>
          </a:prstGeom>
          <a:noFill/>
        </p:spPr>
        <p:txBody>
          <a:bodyPr wrap="square" rtlCol="0">
            <a:spAutoFit/>
          </a:bodyPr>
          <a:lstStyle/>
          <a:p>
            <a:r>
              <a:rPr lang="en-GB" sz="1600" dirty="0"/>
              <a:t>Contains</a:t>
            </a:r>
          </a:p>
        </p:txBody>
      </p:sp>
      <p:sp>
        <p:nvSpPr>
          <p:cNvPr id="22" name="TextBox 21"/>
          <p:cNvSpPr txBox="1"/>
          <p:nvPr/>
        </p:nvSpPr>
        <p:spPr>
          <a:xfrm>
            <a:off x="4232117" y="5271678"/>
            <a:ext cx="289920" cy="338554"/>
          </a:xfrm>
          <a:prstGeom prst="rect">
            <a:avLst/>
          </a:prstGeom>
          <a:noFill/>
        </p:spPr>
        <p:txBody>
          <a:bodyPr wrap="square" rtlCol="0">
            <a:spAutoFit/>
          </a:bodyPr>
          <a:lstStyle/>
          <a:p>
            <a:r>
              <a:rPr lang="en-GB" sz="1600" dirty="0"/>
              <a:t>1</a:t>
            </a:r>
            <a:endParaRPr lang="en-GB" dirty="0"/>
          </a:p>
        </p:txBody>
      </p:sp>
      <p:sp>
        <p:nvSpPr>
          <p:cNvPr id="23" name="TextBox 22"/>
          <p:cNvSpPr txBox="1"/>
          <p:nvPr/>
        </p:nvSpPr>
        <p:spPr>
          <a:xfrm>
            <a:off x="6128379" y="5314402"/>
            <a:ext cx="591713" cy="369332"/>
          </a:xfrm>
          <a:prstGeom prst="rect">
            <a:avLst/>
          </a:prstGeom>
          <a:noFill/>
        </p:spPr>
        <p:txBody>
          <a:bodyPr wrap="square" rtlCol="0">
            <a:spAutoFit/>
          </a:bodyPr>
          <a:lstStyle/>
          <a:p>
            <a:r>
              <a:rPr lang="en-GB" dirty="0"/>
              <a:t>0..*</a:t>
            </a:r>
          </a:p>
        </p:txBody>
      </p:sp>
      <p:cxnSp>
        <p:nvCxnSpPr>
          <p:cNvPr id="25" name="Straight Connector 24">
            <a:extLst>
              <a:ext uri="{FF2B5EF4-FFF2-40B4-BE49-F238E27FC236}">
                <a16:creationId xmlns:a16="http://schemas.microsoft.com/office/drawing/2014/main" id="{C7BED12A-2702-47B4-9579-FAD82AD01F17}"/>
              </a:ext>
            </a:extLst>
          </p:cNvPr>
          <p:cNvCxnSpPr/>
          <p:nvPr/>
        </p:nvCxnSpPr>
        <p:spPr>
          <a:xfrm>
            <a:off x="4232117" y="5137951"/>
            <a:ext cx="2487975"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63371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7603" y="629898"/>
            <a:ext cx="9905998" cy="910837"/>
          </a:xfrm>
        </p:spPr>
        <p:txBody>
          <a:bodyPr/>
          <a:lstStyle/>
          <a:p>
            <a:r>
              <a:rPr lang="en-GB" dirty="0"/>
              <a:t>Association class</a:t>
            </a:r>
          </a:p>
        </p:txBody>
      </p:sp>
      <p:sp>
        <p:nvSpPr>
          <p:cNvPr id="3" name="Content Placeholder 2"/>
          <p:cNvSpPr>
            <a:spLocks noGrp="1"/>
          </p:cNvSpPr>
          <p:nvPr>
            <p:ph idx="1"/>
          </p:nvPr>
        </p:nvSpPr>
        <p:spPr>
          <a:xfrm>
            <a:off x="1838324" y="1574362"/>
            <a:ext cx="8229600" cy="4525963"/>
          </a:xfrm>
        </p:spPr>
        <p:txBody>
          <a:bodyPr>
            <a:normAutofit/>
          </a:bodyPr>
          <a:lstStyle/>
          <a:p>
            <a:r>
              <a:rPr lang="en-GB" dirty="0"/>
              <a:t>The link table in object oriented is know as an Association class, this may have been discovered using normalisation</a:t>
            </a:r>
          </a:p>
          <a:p>
            <a:r>
              <a:rPr lang="en-GB" dirty="0"/>
              <a:t>Normalisation removes duplication, class diagrams are allowed to contain un-normalised relations if they correspond to the user’s view of the system</a:t>
            </a:r>
          </a:p>
        </p:txBody>
      </p:sp>
      <p:cxnSp>
        <p:nvCxnSpPr>
          <p:cNvPr id="5" name="Straight Connector 4"/>
          <p:cNvCxnSpPr/>
          <p:nvPr/>
        </p:nvCxnSpPr>
        <p:spPr>
          <a:xfrm>
            <a:off x="3844985" y="3725201"/>
            <a:ext cx="11430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a:cxnSpLocks/>
          </p:cNvCxnSpPr>
          <p:nvPr/>
        </p:nvCxnSpPr>
        <p:spPr>
          <a:xfrm>
            <a:off x="6736197" y="3697905"/>
            <a:ext cx="135991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41" name="Group 40"/>
          <p:cNvGrpSpPr/>
          <p:nvPr/>
        </p:nvGrpSpPr>
        <p:grpSpPr>
          <a:xfrm>
            <a:off x="2027179" y="3340669"/>
            <a:ext cx="7851889" cy="3514796"/>
            <a:chOff x="428595" y="3238931"/>
            <a:chExt cx="8179652" cy="3820595"/>
          </a:xfrm>
        </p:grpSpPr>
        <p:grpSp>
          <p:nvGrpSpPr>
            <p:cNvPr id="35" name="Group 34"/>
            <p:cNvGrpSpPr/>
            <p:nvPr/>
          </p:nvGrpSpPr>
          <p:grpSpPr>
            <a:xfrm>
              <a:off x="4929190" y="5286388"/>
              <a:ext cx="1857388" cy="1773138"/>
              <a:chOff x="4929190" y="5040474"/>
              <a:chExt cx="1857388" cy="1773138"/>
            </a:xfrm>
          </p:grpSpPr>
          <p:sp>
            <p:nvSpPr>
              <p:cNvPr id="26" name="TextBox 25"/>
              <p:cNvSpPr txBox="1"/>
              <p:nvPr/>
            </p:nvSpPr>
            <p:spPr>
              <a:xfrm>
                <a:off x="4929190" y="5040474"/>
                <a:ext cx="1857388" cy="1773138"/>
              </a:xfrm>
              <a:prstGeom prst="rect">
                <a:avLst/>
              </a:prstGeom>
              <a:noFill/>
              <a:ln>
                <a:solidFill>
                  <a:schemeClr val="tx1"/>
                </a:solidFill>
              </a:ln>
            </p:spPr>
            <p:txBody>
              <a:bodyPr wrap="square" rtlCol="0">
                <a:spAutoFit/>
              </a:bodyPr>
              <a:lstStyle/>
              <a:p>
                <a:pPr algn="ctr"/>
                <a:r>
                  <a:rPr lang="en-GB" sz="1600" dirty="0"/>
                  <a:t>Module</a:t>
                </a:r>
              </a:p>
              <a:p>
                <a:pPr algn="ctr"/>
                <a:r>
                  <a:rPr lang="en-GB" sz="1600" dirty="0"/>
                  <a:t>Enrolment</a:t>
                </a:r>
              </a:p>
              <a:p>
                <a:endParaRPr lang="en-GB" dirty="0"/>
              </a:p>
              <a:p>
                <a:r>
                  <a:rPr lang="en-GB" sz="1400" dirty="0"/>
                  <a:t>+Grade</a:t>
                </a:r>
              </a:p>
              <a:p>
                <a:endParaRPr lang="en-GB" dirty="0"/>
              </a:p>
              <a:p>
                <a:endParaRPr lang="en-GB" dirty="0"/>
              </a:p>
            </p:txBody>
          </p:sp>
          <p:cxnSp>
            <p:nvCxnSpPr>
              <p:cNvPr id="27" name="Straight Connector 26"/>
              <p:cNvCxnSpPr/>
              <p:nvPr/>
            </p:nvCxnSpPr>
            <p:spPr>
              <a:xfrm>
                <a:off x="4929190" y="6180501"/>
                <a:ext cx="18573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4929190" y="5611978"/>
                <a:ext cx="1857388"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0" name="Group 39"/>
            <p:cNvGrpSpPr/>
            <p:nvPr/>
          </p:nvGrpSpPr>
          <p:grpSpPr>
            <a:xfrm>
              <a:off x="428595" y="3238931"/>
              <a:ext cx="8179652" cy="2047457"/>
              <a:chOff x="428595" y="3238931"/>
              <a:chExt cx="8179652" cy="2047457"/>
            </a:xfrm>
          </p:grpSpPr>
          <p:grpSp>
            <p:nvGrpSpPr>
              <p:cNvPr id="8" name="Group 27"/>
              <p:cNvGrpSpPr/>
              <p:nvPr/>
            </p:nvGrpSpPr>
            <p:grpSpPr>
              <a:xfrm>
                <a:off x="428595" y="3238931"/>
                <a:ext cx="8179652" cy="1960480"/>
                <a:chOff x="357157" y="2524551"/>
                <a:chExt cx="8179652" cy="1960480"/>
              </a:xfrm>
            </p:grpSpPr>
            <p:grpSp>
              <p:nvGrpSpPr>
                <p:cNvPr id="9" name="Group 3"/>
                <p:cNvGrpSpPr/>
                <p:nvPr/>
              </p:nvGrpSpPr>
              <p:grpSpPr>
                <a:xfrm>
                  <a:off x="3428992" y="2643182"/>
                  <a:ext cx="1857388" cy="1773137"/>
                  <a:chOff x="1857356" y="4572008"/>
                  <a:chExt cx="1857388" cy="1773137"/>
                </a:xfrm>
              </p:grpSpPr>
              <p:sp>
                <p:nvSpPr>
                  <p:cNvPr id="23" name="TextBox 22"/>
                  <p:cNvSpPr txBox="1"/>
                  <p:nvPr/>
                </p:nvSpPr>
                <p:spPr>
                  <a:xfrm>
                    <a:off x="1857356" y="4572008"/>
                    <a:ext cx="1857388" cy="1773137"/>
                  </a:xfrm>
                  <a:prstGeom prst="rect">
                    <a:avLst/>
                  </a:prstGeom>
                  <a:noFill/>
                  <a:ln>
                    <a:solidFill>
                      <a:schemeClr val="tx1"/>
                    </a:solidFill>
                  </a:ln>
                </p:spPr>
                <p:txBody>
                  <a:bodyPr wrap="square" rtlCol="0">
                    <a:spAutoFit/>
                  </a:bodyPr>
                  <a:lstStyle/>
                  <a:p>
                    <a:pPr algn="ctr"/>
                    <a:r>
                      <a:rPr lang="en-GB" sz="1600" dirty="0"/>
                      <a:t>Student</a:t>
                    </a:r>
                  </a:p>
                  <a:p>
                    <a:endParaRPr lang="en-GB" dirty="0"/>
                  </a:p>
                  <a:p>
                    <a:r>
                      <a:rPr lang="en-GB" sz="1400" dirty="0"/>
                      <a:t>+Student Number</a:t>
                    </a:r>
                  </a:p>
                  <a:p>
                    <a:r>
                      <a:rPr lang="en-GB" sz="1400" dirty="0"/>
                      <a:t>-Student Name</a:t>
                    </a:r>
                  </a:p>
                  <a:p>
                    <a:endParaRPr lang="en-GB" dirty="0"/>
                  </a:p>
                  <a:p>
                    <a:endParaRPr lang="en-GB" dirty="0"/>
                  </a:p>
                </p:txBody>
              </p:sp>
              <p:cxnSp>
                <p:nvCxnSpPr>
                  <p:cNvPr id="24" name="Straight Connector 5"/>
                  <p:cNvCxnSpPr/>
                  <p:nvPr/>
                </p:nvCxnSpPr>
                <p:spPr>
                  <a:xfrm>
                    <a:off x="1857356" y="5000636"/>
                    <a:ext cx="18573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6"/>
                  <p:cNvCxnSpPr/>
                  <p:nvPr/>
                </p:nvCxnSpPr>
                <p:spPr>
                  <a:xfrm>
                    <a:off x="1857356" y="5857892"/>
                    <a:ext cx="1857388"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0" name="Group 9"/>
                <p:cNvGrpSpPr/>
                <p:nvPr/>
              </p:nvGrpSpPr>
              <p:grpSpPr>
                <a:xfrm>
                  <a:off x="357157" y="2640524"/>
                  <a:ext cx="1875248" cy="1773137"/>
                  <a:chOff x="4857751" y="4569350"/>
                  <a:chExt cx="1875248" cy="1773137"/>
                </a:xfrm>
              </p:grpSpPr>
              <p:sp>
                <p:nvSpPr>
                  <p:cNvPr id="20" name="TextBox 8"/>
                  <p:cNvSpPr txBox="1"/>
                  <p:nvPr/>
                </p:nvSpPr>
                <p:spPr>
                  <a:xfrm>
                    <a:off x="4875611" y="4569350"/>
                    <a:ext cx="1857388" cy="1773137"/>
                  </a:xfrm>
                  <a:prstGeom prst="rect">
                    <a:avLst/>
                  </a:prstGeom>
                  <a:noFill/>
                  <a:ln>
                    <a:solidFill>
                      <a:schemeClr val="tx1"/>
                    </a:solidFill>
                  </a:ln>
                </p:spPr>
                <p:txBody>
                  <a:bodyPr wrap="square" rtlCol="0">
                    <a:spAutoFit/>
                  </a:bodyPr>
                  <a:lstStyle/>
                  <a:p>
                    <a:pPr algn="ctr"/>
                    <a:r>
                      <a:rPr lang="en-GB" sz="1600" dirty="0"/>
                      <a:t>Course</a:t>
                    </a:r>
                  </a:p>
                  <a:p>
                    <a:endParaRPr lang="en-GB" dirty="0"/>
                  </a:p>
                  <a:p>
                    <a:r>
                      <a:rPr lang="en-GB" sz="1400" dirty="0"/>
                      <a:t>+Course Code</a:t>
                    </a:r>
                  </a:p>
                  <a:p>
                    <a:r>
                      <a:rPr lang="en-GB" sz="1400" dirty="0"/>
                      <a:t>-Course Title</a:t>
                    </a:r>
                  </a:p>
                  <a:p>
                    <a:endParaRPr lang="en-GB" dirty="0"/>
                  </a:p>
                  <a:p>
                    <a:endParaRPr lang="en-GB" dirty="0"/>
                  </a:p>
                </p:txBody>
              </p:sp>
              <p:cxnSp>
                <p:nvCxnSpPr>
                  <p:cNvPr id="21" name="Straight Connector 20"/>
                  <p:cNvCxnSpPr/>
                  <p:nvPr/>
                </p:nvCxnSpPr>
                <p:spPr>
                  <a:xfrm>
                    <a:off x="4857751" y="5000636"/>
                    <a:ext cx="18573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4857751" y="5857892"/>
                    <a:ext cx="1857388"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1" name="Group 11"/>
                <p:cNvGrpSpPr/>
                <p:nvPr/>
              </p:nvGrpSpPr>
              <p:grpSpPr>
                <a:xfrm>
                  <a:off x="6679421" y="2611527"/>
                  <a:ext cx="1857388" cy="1873504"/>
                  <a:chOff x="2107389" y="4540353"/>
                  <a:chExt cx="1857388" cy="1873504"/>
                </a:xfrm>
              </p:grpSpPr>
              <p:sp>
                <p:nvSpPr>
                  <p:cNvPr id="17" name="TextBox 16"/>
                  <p:cNvSpPr txBox="1"/>
                  <p:nvPr/>
                </p:nvSpPr>
                <p:spPr>
                  <a:xfrm>
                    <a:off x="2107389" y="4540353"/>
                    <a:ext cx="1857388" cy="1873504"/>
                  </a:xfrm>
                  <a:prstGeom prst="rect">
                    <a:avLst/>
                  </a:prstGeom>
                  <a:noFill/>
                  <a:ln>
                    <a:solidFill>
                      <a:schemeClr val="tx1"/>
                    </a:solidFill>
                  </a:ln>
                </p:spPr>
                <p:txBody>
                  <a:bodyPr wrap="square" rtlCol="0">
                    <a:spAutoFit/>
                  </a:bodyPr>
                  <a:lstStyle/>
                  <a:p>
                    <a:pPr algn="ctr"/>
                    <a:r>
                      <a:rPr lang="en-GB" sz="1600" dirty="0"/>
                      <a:t>Module</a:t>
                    </a:r>
                  </a:p>
                  <a:p>
                    <a:endParaRPr lang="en-GB" dirty="0"/>
                  </a:p>
                  <a:p>
                    <a:r>
                      <a:rPr lang="en-GB" sz="1600" dirty="0"/>
                      <a:t>+Module Code</a:t>
                    </a:r>
                  </a:p>
                  <a:p>
                    <a:r>
                      <a:rPr lang="en-GB" sz="1600" dirty="0"/>
                      <a:t>-Module Title</a:t>
                    </a:r>
                  </a:p>
                  <a:p>
                    <a:endParaRPr lang="en-GB" dirty="0"/>
                  </a:p>
                  <a:p>
                    <a:endParaRPr lang="en-GB" dirty="0"/>
                  </a:p>
                </p:txBody>
              </p:sp>
              <p:cxnSp>
                <p:nvCxnSpPr>
                  <p:cNvPr id="18" name="Straight Connector 17"/>
                  <p:cNvCxnSpPr/>
                  <p:nvPr/>
                </p:nvCxnSpPr>
                <p:spPr>
                  <a:xfrm>
                    <a:off x="2107389" y="5000636"/>
                    <a:ext cx="18573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107389" y="5857892"/>
                    <a:ext cx="1857388"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2" name="TextBox 11"/>
                <p:cNvSpPr txBox="1"/>
                <p:nvPr/>
              </p:nvSpPr>
              <p:spPr>
                <a:xfrm>
                  <a:off x="2214546" y="3000373"/>
                  <a:ext cx="1643074" cy="334555"/>
                </a:xfrm>
                <a:prstGeom prst="rect">
                  <a:avLst/>
                </a:prstGeom>
                <a:noFill/>
              </p:spPr>
              <p:txBody>
                <a:bodyPr wrap="square" rtlCol="0">
                  <a:spAutoFit/>
                </a:bodyPr>
                <a:lstStyle/>
                <a:p>
                  <a:r>
                    <a:rPr lang="en-GB" sz="1400" dirty="0"/>
                    <a:t>1            0..*</a:t>
                  </a:r>
                </a:p>
              </p:txBody>
            </p:sp>
            <p:sp>
              <p:nvSpPr>
                <p:cNvPr id="13" name="TextBox 12"/>
                <p:cNvSpPr txBox="1"/>
                <p:nvPr/>
              </p:nvSpPr>
              <p:spPr>
                <a:xfrm>
                  <a:off x="5286380" y="3000373"/>
                  <a:ext cx="1643074" cy="334555"/>
                </a:xfrm>
                <a:prstGeom prst="rect">
                  <a:avLst/>
                </a:prstGeom>
                <a:noFill/>
              </p:spPr>
              <p:txBody>
                <a:bodyPr wrap="square" rtlCol="0">
                  <a:spAutoFit/>
                </a:bodyPr>
                <a:lstStyle/>
                <a:p>
                  <a:r>
                    <a:rPr lang="en-GB" sz="1400" dirty="0"/>
                    <a:t>0..*            1..*</a:t>
                  </a:r>
                </a:p>
              </p:txBody>
            </p:sp>
            <p:sp>
              <p:nvSpPr>
                <p:cNvPr id="14" name="TextBox 13"/>
                <p:cNvSpPr txBox="1"/>
                <p:nvPr/>
              </p:nvSpPr>
              <p:spPr>
                <a:xfrm>
                  <a:off x="1910935" y="2556026"/>
                  <a:ext cx="1643074" cy="369332"/>
                </a:xfrm>
                <a:prstGeom prst="rect">
                  <a:avLst/>
                </a:prstGeom>
                <a:noFill/>
              </p:spPr>
              <p:txBody>
                <a:bodyPr wrap="square" rtlCol="0">
                  <a:spAutoFit/>
                </a:bodyPr>
                <a:lstStyle/>
                <a:p>
                  <a:r>
                    <a:rPr lang="en-GB" dirty="0"/>
                    <a:t>    </a:t>
                  </a:r>
                  <a:r>
                    <a:rPr lang="en-GB" sz="1400" dirty="0"/>
                    <a:t>Enrolled on</a:t>
                  </a:r>
                </a:p>
              </p:txBody>
            </p:sp>
            <p:sp>
              <p:nvSpPr>
                <p:cNvPr id="16" name="TextBox 15"/>
                <p:cNvSpPr txBox="1"/>
                <p:nvPr/>
              </p:nvSpPr>
              <p:spPr>
                <a:xfrm>
                  <a:off x="5286379" y="2524551"/>
                  <a:ext cx="1643074" cy="369332"/>
                </a:xfrm>
                <a:prstGeom prst="rect">
                  <a:avLst/>
                </a:prstGeom>
                <a:noFill/>
              </p:spPr>
              <p:txBody>
                <a:bodyPr wrap="square" rtlCol="0">
                  <a:spAutoFit/>
                </a:bodyPr>
                <a:lstStyle/>
                <a:p>
                  <a:r>
                    <a:rPr lang="en-GB" dirty="0"/>
                    <a:t>  </a:t>
                  </a:r>
                  <a:r>
                    <a:rPr lang="en-GB" sz="1400" dirty="0"/>
                    <a:t>studies</a:t>
                  </a:r>
                </a:p>
              </p:txBody>
            </p:sp>
          </p:grpSp>
          <p:cxnSp>
            <p:nvCxnSpPr>
              <p:cNvPr id="31" name="Straight Connector 30"/>
              <p:cNvCxnSpPr/>
              <p:nvPr/>
            </p:nvCxnSpPr>
            <p:spPr>
              <a:xfrm rot="5400000">
                <a:off x="5107785" y="4464851"/>
                <a:ext cx="1643074" cy="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0903653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Dependency </a:t>
            </a:r>
          </a:p>
        </p:txBody>
      </p:sp>
      <p:sp>
        <p:nvSpPr>
          <p:cNvPr id="3" name="Content Placeholder 2"/>
          <p:cNvSpPr>
            <a:spLocks noGrp="1"/>
          </p:cNvSpPr>
          <p:nvPr>
            <p:ph idx="1"/>
          </p:nvPr>
        </p:nvSpPr>
        <p:spPr/>
        <p:txBody>
          <a:bodyPr>
            <a:normAutofit/>
          </a:bodyPr>
          <a:lstStyle/>
          <a:p>
            <a:r>
              <a:rPr lang="en-GB" sz="2200" dirty="0"/>
              <a:t>Shows that one class relies on another</a:t>
            </a:r>
          </a:p>
          <a:p>
            <a:r>
              <a:rPr lang="en-GB" sz="2200" dirty="0"/>
              <a:t>Say that one class “uses” the second class</a:t>
            </a:r>
          </a:p>
          <a:p>
            <a:pPr lvl="1">
              <a:buFont typeface="Arial" panose="020B0604020202020204" pitchFamily="34" charset="0"/>
              <a:buChar char="•"/>
            </a:pPr>
            <a:r>
              <a:rPr lang="en-GB" sz="2000" dirty="0"/>
              <a:t>Ships use resources</a:t>
            </a:r>
          </a:p>
          <a:p>
            <a:pPr marL="0" indent="0">
              <a:buNone/>
            </a:pPr>
            <a:r>
              <a:rPr lang="en-GB" sz="2200" dirty="0"/>
              <a:t>  Dependencies indicate short-term relationships</a:t>
            </a:r>
          </a:p>
        </p:txBody>
      </p:sp>
      <p:grpSp>
        <p:nvGrpSpPr>
          <p:cNvPr id="5" name="Group 4"/>
          <p:cNvGrpSpPr/>
          <p:nvPr/>
        </p:nvGrpSpPr>
        <p:grpSpPr>
          <a:xfrm>
            <a:off x="2772718" y="4356018"/>
            <a:ext cx="2065337" cy="1555204"/>
            <a:chOff x="7392144" y="3645024"/>
            <a:chExt cx="2065337" cy="1555204"/>
          </a:xfrm>
        </p:grpSpPr>
        <p:sp>
          <p:nvSpPr>
            <p:cNvPr id="6" name="Rectangle 5"/>
            <p:cNvSpPr/>
            <p:nvPr/>
          </p:nvSpPr>
          <p:spPr>
            <a:xfrm>
              <a:off x="7392144" y="3645024"/>
              <a:ext cx="2065337" cy="1511300"/>
            </a:xfrm>
            <a:prstGeom prst="rect">
              <a:avLst/>
            </a:prstGeom>
            <a:noFill/>
            <a:ln w="127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GB">
                <a:solidFill>
                  <a:srgbClr val="FFFFFF"/>
                </a:solidFill>
              </a:endParaRPr>
            </a:p>
          </p:txBody>
        </p:sp>
        <p:cxnSp>
          <p:nvCxnSpPr>
            <p:cNvPr id="7" name="Straight Connector 6"/>
            <p:cNvCxnSpPr/>
            <p:nvPr/>
          </p:nvCxnSpPr>
          <p:spPr>
            <a:xfrm>
              <a:off x="7392144" y="4040311"/>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7392144" y="4621336"/>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14"/>
            <p:cNvSpPr txBox="1">
              <a:spLocks noChangeArrowheads="1"/>
            </p:cNvSpPr>
            <p:nvPr/>
          </p:nvSpPr>
          <p:spPr bwMode="auto">
            <a:xfrm>
              <a:off x="8101648" y="364502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GB" altLang="en-US" sz="1800" dirty="0">
                  <a:solidFill>
                    <a:srgbClr val="000000"/>
                  </a:solidFill>
                </a:rPr>
                <a:t>Ship</a:t>
              </a:r>
            </a:p>
          </p:txBody>
        </p:sp>
        <p:sp>
          <p:nvSpPr>
            <p:cNvPr id="10" name="TextBox 16"/>
            <p:cNvSpPr txBox="1">
              <a:spLocks noChangeArrowheads="1"/>
            </p:cNvSpPr>
            <p:nvPr/>
          </p:nvSpPr>
          <p:spPr bwMode="auto">
            <a:xfrm>
              <a:off x="7392144" y="4086349"/>
              <a:ext cx="200728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a:solidFill>
                    <a:srgbClr val="000000"/>
                  </a:solidFill>
                </a:rPr>
                <a:t>+ name :		string</a:t>
              </a:r>
            </a:p>
            <a:p>
              <a:pPr eaLnBrk="1" hangingPunct="1">
                <a:spcBef>
                  <a:spcPct val="0"/>
                </a:spcBef>
                <a:buClrTx/>
                <a:buSzTx/>
                <a:buFontTx/>
                <a:buNone/>
              </a:pPr>
              <a:r>
                <a:rPr lang="en-GB" altLang="en-US" sz="1400" dirty="0">
                  <a:solidFill>
                    <a:srgbClr val="000000"/>
                  </a:solidFill>
                </a:rPr>
                <a:t>- </a:t>
              </a:r>
              <a:r>
                <a:rPr lang="en-GB" altLang="en-US" sz="1400" dirty="0" err="1">
                  <a:solidFill>
                    <a:srgbClr val="000000"/>
                  </a:solidFill>
                </a:rPr>
                <a:t>max_speed</a:t>
              </a:r>
              <a:r>
                <a:rPr lang="en-GB" altLang="en-US" sz="1400" dirty="0">
                  <a:solidFill>
                    <a:srgbClr val="000000"/>
                  </a:solidFill>
                </a:rPr>
                <a:t> :	</a:t>
              </a:r>
              <a:r>
                <a:rPr lang="en-GB" altLang="en-US" sz="1400" dirty="0" err="1">
                  <a:solidFill>
                    <a:srgbClr val="000000"/>
                  </a:solidFill>
                </a:rPr>
                <a:t>int</a:t>
              </a:r>
              <a:endParaRPr lang="en-GB" altLang="en-US" sz="1400" dirty="0">
                <a:solidFill>
                  <a:srgbClr val="000000"/>
                </a:solidFill>
              </a:endParaRPr>
            </a:p>
            <a:p>
              <a:pPr eaLnBrk="1" hangingPunct="1">
                <a:spcBef>
                  <a:spcPct val="0"/>
                </a:spcBef>
                <a:buClrTx/>
                <a:buSzTx/>
                <a:buFontTx/>
                <a:buNone/>
              </a:pPr>
              <a:endParaRPr lang="en-GB" altLang="en-US" sz="1400" dirty="0">
                <a:solidFill>
                  <a:srgbClr val="000000"/>
                </a:solidFill>
              </a:endParaRPr>
            </a:p>
            <a:p>
              <a:pPr eaLnBrk="1" hangingPunct="1">
                <a:spcBef>
                  <a:spcPct val="0"/>
                </a:spcBef>
                <a:buClrTx/>
                <a:buSzTx/>
                <a:buFontTx/>
                <a:buNone/>
              </a:pPr>
              <a:endParaRPr lang="en-GB" altLang="en-US" sz="1400" dirty="0">
                <a:solidFill>
                  <a:srgbClr val="000000"/>
                </a:solidFill>
              </a:endParaRPr>
            </a:p>
          </p:txBody>
        </p:sp>
        <p:sp>
          <p:nvSpPr>
            <p:cNvPr id="11" name="TextBox 17"/>
            <p:cNvSpPr txBox="1">
              <a:spLocks noChangeArrowheads="1"/>
            </p:cNvSpPr>
            <p:nvPr/>
          </p:nvSpPr>
          <p:spPr bwMode="auto">
            <a:xfrm>
              <a:off x="7425032" y="4677008"/>
              <a:ext cx="12971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a:solidFill>
                    <a:srgbClr val="000000"/>
                  </a:solidFill>
                </a:rPr>
                <a:t>+ move(): 	</a:t>
              </a:r>
              <a:r>
                <a:rPr lang="en-GB" altLang="en-US" sz="1400" dirty="0" err="1">
                  <a:solidFill>
                    <a:srgbClr val="000000"/>
                  </a:solidFill>
                </a:rPr>
                <a:t>int</a:t>
              </a:r>
              <a:endParaRPr lang="en-GB" altLang="en-US" sz="1400" dirty="0">
                <a:solidFill>
                  <a:srgbClr val="000000"/>
                </a:solidFill>
              </a:endParaRPr>
            </a:p>
            <a:p>
              <a:pPr eaLnBrk="1" hangingPunct="1">
                <a:spcBef>
                  <a:spcPct val="0"/>
                </a:spcBef>
                <a:buClrTx/>
                <a:buSzTx/>
                <a:buFontTx/>
                <a:buNone/>
              </a:pPr>
              <a:r>
                <a:rPr lang="en-GB" altLang="en-US" sz="1400" dirty="0">
                  <a:solidFill>
                    <a:srgbClr val="000000"/>
                  </a:solidFill>
                </a:rPr>
                <a:t>+ fire():	</a:t>
              </a:r>
              <a:r>
                <a:rPr lang="en-GB" altLang="en-US" sz="1400" dirty="0" err="1">
                  <a:solidFill>
                    <a:srgbClr val="000000"/>
                  </a:solidFill>
                </a:rPr>
                <a:t>int</a:t>
              </a:r>
              <a:endParaRPr lang="en-GB" altLang="en-US" sz="1400" dirty="0">
                <a:solidFill>
                  <a:srgbClr val="000000"/>
                </a:solidFill>
              </a:endParaRPr>
            </a:p>
          </p:txBody>
        </p:sp>
      </p:grpSp>
      <p:grpSp>
        <p:nvGrpSpPr>
          <p:cNvPr id="12" name="Group 11"/>
          <p:cNvGrpSpPr/>
          <p:nvPr/>
        </p:nvGrpSpPr>
        <p:grpSpPr>
          <a:xfrm>
            <a:off x="7381230" y="4377970"/>
            <a:ext cx="2065337" cy="1511300"/>
            <a:chOff x="7392144" y="3645024"/>
            <a:chExt cx="2065337" cy="1511300"/>
          </a:xfrm>
        </p:grpSpPr>
        <p:sp>
          <p:nvSpPr>
            <p:cNvPr id="13" name="Rectangle 12"/>
            <p:cNvSpPr/>
            <p:nvPr/>
          </p:nvSpPr>
          <p:spPr>
            <a:xfrm>
              <a:off x="7392144" y="3645024"/>
              <a:ext cx="2065337" cy="1511300"/>
            </a:xfrm>
            <a:prstGeom prst="rect">
              <a:avLst/>
            </a:prstGeom>
            <a:noFill/>
            <a:ln w="127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GB">
                <a:solidFill>
                  <a:srgbClr val="FFFFFF"/>
                </a:solidFill>
              </a:endParaRPr>
            </a:p>
          </p:txBody>
        </p:sp>
        <p:cxnSp>
          <p:nvCxnSpPr>
            <p:cNvPr id="14" name="Straight Connector 13"/>
            <p:cNvCxnSpPr/>
            <p:nvPr/>
          </p:nvCxnSpPr>
          <p:spPr>
            <a:xfrm>
              <a:off x="7392144" y="4040311"/>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7392144" y="4621336"/>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4"/>
            <p:cNvSpPr txBox="1">
              <a:spLocks noChangeArrowheads="1"/>
            </p:cNvSpPr>
            <p:nvPr/>
          </p:nvSpPr>
          <p:spPr bwMode="auto">
            <a:xfrm>
              <a:off x="7838756" y="3645024"/>
              <a:ext cx="11721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GB" altLang="en-US" sz="1800" dirty="0">
                  <a:solidFill>
                    <a:srgbClr val="000000"/>
                  </a:solidFill>
                </a:rPr>
                <a:t>Resource</a:t>
              </a:r>
            </a:p>
          </p:txBody>
        </p:sp>
        <p:sp>
          <p:nvSpPr>
            <p:cNvPr id="17" name="TextBox 16"/>
            <p:cNvSpPr txBox="1">
              <a:spLocks noChangeArrowheads="1"/>
            </p:cNvSpPr>
            <p:nvPr/>
          </p:nvSpPr>
          <p:spPr bwMode="auto">
            <a:xfrm>
              <a:off x="7392144" y="4086349"/>
              <a:ext cx="200728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a:solidFill>
                    <a:srgbClr val="000000"/>
                  </a:solidFill>
                </a:rPr>
                <a:t>+ Name :	 	string</a:t>
              </a:r>
            </a:p>
            <a:p>
              <a:pPr eaLnBrk="1" hangingPunct="1">
                <a:spcBef>
                  <a:spcPct val="0"/>
                </a:spcBef>
                <a:buClrTx/>
                <a:buSzTx/>
                <a:buFontTx/>
                <a:buNone/>
              </a:pPr>
              <a:r>
                <a:rPr lang="en-GB" altLang="en-US" sz="1400" dirty="0">
                  <a:solidFill>
                    <a:srgbClr val="000000"/>
                  </a:solidFill>
                </a:rPr>
                <a:t># Amount :		</a:t>
              </a:r>
              <a:r>
                <a:rPr lang="en-GB" altLang="en-US" sz="1400" dirty="0" err="1">
                  <a:solidFill>
                    <a:srgbClr val="000000"/>
                  </a:solidFill>
                </a:rPr>
                <a:t>int</a:t>
              </a:r>
              <a:endParaRPr lang="en-GB" altLang="en-US" sz="1400" dirty="0">
                <a:solidFill>
                  <a:srgbClr val="000000"/>
                </a:solidFill>
              </a:endParaRPr>
            </a:p>
            <a:p>
              <a:pPr eaLnBrk="1" hangingPunct="1">
                <a:spcBef>
                  <a:spcPct val="0"/>
                </a:spcBef>
                <a:buClrTx/>
                <a:buSzTx/>
                <a:buFontTx/>
                <a:buNone/>
              </a:pPr>
              <a:endParaRPr lang="en-GB" altLang="en-US" sz="1400" dirty="0">
                <a:solidFill>
                  <a:srgbClr val="000000"/>
                </a:solidFill>
              </a:endParaRPr>
            </a:p>
          </p:txBody>
        </p:sp>
        <p:sp>
          <p:nvSpPr>
            <p:cNvPr id="18" name="TextBox 17"/>
            <p:cNvSpPr txBox="1">
              <a:spLocks noChangeArrowheads="1"/>
            </p:cNvSpPr>
            <p:nvPr/>
          </p:nvSpPr>
          <p:spPr bwMode="auto">
            <a:xfrm>
              <a:off x="7392144" y="4762624"/>
              <a:ext cx="18473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GB" altLang="en-US" sz="1400" dirty="0">
                <a:solidFill>
                  <a:srgbClr val="000000"/>
                </a:solidFill>
              </a:endParaRPr>
            </a:p>
          </p:txBody>
        </p:sp>
      </p:grpSp>
      <p:cxnSp>
        <p:nvCxnSpPr>
          <p:cNvPr id="19" name="Straight Connector 18"/>
          <p:cNvCxnSpPr>
            <a:stCxn id="6" idx="3"/>
            <a:endCxn id="13" idx="1"/>
          </p:cNvCxnSpPr>
          <p:nvPr/>
        </p:nvCxnSpPr>
        <p:spPr>
          <a:xfrm>
            <a:off x="4838055" y="5111668"/>
            <a:ext cx="2543175" cy="21952"/>
          </a:xfrm>
          <a:prstGeom prst="line">
            <a:avLst/>
          </a:prstGeom>
          <a:ln w="2540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8583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1981200" y="122239"/>
            <a:ext cx="7543800" cy="858837"/>
          </a:xfrm>
        </p:spPr>
        <p:txBody>
          <a:bodyPr/>
          <a:lstStyle/>
          <a:p>
            <a:r>
              <a:rPr lang="en-GB" altLang="en-US" dirty="0"/>
              <a:t>Example Class Diagram</a:t>
            </a:r>
          </a:p>
        </p:txBody>
      </p:sp>
      <p:pic>
        <p:nvPicPr>
          <p:cNvPr id="819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3976" y="1341438"/>
            <a:ext cx="3914775" cy="532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72A26117-EFC9-4E91-B38A-7EE3E28CBBF7}"/>
              </a:ext>
            </a:extLst>
          </p:cNvPr>
          <p:cNvSpPr/>
          <p:nvPr/>
        </p:nvSpPr>
        <p:spPr>
          <a:xfrm>
            <a:off x="5884459" y="3384907"/>
            <a:ext cx="423081" cy="1671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ACB0BAB4-10A2-4229-AE43-19C689D7F3C9}"/>
              </a:ext>
            </a:extLst>
          </p:cNvPr>
          <p:cNvSpPr txBox="1"/>
          <p:nvPr/>
        </p:nvSpPr>
        <p:spPr>
          <a:xfrm>
            <a:off x="5574970" y="3337694"/>
            <a:ext cx="309489" cy="261610"/>
          </a:xfrm>
          <a:prstGeom prst="rect">
            <a:avLst/>
          </a:prstGeom>
          <a:noFill/>
        </p:spPr>
        <p:txBody>
          <a:bodyPr wrap="square" rtlCol="0">
            <a:spAutoFit/>
          </a:bodyPr>
          <a:lstStyle/>
          <a:p>
            <a:r>
              <a:rPr lang="en-GB" sz="1100" dirty="0"/>
              <a:t>1</a:t>
            </a:r>
          </a:p>
        </p:txBody>
      </p:sp>
    </p:spTree>
    <p:extLst>
      <p:ext uri="{BB962C8B-B14F-4D97-AF65-F5344CB8AC3E}">
        <p14:creationId xmlns:p14="http://schemas.microsoft.com/office/powerpoint/2010/main" val="3545825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Generalisation (Inheritance)</a:t>
            </a:r>
          </a:p>
        </p:txBody>
      </p:sp>
      <p:sp>
        <p:nvSpPr>
          <p:cNvPr id="3" name="Content Placeholder 2"/>
          <p:cNvSpPr>
            <a:spLocks noGrp="1"/>
          </p:cNvSpPr>
          <p:nvPr>
            <p:ph idx="1"/>
          </p:nvPr>
        </p:nvSpPr>
        <p:spPr>
          <a:xfrm>
            <a:off x="1252937" y="1968652"/>
            <a:ext cx="9905999" cy="3541714"/>
          </a:xfrm>
        </p:spPr>
        <p:txBody>
          <a:bodyPr>
            <a:normAutofit/>
          </a:bodyPr>
          <a:lstStyle/>
          <a:p>
            <a:r>
              <a:rPr lang="en-GB" sz="2200" dirty="0"/>
              <a:t>Shows that one class is a specific version of another</a:t>
            </a:r>
          </a:p>
          <a:p>
            <a:r>
              <a:rPr lang="en-GB" sz="2200" dirty="0"/>
              <a:t>Say that one class “is a” second class</a:t>
            </a:r>
          </a:p>
          <a:p>
            <a:pPr lvl="1">
              <a:buFont typeface="Arial" panose="020B0604020202020204" pitchFamily="34" charset="0"/>
              <a:buChar char="•"/>
            </a:pPr>
            <a:r>
              <a:rPr lang="en-GB" dirty="0"/>
              <a:t>A Cargo Ship is a Ship</a:t>
            </a:r>
          </a:p>
          <a:p>
            <a:pPr marL="0" indent="0">
              <a:buNone/>
            </a:pPr>
            <a:r>
              <a:rPr lang="en-GB" sz="2200" dirty="0"/>
              <a:t> </a:t>
            </a:r>
          </a:p>
          <a:p>
            <a:pPr marL="0" indent="0">
              <a:buNone/>
            </a:pPr>
            <a:endParaRPr lang="en-GB" sz="2200" dirty="0"/>
          </a:p>
          <a:p>
            <a:pPr marL="0" indent="0">
              <a:buNone/>
            </a:pPr>
            <a:r>
              <a:rPr lang="en-GB" sz="2200" dirty="0"/>
              <a:t> Generalisation is the UML version of Inheritance</a:t>
            </a:r>
          </a:p>
        </p:txBody>
      </p:sp>
      <p:grpSp>
        <p:nvGrpSpPr>
          <p:cNvPr id="42" name="Group 41"/>
          <p:cNvGrpSpPr/>
          <p:nvPr/>
        </p:nvGrpSpPr>
        <p:grpSpPr>
          <a:xfrm>
            <a:off x="8265856" y="4847853"/>
            <a:ext cx="1549003" cy="1511300"/>
            <a:chOff x="7392144" y="3645024"/>
            <a:chExt cx="2065337" cy="1511300"/>
          </a:xfrm>
        </p:grpSpPr>
        <p:sp>
          <p:nvSpPr>
            <p:cNvPr id="43" name="Rectangle 42"/>
            <p:cNvSpPr/>
            <p:nvPr/>
          </p:nvSpPr>
          <p:spPr>
            <a:xfrm>
              <a:off x="7392144" y="3645024"/>
              <a:ext cx="2065337" cy="1511300"/>
            </a:xfrm>
            <a:prstGeom prst="rect">
              <a:avLst/>
            </a:prstGeom>
            <a:noFill/>
            <a:ln w="127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GB">
                <a:solidFill>
                  <a:srgbClr val="FFFFFF"/>
                </a:solidFill>
              </a:endParaRPr>
            </a:p>
          </p:txBody>
        </p:sp>
        <p:cxnSp>
          <p:nvCxnSpPr>
            <p:cNvPr id="44" name="Straight Connector 43"/>
            <p:cNvCxnSpPr/>
            <p:nvPr/>
          </p:nvCxnSpPr>
          <p:spPr>
            <a:xfrm>
              <a:off x="7392144" y="4040311"/>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7392144" y="4621336"/>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TextBox 14"/>
            <p:cNvSpPr txBox="1">
              <a:spLocks noChangeArrowheads="1"/>
            </p:cNvSpPr>
            <p:nvPr/>
          </p:nvSpPr>
          <p:spPr bwMode="auto">
            <a:xfrm>
              <a:off x="7575011" y="3645024"/>
              <a:ext cx="16996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GB" altLang="en-US" sz="1800" dirty="0" err="1">
                  <a:solidFill>
                    <a:srgbClr val="000000"/>
                  </a:solidFill>
                </a:rPr>
                <a:t>CargoShip</a:t>
              </a:r>
              <a:endParaRPr lang="en-GB" altLang="en-US" sz="1800" dirty="0">
                <a:solidFill>
                  <a:srgbClr val="000000"/>
                </a:solidFill>
              </a:endParaRPr>
            </a:p>
          </p:txBody>
        </p:sp>
        <p:sp>
          <p:nvSpPr>
            <p:cNvPr id="47" name="TextBox 16"/>
            <p:cNvSpPr txBox="1">
              <a:spLocks noChangeArrowheads="1"/>
            </p:cNvSpPr>
            <p:nvPr/>
          </p:nvSpPr>
          <p:spPr bwMode="auto">
            <a:xfrm>
              <a:off x="7392144" y="4086349"/>
              <a:ext cx="175304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a:solidFill>
                    <a:srgbClr val="000000"/>
                  </a:solidFill>
                </a:rPr>
                <a:t>+ </a:t>
              </a:r>
              <a:r>
                <a:rPr lang="en-GB" altLang="en-US" sz="1400" dirty="0" err="1">
                  <a:solidFill>
                    <a:srgbClr val="000000"/>
                  </a:solidFill>
                </a:rPr>
                <a:t>holdSize</a:t>
              </a:r>
              <a:r>
                <a:rPr lang="en-GB" altLang="en-US" sz="1400" dirty="0">
                  <a:solidFill>
                    <a:srgbClr val="000000"/>
                  </a:solidFill>
                </a:rPr>
                <a:t> :</a:t>
              </a:r>
              <a:r>
                <a:rPr lang="en-GB" altLang="en-US" sz="1400" dirty="0" err="1">
                  <a:solidFill>
                    <a:srgbClr val="000000"/>
                  </a:solidFill>
                </a:rPr>
                <a:t>int</a:t>
              </a:r>
              <a:endParaRPr lang="en-GB" altLang="en-US" sz="1400" dirty="0">
                <a:solidFill>
                  <a:srgbClr val="000000"/>
                </a:solidFill>
              </a:endParaRPr>
            </a:p>
            <a:p>
              <a:pPr eaLnBrk="1" hangingPunct="1">
                <a:spcBef>
                  <a:spcPct val="0"/>
                </a:spcBef>
                <a:buClrTx/>
                <a:buSzTx/>
                <a:buFontTx/>
                <a:buNone/>
              </a:pPr>
              <a:endParaRPr lang="en-GB" altLang="en-US" sz="1400" dirty="0">
                <a:solidFill>
                  <a:srgbClr val="000000"/>
                </a:solidFill>
              </a:endParaRPr>
            </a:p>
            <a:p>
              <a:pPr eaLnBrk="1" hangingPunct="1">
                <a:spcBef>
                  <a:spcPct val="0"/>
                </a:spcBef>
                <a:buClrTx/>
                <a:buSzTx/>
                <a:buFontTx/>
                <a:buNone/>
              </a:pPr>
              <a:endParaRPr lang="en-GB" altLang="en-US" sz="1400" dirty="0">
                <a:solidFill>
                  <a:srgbClr val="000000"/>
                </a:solidFill>
              </a:endParaRPr>
            </a:p>
          </p:txBody>
        </p:sp>
        <p:sp>
          <p:nvSpPr>
            <p:cNvPr id="48" name="TextBox 17"/>
            <p:cNvSpPr txBox="1">
              <a:spLocks noChangeArrowheads="1"/>
            </p:cNvSpPr>
            <p:nvPr/>
          </p:nvSpPr>
          <p:spPr bwMode="auto">
            <a:xfrm>
              <a:off x="7425032" y="4677008"/>
              <a:ext cx="2463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GB" altLang="en-US" sz="1400" dirty="0">
                <a:solidFill>
                  <a:srgbClr val="000000"/>
                </a:solidFill>
              </a:endParaRPr>
            </a:p>
          </p:txBody>
        </p:sp>
      </p:grpSp>
      <p:grpSp>
        <p:nvGrpSpPr>
          <p:cNvPr id="31" name="Group 30"/>
          <p:cNvGrpSpPr/>
          <p:nvPr/>
        </p:nvGrpSpPr>
        <p:grpSpPr>
          <a:xfrm>
            <a:off x="9390510" y="2219324"/>
            <a:ext cx="1750800" cy="1555204"/>
            <a:chOff x="7392144" y="3645024"/>
            <a:chExt cx="2155663" cy="1555204"/>
          </a:xfrm>
        </p:grpSpPr>
        <p:sp>
          <p:nvSpPr>
            <p:cNvPr id="32" name="Rectangle 31"/>
            <p:cNvSpPr/>
            <p:nvPr/>
          </p:nvSpPr>
          <p:spPr>
            <a:xfrm>
              <a:off x="7392144" y="3645024"/>
              <a:ext cx="2065337" cy="1511300"/>
            </a:xfrm>
            <a:prstGeom prst="rect">
              <a:avLst/>
            </a:prstGeom>
            <a:noFill/>
            <a:ln w="127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GB">
                <a:solidFill>
                  <a:srgbClr val="FFFFFF"/>
                </a:solidFill>
              </a:endParaRPr>
            </a:p>
          </p:txBody>
        </p:sp>
        <p:cxnSp>
          <p:nvCxnSpPr>
            <p:cNvPr id="33" name="Straight Connector 32"/>
            <p:cNvCxnSpPr/>
            <p:nvPr/>
          </p:nvCxnSpPr>
          <p:spPr>
            <a:xfrm>
              <a:off x="7392144" y="4040311"/>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7392144" y="4621336"/>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TextBox 14"/>
            <p:cNvSpPr txBox="1">
              <a:spLocks noChangeArrowheads="1"/>
            </p:cNvSpPr>
            <p:nvPr/>
          </p:nvSpPr>
          <p:spPr bwMode="auto">
            <a:xfrm>
              <a:off x="8026917" y="3645024"/>
              <a:ext cx="7957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GB" altLang="en-US" sz="1800" dirty="0">
                  <a:solidFill>
                    <a:srgbClr val="000000"/>
                  </a:solidFill>
                </a:rPr>
                <a:t>Ship</a:t>
              </a:r>
            </a:p>
          </p:txBody>
        </p:sp>
        <p:sp>
          <p:nvSpPr>
            <p:cNvPr id="53" name="TextBox 16"/>
            <p:cNvSpPr txBox="1">
              <a:spLocks noChangeArrowheads="1"/>
            </p:cNvSpPr>
            <p:nvPr/>
          </p:nvSpPr>
          <p:spPr bwMode="auto">
            <a:xfrm>
              <a:off x="7392144" y="4086349"/>
              <a:ext cx="215566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a:solidFill>
                    <a:srgbClr val="000000"/>
                  </a:solidFill>
                </a:rPr>
                <a:t>+ </a:t>
              </a:r>
              <a:r>
                <a:rPr lang="en-GB" altLang="en-US" sz="1400" dirty="0" err="1">
                  <a:solidFill>
                    <a:srgbClr val="000000"/>
                  </a:solidFill>
                </a:rPr>
                <a:t>ship_name</a:t>
              </a:r>
              <a:r>
                <a:rPr lang="en-GB" altLang="en-US" sz="1400" dirty="0">
                  <a:solidFill>
                    <a:srgbClr val="000000"/>
                  </a:solidFill>
                </a:rPr>
                <a:t> :string</a:t>
              </a:r>
            </a:p>
            <a:p>
              <a:pPr eaLnBrk="1" hangingPunct="1">
                <a:spcBef>
                  <a:spcPct val="0"/>
                </a:spcBef>
                <a:buClrTx/>
                <a:buSzTx/>
                <a:buFontTx/>
                <a:buNone/>
              </a:pPr>
              <a:endParaRPr lang="en-GB" altLang="en-US" sz="1400" dirty="0">
                <a:solidFill>
                  <a:srgbClr val="000000"/>
                </a:solidFill>
              </a:endParaRPr>
            </a:p>
            <a:p>
              <a:pPr eaLnBrk="1" hangingPunct="1">
                <a:spcBef>
                  <a:spcPct val="0"/>
                </a:spcBef>
                <a:buClrTx/>
                <a:buSzTx/>
                <a:buFontTx/>
                <a:buNone/>
              </a:pPr>
              <a:endParaRPr lang="en-GB" altLang="en-US" sz="1400" dirty="0">
                <a:solidFill>
                  <a:srgbClr val="000000"/>
                </a:solidFill>
              </a:endParaRPr>
            </a:p>
          </p:txBody>
        </p:sp>
        <p:sp>
          <p:nvSpPr>
            <p:cNvPr id="54" name="TextBox 17"/>
            <p:cNvSpPr txBox="1">
              <a:spLocks noChangeArrowheads="1"/>
            </p:cNvSpPr>
            <p:nvPr/>
          </p:nvSpPr>
          <p:spPr bwMode="auto">
            <a:xfrm>
              <a:off x="7425032" y="4677008"/>
              <a:ext cx="159710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a:solidFill>
                    <a:srgbClr val="000000"/>
                  </a:solidFill>
                </a:rPr>
                <a:t>+ move(): 	</a:t>
              </a:r>
              <a:r>
                <a:rPr lang="en-GB" altLang="en-US" sz="1400" dirty="0" err="1">
                  <a:solidFill>
                    <a:srgbClr val="000000"/>
                  </a:solidFill>
                </a:rPr>
                <a:t>int</a:t>
              </a:r>
              <a:endParaRPr lang="en-GB" altLang="en-US" sz="1400" dirty="0">
                <a:solidFill>
                  <a:srgbClr val="000000"/>
                </a:solidFill>
              </a:endParaRPr>
            </a:p>
            <a:p>
              <a:pPr eaLnBrk="1" hangingPunct="1">
                <a:spcBef>
                  <a:spcPct val="0"/>
                </a:spcBef>
                <a:buClrTx/>
                <a:buSzTx/>
                <a:buFontTx/>
                <a:buNone/>
              </a:pPr>
              <a:r>
                <a:rPr lang="en-GB" altLang="en-US" sz="1400" dirty="0">
                  <a:solidFill>
                    <a:srgbClr val="000000"/>
                  </a:solidFill>
                </a:rPr>
                <a:t>+ fire():	</a:t>
              </a:r>
              <a:r>
                <a:rPr lang="en-GB" altLang="en-US" sz="1400" dirty="0" err="1">
                  <a:solidFill>
                    <a:srgbClr val="000000"/>
                  </a:solidFill>
                </a:rPr>
                <a:t>int</a:t>
              </a:r>
              <a:endParaRPr lang="en-GB" altLang="en-US" sz="1400" dirty="0">
                <a:solidFill>
                  <a:srgbClr val="000000"/>
                </a:solidFill>
              </a:endParaRPr>
            </a:p>
          </p:txBody>
        </p:sp>
      </p:grpSp>
      <p:grpSp>
        <p:nvGrpSpPr>
          <p:cNvPr id="23" name="Group 22"/>
          <p:cNvGrpSpPr/>
          <p:nvPr/>
        </p:nvGrpSpPr>
        <p:grpSpPr>
          <a:xfrm>
            <a:off x="10515167" y="4847853"/>
            <a:ext cx="1549003" cy="1511300"/>
            <a:chOff x="7392144" y="3645024"/>
            <a:chExt cx="2065337" cy="1511300"/>
          </a:xfrm>
        </p:grpSpPr>
        <p:sp>
          <p:nvSpPr>
            <p:cNvPr id="24" name="Rectangle 23"/>
            <p:cNvSpPr/>
            <p:nvPr/>
          </p:nvSpPr>
          <p:spPr>
            <a:xfrm>
              <a:off x="7392144" y="3645024"/>
              <a:ext cx="2065337" cy="1511300"/>
            </a:xfrm>
            <a:prstGeom prst="rect">
              <a:avLst/>
            </a:prstGeom>
            <a:noFill/>
            <a:ln w="127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GB">
                <a:solidFill>
                  <a:srgbClr val="FFFFFF"/>
                </a:solidFill>
              </a:endParaRPr>
            </a:p>
          </p:txBody>
        </p:sp>
        <p:cxnSp>
          <p:nvCxnSpPr>
            <p:cNvPr id="25" name="Straight Connector 24"/>
            <p:cNvCxnSpPr/>
            <p:nvPr/>
          </p:nvCxnSpPr>
          <p:spPr>
            <a:xfrm>
              <a:off x="7392144" y="4040311"/>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7392144" y="4621336"/>
              <a:ext cx="20653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14"/>
            <p:cNvSpPr txBox="1">
              <a:spLocks noChangeArrowheads="1"/>
            </p:cNvSpPr>
            <p:nvPr/>
          </p:nvSpPr>
          <p:spPr bwMode="auto">
            <a:xfrm>
              <a:off x="7566461" y="3645024"/>
              <a:ext cx="17167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GB" altLang="en-US" sz="1800" dirty="0" err="1">
                  <a:solidFill>
                    <a:srgbClr val="000000"/>
                  </a:solidFill>
                </a:rPr>
                <a:t>AttackShip</a:t>
              </a:r>
              <a:endParaRPr lang="en-GB" altLang="en-US" sz="1800" dirty="0">
                <a:solidFill>
                  <a:srgbClr val="000000"/>
                </a:solidFill>
              </a:endParaRPr>
            </a:p>
          </p:txBody>
        </p:sp>
        <p:sp>
          <p:nvSpPr>
            <p:cNvPr id="28" name="TextBox 16"/>
            <p:cNvSpPr txBox="1">
              <a:spLocks noChangeArrowheads="1"/>
            </p:cNvSpPr>
            <p:nvPr/>
          </p:nvSpPr>
          <p:spPr bwMode="auto">
            <a:xfrm>
              <a:off x="7392144" y="4086349"/>
              <a:ext cx="1857773"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GB" altLang="en-US" sz="1400" dirty="0">
                  <a:solidFill>
                    <a:srgbClr val="000000"/>
                  </a:solidFill>
                </a:rPr>
                <a:t>+ Armour :	</a:t>
              </a:r>
              <a:r>
                <a:rPr lang="en-GB" altLang="en-US" sz="1400" dirty="0" err="1">
                  <a:solidFill>
                    <a:srgbClr val="000000"/>
                  </a:solidFill>
                </a:rPr>
                <a:t>int</a:t>
              </a:r>
              <a:endParaRPr lang="en-GB" altLang="en-US" sz="1400" dirty="0">
                <a:solidFill>
                  <a:srgbClr val="000000"/>
                </a:solidFill>
              </a:endParaRPr>
            </a:p>
            <a:p>
              <a:pPr eaLnBrk="1" hangingPunct="1">
                <a:spcBef>
                  <a:spcPct val="0"/>
                </a:spcBef>
                <a:buClrTx/>
                <a:buSzTx/>
                <a:buFontTx/>
                <a:buNone/>
              </a:pPr>
              <a:r>
                <a:rPr lang="en-GB" altLang="en-US" sz="1400" dirty="0">
                  <a:solidFill>
                    <a:srgbClr val="000000"/>
                  </a:solidFill>
                </a:rPr>
                <a:t>+ </a:t>
              </a:r>
              <a:r>
                <a:rPr lang="en-GB" altLang="en-US" sz="1400" dirty="0" err="1">
                  <a:solidFill>
                    <a:srgbClr val="000000"/>
                  </a:solidFill>
                </a:rPr>
                <a:t>FirePower:int</a:t>
              </a:r>
              <a:endParaRPr lang="en-GB" altLang="en-US" sz="1400" dirty="0">
                <a:solidFill>
                  <a:srgbClr val="000000"/>
                </a:solidFill>
              </a:endParaRPr>
            </a:p>
            <a:p>
              <a:pPr eaLnBrk="1" hangingPunct="1">
                <a:spcBef>
                  <a:spcPct val="0"/>
                </a:spcBef>
                <a:buClrTx/>
                <a:buSzTx/>
                <a:buFontTx/>
                <a:buNone/>
              </a:pPr>
              <a:endParaRPr lang="en-GB" altLang="en-US" sz="1400" dirty="0">
                <a:solidFill>
                  <a:srgbClr val="000000"/>
                </a:solidFill>
              </a:endParaRPr>
            </a:p>
          </p:txBody>
        </p:sp>
        <p:sp>
          <p:nvSpPr>
            <p:cNvPr id="29" name="TextBox 17"/>
            <p:cNvSpPr txBox="1">
              <a:spLocks noChangeArrowheads="1"/>
            </p:cNvSpPr>
            <p:nvPr/>
          </p:nvSpPr>
          <p:spPr bwMode="auto">
            <a:xfrm>
              <a:off x="7425032" y="4677008"/>
              <a:ext cx="2463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692150" indent="-347663">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987425" indent="-293688">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281113" indent="-2921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1598613" indent="-315913">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0558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5130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29702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427413" indent="-315913"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GB" altLang="en-US" sz="1400" dirty="0">
                <a:solidFill>
                  <a:srgbClr val="000000"/>
                </a:solidFill>
              </a:endParaRPr>
            </a:p>
          </p:txBody>
        </p:sp>
      </p:grpSp>
      <p:cxnSp>
        <p:nvCxnSpPr>
          <p:cNvPr id="10" name="Straight Connector 9"/>
          <p:cNvCxnSpPr>
            <a:stCxn id="46" idx="0"/>
          </p:cNvCxnSpPr>
          <p:nvPr/>
        </p:nvCxnSpPr>
        <p:spPr>
          <a:xfrm flipH="1" flipV="1">
            <a:off x="9040357" y="4492643"/>
            <a:ext cx="2" cy="3552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flipV="1">
            <a:off x="11289668" y="4492643"/>
            <a:ext cx="3" cy="3552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9040357" y="4492643"/>
            <a:ext cx="224931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10165011" y="3739509"/>
            <a:ext cx="0" cy="753134"/>
          </a:xfrm>
          <a:prstGeom prst="line">
            <a:avLst/>
          </a:prstGeom>
          <a:ln w="254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sp>
        <p:nvSpPr>
          <p:cNvPr id="16" name="Isosceles Triangle 15"/>
          <p:cNvSpPr/>
          <p:nvPr/>
        </p:nvSpPr>
        <p:spPr>
          <a:xfrm>
            <a:off x="10048072" y="3743408"/>
            <a:ext cx="233879" cy="369588"/>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672351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2289059" y="525164"/>
            <a:ext cx="8911687" cy="1280890"/>
          </a:xfrm>
        </p:spPr>
        <p:txBody>
          <a:bodyPr/>
          <a:lstStyle/>
          <a:p>
            <a:pPr algn="ctr"/>
            <a:r>
              <a:rPr lang="en-GB" altLang="en-US" dirty="0"/>
              <a:t>Aggregation</a:t>
            </a:r>
          </a:p>
        </p:txBody>
      </p:sp>
      <p:sp>
        <p:nvSpPr>
          <p:cNvPr id="7171" name="Content Placeholder 2"/>
          <p:cNvSpPr>
            <a:spLocks noGrp="1"/>
          </p:cNvSpPr>
          <p:nvPr>
            <p:ph idx="1"/>
          </p:nvPr>
        </p:nvSpPr>
        <p:spPr>
          <a:xfrm>
            <a:off x="2589212" y="1806054"/>
            <a:ext cx="8915400" cy="3777622"/>
          </a:xfrm>
        </p:spPr>
        <p:txBody>
          <a:bodyPr/>
          <a:lstStyle/>
          <a:p>
            <a:r>
              <a:rPr lang="en-GB" altLang="en-US" dirty="0"/>
              <a:t>Occurs when one class consists of more than one instance of another class.</a:t>
            </a:r>
          </a:p>
          <a:p>
            <a:r>
              <a:rPr lang="en-GB" altLang="en-US" dirty="0"/>
              <a:t>The child can still exist independently of the parent</a:t>
            </a:r>
          </a:p>
          <a:p>
            <a:r>
              <a:rPr lang="en-GB" altLang="en-US" dirty="0"/>
              <a:t>A module is made up of lectures and tutorials, these lectures/tutorials can still exist if the module is deleted as they could be used for another module</a:t>
            </a:r>
          </a:p>
        </p:txBody>
      </p:sp>
      <p:pic>
        <p:nvPicPr>
          <p:cNvPr id="3" name="Picture 2">
            <a:extLst>
              <a:ext uri="{FF2B5EF4-FFF2-40B4-BE49-F238E27FC236}">
                <a16:creationId xmlns:a16="http://schemas.microsoft.com/office/drawing/2014/main" id="{70021EE3-70B6-4267-8329-3CE1ACD13467}"/>
              </a:ext>
            </a:extLst>
          </p:cNvPr>
          <p:cNvPicPr>
            <a:picLocks noChangeAspect="1"/>
          </p:cNvPicPr>
          <p:nvPr/>
        </p:nvPicPr>
        <p:blipFill>
          <a:blip r:embed="rId2"/>
          <a:stretch>
            <a:fillRect/>
          </a:stretch>
        </p:blipFill>
        <p:spPr>
          <a:xfrm>
            <a:off x="1132764" y="3735019"/>
            <a:ext cx="4758539" cy="1691112"/>
          </a:xfrm>
          <a:prstGeom prst="rect">
            <a:avLst/>
          </a:prstGeom>
        </p:spPr>
      </p:pic>
      <p:sp>
        <p:nvSpPr>
          <p:cNvPr id="5" name="TextBox 4">
            <a:extLst>
              <a:ext uri="{FF2B5EF4-FFF2-40B4-BE49-F238E27FC236}">
                <a16:creationId xmlns:a16="http://schemas.microsoft.com/office/drawing/2014/main" id="{E8275D5A-9DB1-4F3D-A3A1-B63648EAD4E9}"/>
              </a:ext>
            </a:extLst>
          </p:cNvPr>
          <p:cNvSpPr txBox="1"/>
          <p:nvPr/>
        </p:nvSpPr>
        <p:spPr>
          <a:xfrm>
            <a:off x="4110885" y="5399010"/>
            <a:ext cx="2634018" cy="369332"/>
          </a:xfrm>
          <a:prstGeom prst="rect">
            <a:avLst/>
          </a:prstGeom>
          <a:noFill/>
        </p:spPr>
        <p:txBody>
          <a:bodyPr wrap="square" rtlCol="0">
            <a:spAutoFit/>
          </a:bodyPr>
          <a:lstStyle/>
          <a:p>
            <a:r>
              <a:rPr lang="en-GB" dirty="0"/>
              <a:t>Aggregation</a:t>
            </a:r>
          </a:p>
        </p:txBody>
      </p:sp>
      <p:sp>
        <p:nvSpPr>
          <p:cNvPr id="12" name="TextBox 11">
            <a:extLst>
              <a:ext uri="{FF2B5EF4-FFF2-40B4-BE49-F238E27FC236}">
                <a16:creationId xmlns:a16="http://schemas.microsoft.com/office/drawing/2014/main" id="{46E1F2B2-0194-4680-8F9E-FE5C4F72A7C1}"/>
              </a:ext>
            </a:extLst>
          </p:cNvPr>
          <p:cNvSpPr txBox="1"/>
          <p:nvPr/>
        </p:nvSpPr>
        <p:spPr>
          <a:xfrm>
            <a:off x="1550086" y="5426131"/>
            <a:ext cx="2634018" cy="369332"/>
          </a:xfrm>
          <a:prstGeom prst="rect">
            <a:avLst/>
          </a:prstGeom>
          <a:noFill/>
        </p:spPr>
        <p:txBody>
          <a:bodyPr wrap="square" rtlCol="0">
            <a:spAutoFit/>
          </a:bodyPr>
          <a:lstStyle/>
          <a:p>
            <a:r>
              <a:rPr lang="en-GB" dirty="0"/>
              <a:t>Association</a:t>
            </a:r>
          </a:p>
        </p:txBody>
      </p:sp>
      <p:pic>
        <p:nvPicPr>
          <p:cNvPr id="8" name="Picture 7">
            <a:extLst>
              <a:ext uri="{FF2B5EF4-FFF2-40B4-BE49-F238E27FC236}">
                <a16:creationId xmlns:a16="http://schemas.microsoft.com/office/drawing/2014/main" id="{0652C41A-5E97-4D03-8823-2F12EA5E3708}"/>
              </a:ext>
            </a:extLst>
          </p:cNvPr>
          <p:cNvPicPr>
            <a:picLocks noChangeAspect="1"/>
          </p:cNvPicPr>
          <p:nvPr/>
        </p:nvPicPr>
        <p:blipFill>
          <a:blip r:embed="rId3"/>
          <a:stretch>
            <a:fillRect/>
          </a:stretch>
        </p:blipFill>
        <p:spPr>
          <a:xfrm>
            <a:off x="7172183" y="3880088"/>
            <a:ext cx="4152900" cy="1076325"/>
          </a:xfrm>
          <a:prstGeom prst="rect">
            <a:avLst/>
          </a:prstGeom>
        </p:spPr>
      </p:pic>
    </p:spTree>
    <p:extLst>
      <p:ext uri="{BB962C8B-B14F-4D97-AF65-F5344CB8AC3E}">
        <p14:creationId xmlns:p14="http://schemas.microsoft.com/office/powerpoint/2010/main" val="28864217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GB" altLang="en-US"/>
              <a:t>Composition</a:t>
            </a:r>
          </a:p>
        </p:txBody>
      </p:sp>
      <p:sp>
        <p:nvSpPr>
          <p:cNvPr id="8195" name="Content Placeholder 2"/>
          <p:cNvSpPr>
            <a:spLocks noGrp="1"/>
          </p:cNvSpPr>
          <p:nvPr>
            <p:ph idx="1"/>
          </p:nvPr>
        </p:nvSpPr>
        <p:spPr/>
        <p:txBody>
          <a:bodyPr/>
          <a:lstStyle/>
          <a:p>
            <a:r>
              <a:rPr lang="en-GB" altLang="en-US" dirty="0"/>
              <a:t>A form of aggregation with strong ownership so when the composite is deleted, its constituent parts go with it, child cannot exist without the parent</a:t>
            </a:r>
          </a:p>
        </p:txBody>
      </p:sp>
      <p:pic>
        <p:nvPicPr>
          <p:cNvPr id="8197" name="Picture 2"/>
          <p:cNvPicPr>
            <a:picLocks noChangeAspect="1" noChangeArrowheads="1"/>
          </p:cNvPicPr>
          <p:nvPr/>
        </p:nvPicPr>
        <p:blipFill>
          <a:blip r:embed="rId2">
            <a:extLst>
              <a:ext uri="{28A0092B-C50C-407E-A947-70E740481C1C}">
                <a14:useLocalDpi xmlns:a14="http://schemas.microsoft.com/office/drawing/2010/main" val="0"/>
              </a:ext>
            </a:extLst>
          </a:blip>
          <a:srcRect l="26302" t="19444" r="51563" b="47569"/>
          <a:stretch>
            <a:fillRect/>
          </a:stretch>
        </p:blipFill>
        <p:spPr bwMode="auto">
          <a:xfrm>
            <a:off x="2835253" y="3100986"/>
            <a:ext cx="3234813" cy="36153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2">
            <a:extLst>
              <a:ext uri="{FF2B5EF4-FFF2-40B4-BE49-F238E27FC236}">
                <a16:creationId xmlns:a16="http://schemas.microsoft.com/office/drawing/2014/main" id="{1832FDC1-4F6F-4343-932F-A72FEC1BF7E1}"/>
              </a:ext>
            </a:extLst>
          </p:cNvPr>
          <p:cNvPicPr>
            <a:picLocks noChangeAspect="1"/>
          </p:cNvPicPr>
          <p:nvPr/>
        </p:nvPicPr>
        <p:blipFill>
          <a:blip r:embed="rId3"/>
          <a:stretch>
            <a:fillRect/>
          </a:stretch>
        </p:blipFill>
        <p:spPr>
          <a:xfrm>
            <a:off x="6729939" y="3851401"/>
            <a:ext cx="4114800" cy="1057275"/>
          </a:xfrm>
          <a:prstGeom prst="rect">
            <a:avLst/>
          </a:prstGeom>
        </p:spPr>
      </p:pic>
    </p:spTree>
    <p:extLst>
      <p:ext uri="{BB962C8B-B14F-4D97-AF65-F5344CB8AC3E}">
        <p14:creationId xmlns:p14="http://schemas.microsoft.com/office/powerpoint/2010/main" val="12869534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7812B-8FEA-454A-BB02-0E5F0BC8C121}"/>
              </a:ext>
            </a:extLst>
          </p:cNvPr>
          <p:cNvSpPr>
            <a:spLocks noGrp="1"/>
          </p:cNvSpPr>
          <p:nvPr>
            <p:ph type="title"/>
          </p:nvPr>
        </p:nvSpPr>
        <p:spPr/>
        <p:txBody>
          <a:bodyPr/>
          <a:lstStyle/>
          <a:p>
            <a:r>
              <a:rPr lang="en-GB" dirty="0"/>
              <a:t>Creating Class Diagrams</a:t>
            </a:r>
          </a:p>
        </p:txBody>
      </p:sp>
      <p:sp>
        <p:nvSpPr>
          <p:cNvPr id="3" name="Content Placeholder 2">
            <a:extLst>
              <a:ext uri="{FF2B5EF4-FFF2-40B4-BE49-F238E27FC236}">
                <a16:creationId xmlns:a16="http://schemas.microsoft.com/office/drawing/2014/main" id="{D978CED3-2103-49B2-87FA-EBF2CADDAEA6}"/>
              </a:ext>
            </a:extLst>
          </p:cNvPr>
          <p:cNvSpPr>
            <a:spLocks noGrp="1"/>
          </p:cNvSpPr>
          <p:nvPr>
            <p:ph sz="half" idx="1"/>
          </p:nvPr>
        </p:nvSpPr>
        <p:spPr/>
        <p:txBody>
          <a:bodyPr>
            <a:normAutofit fontScale="85000" lnSpcReduction="20000"/>
          </a:bodyPr>
          <a:lstStyle/>
          <a:p>
            <a:pPr marL="0" indent="0">
              <a:buNone/>
            </a:pPr>
            <a:r>
              <a:rPr lang="en-GB" altLang="en-US" sz="2000" dirty="0"/>
              <a:t>When implementing for a programming language</a:t>
            </a:r>
          </a:p>
          <a:p>
            <a:pPr marL="0" indent="0">
              <a:buNone/>
            </a:pPr>
            <a:endParaRPr lang="en-GB" altLang="en-US" sz="2000" dirty="0"/>
          </a:p>
          <a:p>
            <a:r>
              <a:rPr lang="en-GB" altLang="en-US" sz="2000" dirty="0"/>
              <a:t>Identify Classes</a:t>
            </a:r>
          </a:p>
          <a:p>
            <a:pPr lvl="1"/>
            <a:r>
              <a:rPr lang="en-GB" altLang="en-US" dirty="0"/>
              <a:t>Noun phrases (person, place or thing?)</a:t>
            </a:r>
          </a:p>
          <a:p>
            <a:pPr lvl="1"/>
            <a:r>
              <a:rPr lang="en-GB" altLang="en-US" dirty="0"/>
              <a:t>Do we store data about it?</a:t>
            </a:r>
          </a:p>
          <a:p>
            <a:pPr lvl="1"/>
            <a:r>
              <a:rPr lang="en-GB" altLang="en-US" dirty="0"/>
              <a:t>Does it carry out operations?</a:t>
            </a:r>
          </a:p>
          <a:p>
            <a:pPr lvl="1"/>
            <a:r>
              <a:rPr lang="en-GB" altLang="en-US" dirty="0"/>
              <a:t>Check: If it has no attributes or no operations then is it really a class?</a:t>
            </a:r>
          </a:p>
          <a:p>
            <a:r>
              <a:rPr lang="en-GB" altLang="en-US" sz="2000" dirty="0"/>
              <a:t>Identify Attributes and Operations (optional)</a:t>
            </a:r>
          </a:p>
          <a:p>
            <a:r>
              <a:rPr lang="en-GB" altLang="en-US" sz="2000" dirty="0"/>
              <a:t>Identify associations &amp; multiplicities</a:t>
            </a:r>
          </a:p>
          <a:p>
            <a:r>
              <a:rPr lang="en-GB" altLang="en-US" sz="2000" dirty="0"/>
              <a:t>Note: Take care with Generalisation</a:t>
            </a:r>
          </a:p>
          <a:p>
            <a:endParaRPr lang="en-GB" dirty="0"/>
          </a:p>
        </p:txBody>
      </p:sp>
      <p:sp>
        <p:nvSpPr>
          <p:cNvPr id="4" name="Content Placeholder 3">
            <a:extLst>
              <a:ext uri="{FF2B5EF4-FFF2-40B4-BE49-F238E27FC236}">
                <a16:creationId xmlns:a16="http://schemas.microsoft.com/office/drawing/2014/main" id="{9D76646C-5253-4199-8087-7A3A375A72C4}"/>
              </a:ext>
            </a:extLst>
          </p:cNvPr>
          <p:cNvSpPr>
            <a:spLocks noGrp="1"/>
          </p:cNvSpPr>
          <p:nvPr>
            <p:ph sz="half" idx="2"/>
          </p:nvPr>
        </p:nvSpPr>
        <p:spPr/>
        <p:txBody>
          <a:bodyPr>
            <a:normAutofit fontScale="85000" lnSpcReduction="20000"/>
          </a:bodyPr>
          <a:lstStyle/>
          <a:p>
            <a:pPr marL="0" indent="0">
              <a:buNone/>
            </a:pPr>
            <a:r>
              <a:rPr lang="en-GB" sz="2000" dirty="0"/>
              <a:t>Implementing for a database design</a:t>
            </a:r>
          </a:p>
          <a:p>
            <a:pPr marL="0" indent="0">
              <a:buNone/>
            </a:pPr>
            <a:endParaRPr lang="en-GB" sz="2000" dirty="0"/>
          </a:p>
          <a:p>
            <a:r>
              <a:rPr lang="en-GB" sz="2200" dirty="0"/>
              <a:t>Identify the nouns</a:t>
            </a:r>
          </a:p>
          <a:p>
            <a:r>
              <a:rPr lang="en-GB" sz="2200" dirty="0"/>
              <a:t>Decide which nouns are classes and which are attributes</a:t>
            </a:r>
          </a:p>
          <a:p>
            <a:r>
              <a:rPr lang="en-GB" sz="2200" dirty="0"/>
              <a:t>Draw the classes and attributes</a:t>
            </a:r>
          </a:p>
          <a:p>
            <a:pPr lvl="1"/>
            <a:r>
              <a:rPr lang="en-GB" sz="1800" dirty="0"/>
              <a:t>Add other appropriate attributes</a:t>
            </a:r>
          </a:p>
          <a:p>
            <a:r>
              <a:rPr lang="en-GB" sz="2200" dirty="0"/>
              <a:t>Choose or create appropriate keys – can include them as properties of attributes</a:t>
            </a:r>
          </a:p>
          <a:p>
            <a:r>
              <a:rPr lang="en-GB" sz="2200" dirty="0"/>
              <a:t>Apply appropriate associations and relationships</a:t>
            </a:r>
          </a:p>
          <a:p>
            <a:endParaRPr lang="en-GB" dirty="0"/>
          </a:p>
        </p:txBody>
      </p:sp>
    </p:spTree>
    <p:extLst>
      <p:ext uri="{BB962C8B-B14F-4D97-AF65-F5344CB8AC3E}">
        <p14:creationId xmlns:p14="http://schemas.microsoft.com/office/powerpoint/2010/main" val="2697721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1858370" y="727075"/>
            <a:ext cx="8281916" cy="858837"/>
          </a:xfrm>
        </p:spPr>
        <p:txBody>
          <a:bodyPr>
            <a:normAutofit fontScale="90000"/>
          </a:bodyPr>
          <a:lstStyle/>
          <a:p>
            <a:r>
              <a:rPr lang="en-GB" altLang="en-US" dirty="0"/>
              <a:t>Class Diagram Example for Programming</a:t>
            </a:r>
          </a:p>
        </p:txBody>
      </p:sp>
      <p:sp>
        <p:nvSpPr>
          <p:cNvPr id="16387" name="Content Placeholder 2"/>
          <p:cNvSpPr>
            <a:spLocks noGrp="1"/>
          </p:cNvSpPr>
          <p:nvPr>
            <p:ph idx="1"/>
          </p:nvPr>
        </p:nvSpPr>
        <p:spPr>
          <a:xfrm>
            <a:off x="2214374" y="1719263"/>
            <a:ext cx="4608512" cy="4411662"/>
          </a:xfrm>
        </p:spPr>
        <p:txBody>
          <a:bodyPr/>
          <a:lstStyle/>
          <a:p>
            <a:r>
              <a:rPr lang="en-GB" altLang="en-US" dirty="0"/>
              <a:t>Use case: Place Order	</a:t>
            </a:r>
          </a:p>
        </p:txBody>
      </p:sp>
      <p:sp>
        <p:nvSpPr>
          <p:cNvPr id="6" name="Content Placeholder 2"/>
          <p:cNvSpPr txBox="1">
            <a:spLocks/>
          </p:cNvSpPr>
          <p:nvPr/>
        </p:nvSpPr>
        <p:spPr bwMode="auto">
          <a:xfrm>
            <a:off x="2214374" y="2240461"/>
            <a:ext cx="4608512" cy="2454369"/>
          </a:xfrm>
          <a:prstGeom prst="rect">
            <a:avLst/>
          </a:prstGeom>
          <a:noFill/>
          <a:ln w="9525">
            <a:solidFill>
              <a:schemeClr val="accent2">
                <a:lumMod val="60000"/>
                <a:lumOff val="40000"/>
              </a:schemeClr>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a:lstStyle>
          <a:p>
            <a:pPr>
              <a:defRPr/>
            </a:pPr>
            <a:r>
              <a:rPr lang="en-GB" sz="2000" dirty="0"/>
              <a:t>Retailer views current product catalogue</a:t>
            </a:r>
          </a:p>
          <a:p>
            <a:pPr>
              <a:defRPr/>
            </a:pPr>
            <a:r>
              <a:rPr lang="en-GB" sz="2000" dirty="0"/>
              <a:t>Retailer creates a new order</a:t>
            </a:r>
          </a:p>
          <a:p>
            <a:pPr>
              <a:defRPr/>
            </a:pPr>
            <a:r>
              <a:rPr lang="en-GB" sz="2000" dirty="0"/>
              <a:t>Retailer adds items to their order</a:t>
            </a:r>
          </a:p>
          <a:p>
            <a:pPr>
              <a:defRPr/>
            </a:pPr>
            <a:r>
              <a:rPr lang="en-GB" sz="2000" dirty="0"/>
              <a:t>Order is checked against product catalogue to ensure details are correct	</a:t>
            </a:r>
          </a:p>
        </p:txBody>
      </p:sp>
      <p:sp>
        <p:nvSpPr>
          <p:cNvPr id="2" name="TextBox 1">
            <a:extLst>
              <a:ext uri="{FF2B5EF4-FFF2-40B4-BE49-F238E27FC236}">
                <a16:creationId xmlns:a16="http://schemas.microsoft.com/office/drawing/2014/main" id="{A69D0AB7-4C1E-4AC3-ACFC-50B1716BE264}"/>
              </a:ext>
            </a:extLst>
          </p:cNvPr>
          <p:cNvSpPr txBox="1"/>
          <p:nvPr/>
        </p:nvSpPr>
        <p:spPr>
          <a:xfrm>
            <a:off x="7124131" y="1719263"/>
            <a:ext cx="4926842" cy="3693319"/>
          </a:xfrm>
          <a:prstGeom prst="rect">
            <a:avLst/>
          </a:prstGeom>
          <a:noFill/>
        </p:spPr>
        <p:txBody>
          <a:bodyPr wrap="square" rtlCol="0">
            <a:spAutoFit/>
          </a:bodyPr>
          <a:lstStyle/>
          <a:p>
            <a:r>
              <a:rPr lang="en-GB" b="1" dirty="0"/>
              <a:t>Step 1</a:t>
            </a:r>
          </a:p>
          <a:p>
            <a:endParaRPr lang="en-GB" b="1" dirty="0"/>
          </a:p>
          <a:p>
            <a:r>
              <a:rPr lang="en-GB" b="1" dirty="0"/>
              <a:t>Identify classes from a use case:</a:t>
            </a:r>
          </a:p>
          <a:p>
            <a:r>
              <a:rPr lang="en-GB" b="1" dirty="0"/>
              <a:t> </a:t>
            </a:r>
          </a:p>
          <a:p>
            <a:pPr marL="285750" indent="-285750">
              <a:buFont typeface="Arial" panose="020B0604020202020204" pitchFamily="34" charset="0"/>
              <a:buChar char="•"/>
            </a:pPr>
            <a:r>
              <a:rPr lang="en-GB" b="1" dirty="0"/>
              <a:t>Is it a noun? Y/N</a:t>
            </a:r>
          </a:p>
          <a:p>
            <a:pPr marL="742950" lvl="1" indent="-285750">
              <a:buFont typeface="Arial" panose="020B0604020202020204" pitchFamily="34" charset="0"/>
              <a:buChar char="•"/>
            </a:pPr>
            <a:r>
              <a:rPr lang="en-GB" b="1" dirty="0"/>
              <a:t>Y – could be a class/attribute</a:t>
            </a:r>
          </a:p>
          <a:p>
            <a:pPr marL="742950" lvl="1" indent="-285750">
              <a:buFont typeface="Arial" panose="020B0604020202020204" pitchFamily="34" charset="0"/>
              <a:buChar char="•"/>
            </a:pPr>
            <a:r>
              <a:rPr lang="en-GB" b="1" dirty="0"/>
              <a:t>N – not a class/attribute</a:t>
            </a:r>
          </a:p>
          <a:p>
            <a:pPr lvl="1"/>
            <a:endParaRPr lang="en-GB" b="1" dirty="0"/>
          </a:p>
          <a:p>
            <a:pPr marL="285750" indent="-285750">
              <a:buFont typeface="Arial" panose="020B0604020202020204" pitchFamily="34" charset="0"/>
              <a:buChar char="•"/>
            </a:pPr>
            <a:r>
              <a:rPr lang="en-GB" b="1" dirty="0"/>
              <a:t>Does it have attributes? Y/N</a:t>
            </a:r>
          </a:p>
          <a:p>
            <a:pPr marL="742950" lvl="1" indent="-285750">
              <a:buFont typeface="Arial" panose="020B0604020202020204" pitchFamily="34" charset="0"/>
              <a:buChar char="•"/>
            </a:pPr>
            <a:r>
              <a:rPr lang="en-GB" b="1" dirty="0"/>
              <a:t>Y – is a class, identify the attributes</a:t>
            </a:r>
          </a:p>
          <a:p>
            <a:pPr marL="742950" lvl="1" indent="-285750">
              <a:buFont typeface="Arial" panose="020B0604020202020204" pitchFamily="34" charset="0"/>
              <a:buChar char="•"/>
            </a:pPr>
            <a:r>
              <a:rPr lang="en-GB" b="1" dirty="0"/>
              <a:t>N – not a class</a:t>
            </a:r>
          </a:p>
          <a:p>
            <a:pPr lvl="1"/>
            <a:endParaRPr lang="en-GB" b="1" dirty="0"/>
          </a:p>
          <a:p>
            <a:pPr marL="285750" indent="-285750">
              <a:buFont typeface="Arial" panose="020B0604020202020204" pitchFamily="34" charset="0"/>
              <a:buChar char="•"/>
            </a:pPr>
            <a:r>
              <a:rPr lang="en-GB" b="1" dirty="0"/>
              <a:t>Identify the operations/methods</a:t>
            </a:r>
          </a:p>
        </p:txBody>
      </p:sp>
    </p:spTree>
    <p:extLst>
      <p:ext uri="{BB962C8B-B14F-4D97-AF65-F5344CB8AC3E}">
        <p14:creationId xmlns:p14="http://schemas.microsoft.com/office/powerpoint/2010/main" val="16502284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1676093" y="667777"/>
            <a:ext cx="7821612" cy="785812"/>
          </a:xfrm>
        </p:spPr>
        <p:txBody>
          <a:bodyPr/>
          <a:lstStyle/>
          <a:p>
            <a:r>
              <a:rPr lang="en-GB" altLang="en-US" sz="3200" dirty="0"/>
              <a:t>Add classes, Attributes and Operations</a:t>
            </a:r>
          </a:p>
        </p:txBody>
      </p:sp>
      <p:pic>
        <p:nvPicPr>
          <p:cNvPr id="1741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8926" y="1773239"/>
            <a:ext cx="8569325"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66C24FF5-2594-407E-A16B-6FD170B43747}"/>
              </a:ext>
            </a:extLst>
          </p:cNvPr>
          <p:cNvSpPr txBox="1"/>
          <p:nvPr/>
        </p:nvSpPr>
        <p:spPr>
          <a:xfrm>
            <a:off x="2156346" y="5854890"/>
            <a:ext cx="6400800" cy="369332"/>
          </a:xfrm>
          <a:prstGeom prst="rect">
            <a:avLst/>
          </a:prstGeom>
          <a:noFill/>
        </p:spPr>
        <p:txBody>
          <a:bodyPr wrap="square" rtlCol="0">
            <a:spAutoFit/>
          </a:bodyPr>
          <a:lstStyle/>
          <a:p>
            <a:r>
              <a:rPr lang="en-GB" b="1" dirty="0"/>
              <a:t>Step 2 : Identify relationships and multiplicities</a:t>
            </a:r>
          </a:p>
        </p:txBody>
      </p:sp>
    </p:spTree>
    <p:extLst>
      <p:ext uri="{BB962C8B-B14F-4D97-AF65-F5344CB8AC3E}">
        <p14:creationId xmlns:p14="http://schemas.microsoft.com/office/powerpoint/2010/main" val="25918944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784350" y="599910"/>
            <a:ext cx="7543800" cy="714375"/>
          </a:xfrm>
        </p:spPr>
        <p:txBody>
          <a:bodyPr/>
          <a:lstStyle/>
          <a:p>
            <a:r>
              <a:rPr lang="en-GB" altLang="en-US" sz="3200" dirty="0"/>
              <a:t>Add Associations and Multiplicities</a:t>
            </a:r>
          </a:p>
        </p:txBody>
      </p:sp>
      <p:pic>
        <p:nvPicPr>
          <p:cNvPr id="1843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4350" y="1485900"/>
            <a:ext cx="8374063" cy="489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2"/>
          <p:cNvSpPr txBox="1">
            <a:spLocks/>
          </p:cNvSpPr>
          <p:nvPr/>
        </p:nvSpPr>
        <p:spPr bwMode="auto">
          <a:xfrm>
            <a:off x="1703389" y="2060576"/>
            <a:ext cx="3455987" cy="720725"/>
          </a:xfrm>
          <a:prstGeom prst="rect">
            <a:avLst/>
          </a:prstGeom>
          <a:noFill/>
          <a:ln w="9525">
            <a:solidFill>
              <a:schemeClr val="accent2">
                <a:lumMod val="60000"/>
                <a:lumOff val="40000"/>
              </a:schemeClr>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a:lstStyle>
          <a:p>
            <a:pPr>
              <a:defRPr/>
            </a:pPr>
            <a:r>
              <a:rPr lang="en-GB" sz="2000" dirty="0"/>
              <a:t>Associations will help identify operations	</a:t>
            </a:r>
          </a:p>
        </p:txBody>
      </p:sp>
    </p:spTree>
    <p:extLst>
      <p:ext uri="{BB962C8B-B14F-4D97-AF65-F5344CB8AC3E}">
        <p14:creationId xmlns:p14="http://schemas.microsoft.com/office/powerpoint/2010/main" val="37197588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7A62B-4DE9-432D-AB50-48ADF36231A7}"/>
              </a:ext>
            </a:extLst>
          </p:cNvPr>
          <p:cNvSpPr>
            <a:spLocks noGrp="1"/>
          </p:cNvSpPr>
          <p:nvPr>
            <p:ph type="title"/>
          </p:nvPr>
        </p:nvSpPr>
        <p:spPr/>
        <p:txBody>
          <a:bodyPr/>
          <a:lstStyle/>
          <a:p>
            <a:r>
              <a:rPr lang="en-GB" dirty="0"/>
              <a:t>Steps &amp; Example for Database Design</a:t>
            </a:r>
          </a:p>
        </p:txBody>
      </p:sp>
      <p:sp>
        <p:nvSpPr>
          <p:cNvPr id="3" name="Content Placeholder 2">
            <a:extLst>
              <a:ext uri="{FF2B5EF4-FFF2-40B4-BE49-F238E27FC236}">
                <a16:creationId xmlns:a16="http://schemas.microsoft.com/office/drawing/2014/main" id="{53660758-1BCF-4646-BE3D-528928FA2105}"/>
              </a:ext>
            </a:extLst>
          </p:cNvPr>
          <p:cNvSpPr>
            <a:spLocks noGrp="1"/>
          </p:cNvSpPr>
          <p:nvPr>
            <p:ph idx="1"/>
          </p:nvPr>
        </p:nvSpPr>
        <p:spPr/>
        <p:txBody>
          <a:bodyPr/>
          <a:lstStyle/>
          <a:p>
            <a:r>
              <a:rPr lang="en-GB" sz="2200" dirty="0"/>
              <a:t>Identify the nouns</a:t>
            </a:r>
          </a:p>
          <a:p>
            <a:r>
              <a:rPr lang="en-GB" sz="2200" dirty="0"/>
              <a:t>Decide which nouns are classes and which are attributes</a:t>
            </a:r>
          </a:p>
          <a:p>
            <a:r>
              <a:rPr lang="en-GB" sz="2200" dirty="0"/>
              <a:t>Draw the classes and attributes</a:t>
            </a:r>
          </a:p>
          <a:p>
            <a:pPr lvl="1">
              <a:buFont typeface="Arial" panose="020B0604020202020204" pitchFamily="34" charset="0"/>
              <a:buChar char="•"/>
            </a:pPr>
            <a:r>
              <a:rPr lang="en-GB" sz="2000" dirty="0"/>
              <a:t>Add other appropriate attributes</a:t>
            </a:r>
          </a:p>
          <a:p>
            <a:r>
              <a:rPr lang="en-GB" sz="2200" dirty="0"/>
              <a:t>Choose or create appropriate keys – can include them as properties of attributes</a:t>
            </a:r>
          </a:p>
          <a:p>
            <a:r>
              <a:rPr lang="en-GB" sz="2200" dirty="0"/>
              <a:t>Apply appropriate associations and relationships</a:t>
            </a:r>
          </a:p>
          <a:p>
            <a:endParaRPr lang="en-GB" dirty="0"/>
          </a:p>
        </p:txBody>
      </p:sp>
    </p:spTree>
    <p:extLst>
      <p:ext uri="{BB962C8B-B14F-4D97-AF65-F5344CB8AC3E}">
        <p14:creationId xmlns:p14="http://schemas.microsoft.com/office/powerpoint/2010/main" val="37665252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Space Game in SQL</a:t>
            </a:r>
          </a:p>
        </p:txBody>
      </p:sp>
      <p:sp>
        <p:nvSpPr>
          <p:cNvPr id="3" name="Content Placeholder 2"/>
          <p:cNvSpPr>
            <a:spLocks noGrp="1"/>
          </p:cNvSpPr>
          <p:nvPr>
            <p:ph idx="1"/>
          </p:nvPr>
        </p:nvSpPr>
        <p:spPr>
          <a:xfrm>
            <a:off x="1264830" y="1504540"/>
            <a:ext cx="10399320" cy="5060033"/>
          </a:xfrm>
        </p:spPr>
        <p:txBody>
          <a:bodyPr>
            <a:noAutofit/>
          </a:bodyPr>
          <a:lstStyle/>
          <a:p>
            <a:r>
              <a:rPr lang="en-GB" dirty="0"/>
              <a:t>The game will see players compete for control of planets and their resources. Every player starts off with one home planet and a mining ship capable of mining a planet from space to gather its resources. There are three resources available: fuel, metal and gold. Planets may have no resources or all three (home planets always have all three).</a:t>
            </a:r>
          </a:p>
          <a:p>
            <a:endParaRPr lang="en-GB" dirty="0"/>
          </a:p>
          <a:p>
            <a:r>
              <a:rPr lang="en-GB" dirty="0"/>
              <a:t>Players will utilise resources to build their fleet, using metal to build ships and planet defences; gold to pay the crew and fuel to fire the engines and weapons. There are three types of ships: mining ships are defenceless, slow hulks that gather resources from a planet. Scout ships are small, lightly armed and fast designed for identifying new planets. Attack ships are well armed and do the fighting. They can attack other ships or conquer planets, but in order to control a planet the ship must land and be converted into a base.</a:t>
            </a:r>
          </a:p>
          <a:p>
            <a:endParaRPr lang="en-GB" sz="1200" dirty="0"/>
          </a:p>
          <a:p>
            <a:r>
              <a:rPr lang="en-GB" dirty="0"/>
              <a:t>Players are ranked based on the size of their empires – made up of the planets and ships they own.</a:t>
            </a:r>
          </a:p>
          <a:p>
            <a:r>
              <a:rPr lang="en-GB" b="1" dirty="0"/>
              <a:t>Step 1 </a:t>
            </a:r>
            <a:r>
              <a:rPr lang="en-GB" sz="1800" b="1" dirty="0"/>
              <a:t>Identify the nouns</a:t>
            </a:r>
          </a:p>
          <a:p>
            <a:pPr marL="0" indent="0">
              <a:buNone/>
            </a:pPr>
            <a:endParaRPr lang="en-GB" b="1" dirty="0"/>
          </a:p>
        </p:txBody>
      </p:sp>
    </p:spTree>
    <p:extLst>
      <p:ext uri="{BB962C8B-B14F-4D97-AF65-F5344CB8AC3E}">
        <p14:creationId xmlns:p14="http://schemas.microsoft.com/office/powerpoint/2010/main" val="4028427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1: The Nouns</a:t>
            </a:r>
          </a:p>
        </p:txBody>
      </p:sp>
      <p:sp>
        <p:nvSpPr>
          <p:cNvPr id="3" name="Content Placeholder 2"/>
          <p:cNvSpPr>
            <a:spLocks noGrp="1"/>
          </p:cNvSpPr>
          <p:nvPr>
            <p:ph idx="1"/>
          </p:nvPr>
        </p:nvSpPr>
        <p:spPr>
          <a:xfrm>
            <a:off x="1097280" y="1845734"/>
            <a:ext cx="10399320" cy="4463586"/>
          </a:xfrm>
        </p:spPr>
        <p:txBody>
          <a:bodyPr>
            <a:normAutofit lnSpcReduction="10000"/>
          </a:bodyPr>
          <a:lstStyle/>
          <a:p>
            <a:r>
              <a:rPr lang="en-GB" dirty="0"/>
              <a:t>The game will see </a:t>
            </a:r>
            <a:r>
              <a:rPr lang="en-GB" b="1" dirty="0">
                <a:solidFill>
                  <a:srgbClr val="FF0000"/>
                </a:solidFill>
              </a:rPr>
              <a:t>players </a:t>
            </a:r>
            <a:r>
              <a:rPr lang="en-GB" dirty="0"/>
              <a:t>compete for control of </a:t>
            </a:r>
            <a:r>
              <a:rPr lang="en-GB" b="1" dirty="0">
                <a:solidFill>
                  <a:srgbClr val="FF0000"/>
                </a:solidFill>
              </a:rPr>
              <a:t>planets </a:t>
            </a:r>
            <a:r>
              <a:rPr lang="en-GB" dirty="0"/>
              <a:t>and their </a:t>
            </a:r>
            <a:r>
              <a:rPr lang="en-GB" b="1" dirty="0">
                <a:solidFill>
                  <a:srgbClr val="FF0000"/>
                </a:solidFill>
              </a:rPr>
              <a:t>resources</a:t>
            </a:r>
            <a:r>
              <a:rPr lang="en-GB" dirty="0"/>
              <a:t>. Every player starts off with one </a:t>
            </a:r>
            <a:r>
              <a:rPr lang="en-GB" b="1" dirty="0">
                <a:solidFill>
                  <a:srgbClr val="FF0000"/>
                </a:solidFill>
              </a:rPr>
              <a:t>home planet</a:t>
            </a:r>
            <a:r>
              <a:rPr lang="en-GB" dirty="0"/>
              <a:t> and a </a:t>
            </a:r>
            <a:r>
              <a:rPr lang="en-GB" b="1" dirty="0">
                <a:solidFill>
                  <a:srgbClr val="FF0000"/>
                </a:solidFill>
              </a:rPr>
              <a:t>mining ship </a:t>
            </a:r>
            <a:r>
              <a:rPr lang="en-GB" dirty="0"/>
              <a:t>capable of mining a planet from space to gather its resources. There are three resources available: </a:t>
            </a:r>
            <a:r>
              <a:rPr lang="en-GB" b="1" dirty="0">
                <a:solidFill>
                  <a:srgbClr val="FF0000"/>
                </a:solidFill>
              </a:rPr>
              <a:t>fuel</a:t>
            </a:r>
            <a:r>
              <a:rPr lang="en-GB" dirty="0"/>
              <a:t>, </a:t>
            </a:r>
            <a:r>
              <a:rPr lang="en-GB" b="1" dirty="0">
                <a:solidFill>
                  <a:srgbClr val="FF0000"/>
                </a:solidFill>
              </a:rPr>
              <a:t>metal </a:t>
            </a:r>
            <a:r>
              <a:rPr lang="en-GB" dirty="0"/>
              <a:t>and </a:t>
            </a:r>
            <a:r>
              <a:rPr lang="en-GB" b="1" dirty="0">
                <a:solidFill>
                  <a:srgbClr val="FF0000"/>
                </a:solidFill>
              </a:rPr>
              <a:t>gold</a:t>
            </a:r>
            <a:r>
              <a:rPr lang="en-GB" dirty="0"/>
              <a:t>. Planets may have no resources or all three (home planets always have all three).</a:t>
            </a:r>
          </a:p>
          <a:p>
            <a:endParaRPr lang="en-GB" dirty="0"/>
          </a:p>
          <a:p>
            <a:r>
              <a:rPr lang="en-GB" dirty="0"/>
              <a:t>Players will utilise resources to build their </a:t>
            </a:r>
            <a:r>
              <a:rPr lang="en-GB" b="1" dirty="0">
                <a:solidFill>
                  <a:srgbClr val="FF0000"/>
                </a:solidFill>
              </a:rPr>
              <a:t>fleet</a:t>
            </a:r>
            <a:r>
              <a:rPr lang="en-GB" dirty="0"/>
              <a:t>, using metal to build ships and </a:t>
            </a:r>
            <a:r>
              <a:rPr lang="en-GB" b="1" dirty="0">
                <a:solidFill>
                  <a:srgbClr val="FF0000"/>
                </a:solidFill>
              </a:rPr>
              <a:t>planet defences</a:t>
            </a:r>
            <a:r>
              <a:rPr lang="en-GB" dirty="0"/>
              <a:t>; gold to pay the </a:t>
            </a:r>
            <a:r>
              <a:rPr lang="en-GB" b="1" dirty="0">
                <a:solidFill>
                  <a:srgbClr val="FF0000"/>
                </a:solidFill>
              </a:rPr>
              <a:t>crew </a:t>
            </a:r>
            <a:r>
              <a:rPr lang="en-GB" dirty="0"/>
              <a:t>and fuel to fire the </a:t>
            </a:r>
            <a:r>
              <a:rPr lang="en-GB" b="1" dirty="0">
                <a:solidFill>
                  <a:srgbClr val="FF0000"/>
                </a:solidFill>
              </a:rPr>
              <a:t>engines </a:t>
            </a:r>
            <a:r>
              <a:rPr lang="en-GB" dirty="0"/>
              <a:t>and </a:t>
            </a:r>
            <a:r>
              <a:rPr lang="en-GB" b="1" dirty="0">
                <a:solidFill>
                  <a:srgbClr val="FF0000"/>
                </a:solidFill>
              </a:rPr>
              <a:t>weapons</a:t>
            </a:r>
            <a:r>
              <a:rPr lang="en-GB" dirty="0"/>
              <a:t>. There are three types of ships: </a:t>
            </a:r>
            <a:r>
              <a:rPr lang="en-GB" dirty="0">
                <a:solidFill>
                  <a:schemeClr val="tx1"/>
                </a:solidFill>
              </a:rPr>
              <a:t>mining ships</a:t>
            </a:r>
            <a:r>
              <a:rPr lang="en-GB" b="1" dirty="0">
                <a:solidFill>
                  <a:srgbClr val="FF0000"/>
                </a:solidFill>
              </a:rPr>
              <a:t> </a:t>
            </a:r>
            <a:r>
              <a:rPr lang="en-GB" dirty="0"/>
              <a:t>are defenceless, slow hulks that gather resources from a planet. </a:t>
            </a:r>
            <a:r>
              <a:rPr lang="en-GB" b="1" dirty="0">
                <a:solidFill>
                  <a:srgbClr val="FF0000"/>
                </a:solidFill>
              </a:rPr>
              <a:t>Scout ships </a:t>
            </a:r>
            <a:r>
              <a:rPr lang="en-GB" dirty="0"/>
              <a:t>are small, lightly armed and fast designed for identifying new planets. </a:t>
            </a:r>
            <a:r>
              <a:rPr lang="en-GB" b="1" dirty="0">
                <a:solidFill>
                  <a:srgbClr val="FF0000"/>
                </a:solidFill>
              </a:rPr>
              <a:t>Attack ships </a:t>
            </a:r>
            <a:r>
              <a:rPr lang="en-GB" dirty="0"/>
              <a:t>are well armed and do the fighting. They can attack other ships or conquer planets, but in order to control a planet the ship must land and be converted into a base.</a:t>
            </a:r>
          </a:p>
          <a:p>
            <a:endParaRPr lang="en-GB" sz="1200" dirty="0"/>
          </a:p>
          <a:p>
            <a:r>
              <a:rPr lang="en-GB" dirty="0"/>
              <a:t>Players are </a:t>
            </a:r>
            <a:r>
              <a:rPr lang="en-GB" b="1" dirty="0">
                <a:solidFill>
                  <a:srgbClr val="FF0000"/>
                </a:solidFill>
              </a:rPr>
              <a:t>ranked</a:t>
            </a:r>
            <a:r>
              <a:rPr lang="en-GB" dirty="0"/>
              <a:t> based on the size of their empires – made up of the planets and ships they own.</a:t>
            </a:r>
          </a:p>
        </p:txBody>
      </p:sp>
    </p:spTree>
    <p:extLst>
      <p:ext uri="{BB962C8B-B14F-4D97-AF65-F5344CB8AC3E}">
        <p14:creationId xmlns:p14="http://schemas.microsoft.com/office/powerpoint/2010/main" val="19520776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1: The Nouns</a:t>
            </a:r>
          </a:p>
        </p:txBody>
      </p:sp>
      <p:sp>
        <p:nvSpPr>
          <p:cNvPr id="3" name="Content Placeholder 2"/>
          <p:cNvSpPr>
            <a:spLocks noGrp="1"/>
          </p:cNvSpPr>
          <p:nvPr>
            <p:ph idx="1"/>
          </p:nvPr>
        </p:nvSpPr>
        <p:spPr/>
        <p:txBody>
          <a:bodyPr numCol="3"/>
          <a:lstStyle/>
          <a:p>
            <a:r>
              <a:rPr lang="en-GB" dirty="0"/>
              <a:t>Player</a:t>
            </a:r>
          </a:p>
          <a:p>
            <a:r>
              <a:rPr lang="en-GB" dirty="0"/>
              <a:t>Planet</a:t>
            </a:r>
          </a:p>
          <a:p>
            <a:r>
              <a:rPr lang="en-GB" dirty="0"/>
              <a:t>Resource</a:t>
            </a:r>
          </a:p>
          <a:p>
            <a:r>
              <a:rPr lang="en-GB" dirty="0"/>
              <a:t>Home planet</a:t>
            </a:r>
          </a:p>
          <a:p>
            <a:r>
              <a:rPr lang="en-GB" dirty="0"/>
              <a:t>Mining ship</a:t>
            </a:r>
          </a:p>
          <a:p>
            <a:r>
              <a:rPr lang="en-GB" dirty="0"/>
              <a:t>Fuel</a:t>
            </a:r>
          </a:p>
          <a:p>
            <a:r>
              <a:rPr lang="en-GB" dirty="0"/>
              <a:t>Metal</a:t>
            </a:r>
          </a:p>
          <a:p>
            <a:r>
              <a:rPr lang="en-GB" dirty="0"/>
              <a:t>Gold</a:t>
            </a:r>
          </a:p>
          <a:p>
            <a:r>
              <a:rPr lang="en-GB" dirty="0"/>
              <a:t>Fleet</a:t>
            </a:r>
          </a:p>
          <a:p>
            <a:r>
              <a:rPr lang="en-GB" dirty="0"/>
              <a:t>Planet defence</a:t>
            </a:r>
          </a:p>
          <a:p>
            <a:r>
              <a:rPr lang="en-GB" dirty="0"/>
              <a:t>Crew</a:t>
            </a:r>
          </a:p>
          <a:p>
            <a:r>
              <a:rPr lang="en-GB" dirty="0"/>
              <a:t>Engine</a:t>
            </a:r>
          </a:p>
          <a:p>
            <a:r>
              <a:rPr lang="en-GB" dirty="0"/>
              <a:t>Weapon</a:t>
            </a:r>
          </a:p>
          <a:p>
            <a:r>
              <a:rPr lang="en-GB" dirty="0"/>
              <a:t>Scout ship</a:t>
            </a:r>
          </a:p>
          <a:p>
            <a:r>
              <a:rPr lang="en-GB" dirty="0"/>
              <a:t>Attack ship</a:t>
            </a:r>
          </a:p>
          <a:p>
            <a:r>
              <a:rPr lang="en-GB" dirty="0"/>
              <a:t>Rank</a:t>
            </a:r>
          </a:p>
        </p:txBody>
      </p:sp>
      <p:sp>
        <p:nvSpPr>
          <p:cNvPr id="5" name="TextBox 4">
            <a:extLst>
              <a:ext uri="{FF2B5EF4-FFF2-40B4-BE49-F238E27FC236}">
                <a16:creationId xmlns:a16="http://schemas.microsoft.com/office/drawing/2014/main" id="{BE1EBFD2-D2DD-4576-A276-0DEDDE27DAD4}"/>
              </a:ext>
            </a:extLst>
          </p:cNvPr>
          <p:cNvSpPr txBox="1"/>
          <p:nvPr/>
        </p:nvSpPr>
        <p:spPr>
          <a:xfrm>
            <a:off x="2589212" y="6086901"/>
            <a:ext cx="7316426" cy="646331"/>
          </a:xfrm>
          <a:prstGeom prst="rect">
            <a:avLst/>
          </a:prstGeom>
          <a:noFill/>
        </p:spPr>
        <p:txBody>
          <a:bodyPr wrap="none" rtlCol="0">
            <a:spAutoFit/>
          </a:bodyPr>
          <a:lstStyle/>
          <a:p>
            <a:r>
              <a:rPr lang="en-GB" b="1" dirty="0"/>
              <a:t>Step 2 </a:t>
            </a:r>
            <a:r>
              <a:rPr lang="en-GB" sz="1800" b="1" dirty="0"/>
              <a:t>Decide which nouns are classes and which are attributes</a:t>
            </a:r>
          </a:p>
          <a:p>
            <a:endParaRPr lang="en-GB" dirty="0"/>
          </a:p>
        </p:txBody>
      </p:sp>
    </p:spTree>
    <p:extLst>
      <p:ext uri="{BB962C8B-B14F-4D97-AF65-F5344CB8AC3E}">
        <p14:creationId xmlns:p14="http://schemas.microsoft.com/office/powerpoint/2010/main" val="33906970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2: Class or Attribute?</a:t>
            </a:r>
          </a:p>
        </p:txBody>
      </p:sp>
      <p:sp>
        <p:nvSpPr>
          <p:cNvPr id="3" name="Content Placeholder 2"/>
          <p:cNvSpPr>
            <a:spLocks noGrp="1"/>
          </p:cNvSpPr>
          <p:nvPr>
            <p:ph idx="1"/>
          </p:nvPr>
        </p:nvSpPr>
        <p:spPr/>
        <p:txBody>
          <a:bodyPr numCol="3"/>
          <a:lstStyle/>
          <a:p>
            <a:r>
              <a:rPr lang="en-GB" dirty="0"/>
              <a:t>Player – class </a:t>
            </a:r>
          </a:p>
          <a:p>
            <a:r>
              <a:rPr lang="en-GB" dirty="0"/>
              <a:t>Planet – class </a:t>
            </a:r>
          </a:p>
          <a:p>
            <a:r>
              <a:rPr lang="en-GB" dirty="0"/>
              <a:t>Resource – class </a:t>
            </a:r>
          </a:p>
          <a:p>
            <a:r>
              <a:rPr lang="en-GB" dirty="0"/>
              <a:t>Home planet – attribute </a:t>
            </a:r>
          </a:p>
          <a:p>
            <a:r>
              <a:rPr lang="en-GB" dirty="0"/>
              <a:t>Mining ship – class </a:t>
            </a:r>
          </a:p>
          <a:p>
            <a:r>
              <a:rPr lang="en-GB" dirty="0"/>
              <a:t>Fuel – attribute </a:t>
            </a:r>
          </a:p>
          <a:p>
            <a:r>
              <a:rPr lang="en-GB" dirty="0"/>
              <a:t>Metal – attribute </a:t>
            </a:r>
          </a:p>
          <a:p>
            <a:r>
              <a:rPr lang="en-GB" dirty="0"/>
              <a:t>Gold – attribute </a:t>
            </a:r>
          </a:p>
          <a:p>
            <a:r>
              <a:rPr lang="en-GB" dirty="0"/>
              <a:t>Fleet – class?</a:t>
            </a:r>
          </a:p>
          <a:p>
            <a:r>
              <a:rPr lang="en-GB" dirty="0"/>
              <a:t>Planet defence – attribute </a:t>
            </a:r>
          </a:p>
          <a:p>
            <a:r>
              <a:rPr lang="en-GB" dirty="0"/>
              <a:t>Crew – attribute </a:t>
            </a:r>
          </a:p>
          <a:p>
            <a:r>
              <a:rPr lang="en-GB" dirty="0"/>
              <a:t>Engine – attribute</a:t>
            </a:r>
          </a:p>
          <a:p>
            <a:r>
              <a:rPr lang="en-GB" dirty="0"/>
              <a:t>Weapon – attribute</a:t>
            </a:r>
          </a:p>
          <a:p>
            <a:r>
              <a:rPr lang="en-GB" dirty="0"/>
              <a:t>Scout ship – class </a:t>
            </a:r>
          </a:p>
          <a:p>
            <a:r>
              <a:rPr lang="en-GB" dirty="0"/>
              <a:t>Attack ship – class </a:t>
            </a:r>
          </a:p>
          <a:p>
            <a:r>
              <a:rPr lang="en-GB" dirty="0"/>
              <a:t>Rank – attribute </a:t>
            </a:r>
          </a:p>
        </p:txBody>
      </p:sp>
      <p:sp>
        <p:nvSpPr>
          <p:cNvPr id="5" name="TextBox 4">
            <a:extLst>
              <a:ext uri="{FF2B5EF4-FFF2-40B4-BE49-F238E27FC236}">
                <a16:creationId xmlns:a16="http://schemas.microsoft.com/office/drawing/2014/main" id="{718EA4A7-4F98-485C-A754-8770B7350A95}"/>
              </a:ext>
            </a:extLst>
          </p:cNvPr>
          <p:cNvSpPr txBox="1"/>
          <p:nvPr/>
        </p:nvSpPr>
        <p:spPr>
          <a:xfrm>
            <a:off x="2589212" y="6086901"/>
            <a:ext cx="4424609" cy="646331"/>
          </a:xfrm>
          <a:prstGeom prst="rect">
            <a:avLst/>
          </a:prstGeom>
          <a:noFill/>
        </p:spPr>
        <p:txBody>
          <a:bodyPr wrap="none" rtlCol="0">
            <a:spAutoFit/>
          </a:bodyPr>
          <a:lstStyle/>
          <a:p>
            <a:r>
              <a:rPr lang="en-GB" b="1" dirty="0"/>
              <a:t>Step 3 </a:t>
            </a:r>
            <a:r>
              <a:rPr lang="en-GB" sz="1800" b="1" dirty="0"/>
              <a:t>Draw the classes and attributes</a:t>
            </a:r>
          </a:p>
          <a:p>
            <a:endParaRPr lang="en-GB" dirty="0"/>
          </a:p>
        </p:txBody>
      </p:sp>
    </p:spTree>
    <p:extLst>
      <p:ext uri="{BB962C8B-B14F-4D97-AF65-F5344CB8AC3E}">
        <p14:creationId xmlns:p14="http://schemas.microsoft.com/office/powerpoint/2010/main" val="882428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3: Drawing the Classes</a:t>
            </a:r>
          </a:p>
        </p:txBody>
      </p:sp>
      <p:pic>
        <p:nvPicPr>
          <p:cNvPr id="6" name="Picture 5"/>
          <p:cNvPicPr>
            <a:picLocks noChangeAspect="1"/>
          </p:cNvPicPr>
          <p:nvPr/>
        </p:nvPicPr>
        <p:blipFill>
          <a:blip r:embed="rId2"/>
          <a:stretch>
            <a:fillRect/>
          </a:stretch>
        </p:blipFill>
        <p:spPr>
          <a:xfrm>
            <a:off x="983432" y="2060848"/>
            <a:ext cx="10237660" cy="1440160"/>
          </a:xfrm>
          <a:prstGeom prst="rect">
            <a:avLst/>
          </a:prstGeom>
        </p:spPr>
      </p:pic>
      <p:sp>
        <p:nvSpPr>
          <p:cNvPr id="7" name="TextBox 6">
            <a:extLst>
              <a:ext uri="{FF2B5EF4-FFF2-40B4-BE49-F238E27FC236}">
                <a16:creationId xmlns:a16="http://schemas.microsoft.com/office/drawing/2014/main" id="{6AF4B8E5-2CF2-4666-93B1-DCCA5A0C5649}"/>
              </a:ext>
            </a:extLst>
          </p:cNvPr>
          <p:cNvSpPr txBox="1"/>
          <p:nvPr/>
        </p:nvSpPr>
        <p:spPr>
          <a:xfrm>
            <a:off x="1770347" y="4382949"/>
            <a:ext cx="4751622" cy="646331"/>
          </a:xfrm>
          <a:prstGeom prst="rect">
            <a:avLst/>
          </a:prstGeom>
          <a:noFill/>
        </p:spPr>
        <p:txBody>
          <a:bodyPr wrap="none" rtlCol="0">
            <a:spAutoFit/>
          </a:bodyPr>
          <a:lstStyle/>
          <a:p>
            <a:r>
              <a:rPr lang="en-GB" b="1" dirty="0"/>
              <a:t>Step 3a </a:t>
            </a:r>
            <a:r>
              <a:rPr lang="en-GB" sz="1800" b="1" dirty="0"/>
              <a:t>Add other appropriate attributes</a:t>
            </a:r>
          </a:p>
          <a:p>
            <a:endParaRPr lang="en-GB" dirty="0"/>
          </a:p>
        </p:txBody>
      </p:sp>
    </p:spTree>
    <p:extLst>
      <p:ext uri="{BB962C8B-B14F-4D97-AF65-F5344CB8AC3E}">
        <p14:creationId xmlns:p14="http://schemas.microsoft.com/office/powerpoint/2010/main" val="11684229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3a: Add Other Attributes</a:t>
            </a:r>
          </a:p>
        </p:txBody>
      </p:sp>
      <p:pic>
        <p:nvPicPr>
          <p:cNvPr id="5" name="Picture 4"/>
          <p:cNvPicPr>
            <a:picLocks noChangeAspect="1"/>
          </p:cNvPicPr>
          <p:nvPr/>
        </p:nvPicPr>
        <p:blipFill>
          <a:blip r:embed="rId2"/>
          <a:stretch>
            <a:fillRect/>
          </a:stretch>
        </p:blipFill>
        <p:spPr>
          <a:xfrm>
            <a:off x="1097280" y="2204864"/>
            <a:ext cx="9914364" cy="2304256"/>
          </a:xfrm>
          <a:prstGeom prst="rect">
            <a:avLst/>
          </a:prstGeom>
        </p:spPr>
      </p:pic>
      <p:sp>
        <p:nvSpPr>
          <p:cNvPr id="6" name="TextBox 5">
            <a:extLst>
              <a:ext uri="{FF2B5EF4-FFF2-40B4-BE49-F238E27FC236}">
                <a16:creationId xmlns:a16="http://schemas.microsoft.com/office/drawing/2014/main" id="{EA891799-244D-4FE0-9348-A0B9AA625A40}"/>
              </a:ext>
            </a:extLst>
          </p:cNvPr>
          <p:cNvSpPr txBox="1"/>
          <p:nvPr/>
        </p:nvSpPr>
        <p:spPr>
          <a:xfrm>
            <a:off x="1633410" y="5336155"/>
            <a:ext cx="10339690" cy="646331"/>
          </a:xfrm>
          <a:prstGeom prst="rect">
            <a:avLst/>
          </a:prstGeom>
          <a:noFill/>
        </p:spPr>
        <p:txBody>
          <a:bodyPr wrap="none" rtlCol="0">
            <a:spAutoFit/>
          </a:bodyPr>
          <a:lstStyle/>
          <a:p>
            <a:r>
              <a:rPr lang="en-GB" sz="1800" b="1" dirty="0"/>
              <a:t>Step 4: Choose or create appropriate keys – can include them as properties of attributes</a:t>
            </a:r>
          </a:p>
          <a:p>
            <a:endParaRPr lang="en-GB" dirty="0"/>
          </a:p>
        </p:txBody>
      </p:sp>
    </p:spTree>
    <p:extLst>
      <p:ext uri="{BB962C8B-B14F-4D97-AF65-F5344CB8AC3E}">
        <p14:creationId xmlns:p14="http://schemas.microsoft.com/office/powerpoint/2010/main" val="31717995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4: The Keys</a:t>
            </a:r>
          </a:p>
        </p:txBody>
      </p:sp>
      <p:pic>
        <p:nvPicPr>
          <p:cNvPr id="5" name="Picture 4"/>
          <p:cNvPicPr>
            <a:picLocks noChangeAspect="1"/>
          </p:cNvPicPr>
          <p:nvPr/>
        </p:nvPicPr>
        <p:blipFill>
          <a:blip r:embed="rId2"/>
          <a:stretch>
            <a:fillRect/>
          </a:stretch>
        </p:blipFill>
        <p:spPr>
          <a:xfrm>
            <a:off x="1097280" y="2492896"/>
            <a:ext cx="10045180" cy="1736204"/>
          </a:xfrm>
          <a:prstGeom prst="rect">
            <a:avLst/>
          </a:prstGeom>
        </p:spPr>
      </p:pic>
      <p:sp>
        <p:nvSpPr>
          <p:cNvPr id="6" name="TextBox 5">
            <a:extLst>
              <a:ext uri="{FF2B5EF4-FFF2-40B4-BE49-F238E27FC236}">
                <a16:creationId xmlns:a16="http://schemas.microsoft.com/office/drawing/2014/main" id="{0A695DF8-426C-48A7-86A7-565B6E687410}"/>
              </a:ext>
            </a:extLst>
          </p:cNvPr>
          <p:cNvSpPr txBox="1"/>
          <p:nvPr/>
        </p:nvSpPr>
        <p:spPr>
          <a:xfrm>
            <a:off x="2402006" y="5493491"/>
            <a:ext cx="4504759" cy="646331"/>
          </a:xfrm>
          <a:prstGeom prst="rect">
            <a:avLst/>
          </a:prstGeom>
          <a:noFill/>
        </p:spPr>
        <p:txBody>
          <a:bodyPr wrap="none" rtlCol="0">
            <a:spAutoFit/>
          </a:bodyPr>
          <a:lstStyle/>
          <a:p>
            <a:r>
              <a:rPr lang="en-GB" sz="1800" b="1" dirty="0"/>
              <a:t>Step 5: Apply appropriate relationships</a:t>
            </a:r>
          </a:p>
          <a:p>
            <a:endParaRPr lang="en-GB" dirty="0"/>
          </a:p>
        </p:txBody>
      </p:sp>
    </p:spTree>
    <p:extLst>
      <p:ext uri="{BB962C8B-B14F-4D97-AF65-F5344CB8AC3E}">
        <p14:creationId xmlns:p14="http://schemas.microsoft.com/office/powerpoint/2010/main" val="32107983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5: Add Relationships</a:t>
            </a:r>
          </a:p>
        </p:txBody>
      </p:sp>
      <p:pic>
        <p:nvPicPr>
          <p:cNvPr id="7" name="Picture 6"/>
          <p:cNvPicPr>
            <a:picLocks noChangeAspect="1"/>
          </p:cNvPicPr>
          <p:nvPr/>
        </p:nvPicPr>
        <p:blipFill>
          <a:blip r:embed="rId2"/>
          <a:stretch>
            <a:fillRect/>
          </a:stretch>
        </p:blipFill>
        <p:spPr>
          <a:xfrm>
            <a:off x="1311579" y="1431524"/>
            <a:ext cx="9690540" cy="4365290"/>
          </a:xfrm>
          <a:prstGeom prst="rect">
            <a:avLst/>
          </a:prstGeom>
        </p:spPr>
      </p:pic>
      <p:sp>
        <p:nvSpPr>
          <p:cNvPr id="5" name="TextBox 4">
            <a:extLst>
              <a:ext uri="{FF2B5EF4-FFF2-40B4-BE49-F238E27FC236}">
                <a16:creationId xmlns:a16="http://schemas.microsoft.com/office/drawing/2014/main" id="{1E0E3AA7-1240-47A1-9689-EFCBA778E6F4}"/>
              </a:ext>
            </a:extLst>
          </p:cNvPr>
          <p:cNvSpPr txBox="1"/>
          <p:nvPr/>
        </p:nvSpPr>
        <p:spPr>
          <a:xfrm>
            <a:off x="1437067" y="6049224"/>
            <a:ext cx="9565052" cy="646331"/>
          </a:xfrm>
          <a:prstGeom prst="rect">
            <a:avLst/>
          </a:prstGeom>
          <a:noFill/>
        </p:spPr>
        <p:txBody>
          <a:bodyPr wrap="square" rtlCol="0">
            <a:spAutoFit/>
          </a:bodyPr>
          <a:lstStyle/>
          <a:p>
            <a:r>
              <a:rPr lang="en-GB" dirty="0"/>
              <a:t>Further modifications to relationships e.g. for each ship identified in the generalisation section, what is the best way to build this in SQL?</a:t>
            </a:r>
          </a:p>
        </p:txBody>
      </p:sp>
    </p:spTree>
    <p:extLst>
      <p:ext uri="{BB962C8B-B14F-4D97-AF65-F5344CB8AC3E}">
        <p14:creationId xmlns:p14="http://schemas.microsoft.com/office/powerpoint/2010/main" val="27422831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5: Add Relationships</a:t>
            </a:r>
          </a:p>
        </p:txBody>
      </p:sp>
      <p:pic>
        <p:nvPicPr>
          <p:cNvPr id="7" name="Picture 6"/>
          <p:cNvPicPr>
            <a:picLocks noChangeAspect="1"/>
          </p:cNvPicPr>
          <p:nvPr/>
        </p:nvPicPr>
        <p:blipFill>
          <a:blip r:embed="rId2"/>
          <a:stretch>
            <a:fillRect/>
          </a:stretch>
        </p:blipFill>
        <p:spPr>
          <a:xfrm>
            <a:off x="2486024" y="1617134"/>
            <a:ext cx="6833676" cy="4175554"/>
          </a:xfrm>
          <a:prstGeom prst="rect">
            <a:avLst/>
          </a:prstGeom>
        </p:spPr>
      </p:pic>
      <p:sp>
        <p:nvSpPr>
          <p:cNvPr id="5" name="TextBox 4">
            <a:extLst>
              <a:ext uri="{FF2B5EF4-FFF2-40B4-BE49-F238E27FC236}">
                <a16:creationId xmlns:a16="http://schemas.microsoft.com/office/drawing/2014/main" id="{6989B3BF-30AF-40BE-8420-1776FD940739}"/>
              </a:ext>
            </a:extLst>
          </p:cNvPr>
          <p:cNvSpPr txBox="1"/>
          <p:nvPr/>
        </p:nvSpPr>
        <p:spPr>
          <a:xfrm>
            <a:off x="2486024" y="6143625"/>
            <a:ext cx="5700713" cy="369332"/>
          </a:xfrm>
          <a:prstGeom prst="rect">
            <a:avLst/>
          </a:prstGeom>
          <a:noFill/>
        </p:spPr>
        <p:txBody>
          <a:bodyPr wrap="square" rtlCol="0">
            <a:spAutoFit/>
          </a:bodyPr>
          <a:lstStyle/>
          <a:p>
            <a:r>
              <a:rPr lang="en-GB" b="1" dirty="0"/>
              <a:t>Step 6 </a:t>
            </a:r>
            <a:r>
              <a:rPr lang="en-GB" sz="1800" b="1" dirty="0"/>
              <a:t>Apply multiplicities to the associations</a:t>
            </a:r>
            <a:endParaRPr lang="en-GB" b="1" dirty="0"/>
          </a:p>
        </p:txBody>
      </p:sp>
    </p:spTree>
    <p:extLst>
      <p:ext uri="{BB962C8B-B14F-4D97-AF65-F5344CB8AC3E}">
        <p14:creationId xmlns:p14="http://schemas.microsoft.com/office/powerpoint/2010/main" val="32447805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Step 6: Add Multiplicities</a:t>
            </a:r>
          </a:p>
        </p:txBody>
      </p:sp>
      <p:pic>
        <p:nvPicPr>
          <p:cNvPr id="7" name="Picture 6"/>
          <p:cNvPicPr>
            <a:picLocks noChangeAspect="1"/>
          </p:cNvPicPr>
          <p:nvPr/>
        </p:nvPicPr>
        <p:blipFill>
          <a:blip r:embed="rId2"/>
          <a:stretch>
            <a:fillRect/>
          </a:stretch>
        </p:blipFill>
        <p:spPr>
          <a:xfrm>
            <a:off x="2472130" y="1717147"/>
            <a:ext cx="7247739" cy="4247562"/>
          </a:xfrm>
          <a:prstGeom prst="rect">
            <a:avLst/>
          </a:prstGeom>
        </p:spPr>
      </p:pic>
    </p:spTree>
    <p:extLst>
      <p:ext uri="{BB962C8B-B14F-4D97-AF65-F5344CB8AC3E}">
        <p14:creationId xmlns:p14="http://schemas.microsoft.com/office/powerpoint/2010/main" val="154804052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255</TotalTime>
  <Words>2018</Words>
  <Application>Microsoft Office PowerPoint</Application>
  <PresentationFormat>Widescreen</PresentationFormat>
  <Paragraphs>336</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Century Gothic</vt:lpstr>
      <vt:lpstr>Courier New</vt:lpstr>
      <vt:lpstr>Wingdings</vt:lpstr>
      <vt:lpstr>Wingdings 3</vt:lpstr>
      <vt:lpstr>Wisp</vt:lpstr>
      <vt:lpstr>Class Diagrams</vt:lpstr>
      <vt:lpstr>Objectives</vt:lpstr>
      <vt:lpstr>Unified Modelling Language (UML)</vt:lpstr>
      <vt:lpstr>What is a Class Diagram</vt:lpstr>
      <vt:lpstr>Class Components</vt:lpstr>
      <vt:lpstr>Representing a Class</vt:lpstr>
      <vt:lpstr>Class Attributes</vt:lpstr>
      <vt:lpstr>Attribute visibility</vt:lpstr>
      <vt:lpstr>Multiplicity</vt:lpstr>
      <vt:lpstr>Attribute Properties</vt:lpstr>
      <vt:lpstr>Class operations/methods</vt:lpstr>
      <vt:lpstr>Relationships Between Classes</vt:lpstr>
      <vt:lpstr>Multiplicity</vt:lpstr>
      <vt:lpstr>Associations</vt:lpstr>
      <vt:lpstr>Association Multiplicities</vt:lpstr>
      <vt:lpstr>Association class</vt:lpstr>
      <vt:lpstr>Dependency </vt:lpstr>
      <vt:lpstr>Example Class Diagram</vt:lpstr>
      <vt:lpstr>Generalisation (Inheritance)</vt:lpstr>
      <vt:lpstr>Aggregation</vt:lpstr>
      <vt:lpstr>Composition</vt:lpstr>
      <vt:lpstr>Creating Class Diagrams</vt:lpstr>
      <vt:lpstr>Class Diagram Example for Programming</vt:lpstr>
      <vt:lpstr>Add classes, Attributes and Operations</vt:lpstr>
      <vt:lpstr>Add Associations and Multiplicities</vt:lpstr>
      <vt:lpstr>Steps &amp; Example for Database Design</vt:lpstr>
      <vt:lpstr>A Space Game in SQL</vt:lpstr>
      <vt:lpstr>Step 1: The Nouns</vt:lpstr>
      <vt:lpstr>Step 1: The Nouns</vt:lpstr>
      <vt:lpstr>Step 2: Class or Attribute?</vt:lpstr>
      <vt:lpstr>Step 3: Drawing the Classes</vt:lpstr>
      <vt:lpstr>Step 3a: Add Other Attributes</vt:lpstr>
      <vt:lpstr>Step 4: The Keys</vt:lpstr>
      <vt:lpstr>Step 5: Add Relationships</vt:lpstr>
      <vt:lpstr>Step 5: Add Relationships</vt:lpstr>
      <vt:lpstr>Step 6: Add Multiplicities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Diagrams</dc:title>
  <dc:creator>Martin, Helen</dc:creator>
  <cp:lastModifiedBy>Martin, Helen</cp:lastModifiedBy>
  <cp:revision>30</cp:revision>
  <dcterms:created xsi:type="dcterms:W3CDTF">2022-03-29T09:12:47Z</dcterms:created>
  <dcterms:modified xsi:type="dcterms:W3CDTF">2022-03-30T08:32:21Z</dcterms:modified>
</cp:coreProperties>
</file>