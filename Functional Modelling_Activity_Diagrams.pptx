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7" r:id="rId4"/>
    <p:sldId id="259" r:id="rId5"/>
    <p:sldId id="260" r:id="rId6"/>
    <p:sldId id="378" r:id="rId7"/>
    <p:sldId id="377" r:id="rId8"/>
    <p:sldId id="379" r:id="rId9"/>
    <p:sldId id="380" r:id="rId10"/>
    <p:sldId id="265" r:id="rId11"/>
    <p:sldId id="383" r:id="rId12"/>
    <p:sldId id="381" r:id="rId13"/>
    <p:sldId id="382" r:id="rId14"/>
    <p:sldId id="38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DF61-E6F8-4DFA-B012-7C9F3DDAB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598"/>
            <a:ext cx="8915399" cy="2262781"/>
          </a:xfrm>
        </p:spPr>
        <p:txBody>
          <a:bodyPr/>
          <a:lstStyle/>
          <a:p>
            <a:r>
              <a:rPr lang="en-GB" dirty="0"/>
              <a:t>Functional Modelling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0C24D-E5D0-477A-8DBB-9C58910F26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261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0B8F-BDA9-514A-B3A2-2F2A5BDAD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 Diagram Types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6E320-D18E-4E45-A571-02C7E5ECB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39A36-2DC0-4DF3-BB14-AB66AC554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869" y="1406642"/>
            <a:ext cx="8020050" cy="4933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CDC2F8-1BAD-4760-A680-06F6F2DDDA4E}"/>
              </a:ext>
            </a:extLst>
          </p:cNvPr>
          <p:cNvSpPr txBox="1"/>
          <p:nvPr/>
        </p:nvSpPr>
        <p:spPr>
          <a:xfrm>
            <a:off x="10033233" y="6409189"/>
            <a:ext cx="20049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Visual Paradigm, 2022</a:t>
            </a:r>
          </a:p>
        </p:txBody>
      </p:sp>
    </p:spTree>
    <p:extLst>
      <p:ext uri="{BB962C8B-B14F-4D97-AF65-F5344CB8AC3E}">
        <p14:creationId xmlns:p14="http://schemas.microsoft.com/office/powerpoint/2010/main" val="1539607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6DCC-07A3-41BA-B557-17871D26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D8B97-9EB0-4A45-AA72-3FC6FC925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Behavioral</a:t>
            </a:r>
          </a:p>
          <a:p>
            <a:pPr lvl="1"/>
            <a:r>
              <a:rPr lang="en-US" dirty="0"/>
              <a:t>Low level view</a:t>
            </a:r>
          </a:p>
          <a:p>
            <a:pPr lvl="1"/>
            <a:r>
              <a:rPr lang="en-US" dirty="0"/>
              <a:t>Models logical flow of the system</a:t>
            </a:r>
          </a:p>
          <a:p>
            <a:pPr lvl="1"/>
            <a:r>
              <a:rPr lang="en-US" dirty="0"/>
              <a:t>Describe the steps in UML use case </a:t>
            </a:r>
          </a:p>
          <a:p>
            <a:pPr lvl="1"/>
            <a:r>
              <a:rPr lang="en-US" dirty="0"/>
              <a:t>Simplify and improve process in use case</a:t>
            </a:r>
          </a:p>
          <a:p>
            <a:pPr lvl="1"/>
            <a:r>
              <a:rPr lang="en-US" dirty="0"/>
              <a:t>Model software architecture elements</a:t>
            </a:r>
          </a:p>
          <a:p>
            <a:pPr lvl="1"/>
            <a:r>
              <a:rPr lang="en-US" dirty="0"/>
              <a:t>Similar to Flow charts/Data Flow Diagrams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884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E998-AB73-544F-8DBA-A0EB9F7D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8E883-E7E1-204C-821E-F5A2FEF07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Action – a step where action is performed by the user or software</a:t>
            </a:r>
          </a:p>
          <a:p>
            <a:r>
              <a:rPr lang="en-US" dirty="0"/>
              <a:t>Decision node – conditional branch with two of more branch</a:t>
            </a:r>
          </a:p>
          <a:p>
            <a:r>
              <a:rPr lang="en-US" dirty="0"/>
              <a:t>Control flows – Connectors between steps</a:t>
            </a:r>
          </a:p>
          <a:p>
            <a:r>
              <a:rPr lang="en-US" dirty="0"/>
              <a:t>Start node - Starting point of an activity</a:t>
            </a:r>
          </a:p>
          <a:p>
            <a:r>
              <a:rPr lang="en-US" dirty="0"/>
              <a:t>End node – final step of of the activity</a:t>
            </a:r>
          </a:p>
        </p:txBody>
      </p:sp>
    </p:spTree>
    <p:extLst>
      <p:ext uri="{BB962C8B-B14F-4D97-AF65-F5344CB8AC3E}">
        <p14:creationId xmlns:p14="http://schemas.microsoft.com/office/powerpoint/2010/main" val="217547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321F-4A10-D04E-A5DF-3A4451D4E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Diagram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F7BEB58-D62F-CF43-B06E-B82A55E33C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828" y="1825625"/>
            <a:ext cx="4964344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6513A7-6A05-A84D-9A2F-71A91BD9FB20}"/>
              </a:ext>
            </a:extLst>
          </p:cNvPr>
          <p:cNvSpPr txBox="1"/>
          <p:nvPr/>
        </p:nvSpPr>
        <p:spPr>
          <a:xfrm>
            <a:off x="1938075" y="1690688"/>
            <a:ext cx="116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 node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320787-B235-154A-A303-61EDA0AEB2E0}"/>
              </a:ext>
            </a:extLst>
          </p:cNvPr>
          <p:cNvSpPr txBox="1"/>
          <p:nvPr/>
        </p:nvSpPr>
        <p:spPr>
          <a:xfrm>
            <a:off x="1938075" y="2646919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A6DE1-CF17-6347-B2E3-8FB3235367DF}"/>
              </a:ext>
            </a:extLst>
          </p:cNvPr>
          <p:cNvSpPr txBox="1"/>
          <p:nvPr/>
        </p:nvSpPr>
        <p:spPr>
          <a:xfrm>
            <a:off x="2031241" y="4613315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D68D8-E241-094A-AFB3-EAF61C080452}"/>
              </a:ext>
            </a:extLst>
          </p:cNvPr>
          <p:cNvSpPr txBox="1"/>
          <p:nvPr/>
        </p:nvSpPr>
        <p:spPr>
          <a:xfrm>
            <a:off x="9181004" y="5216578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 node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374917-59AE-164F-A650-1A995582787F}"/>
              </a:ext>
            </a:extLst>
          </p:cNvPr>
          <p:cNvCxnSpPr>
            <a:stCxn id="5" idx="3"/>
          </p:cNvCxnSpPr>
          <p:nvPr/>
        </p:nvCxnSpPr>
        <p:spPr>
          <a:xfrm>
            <a:off x="3104163" y="1875354"/>
            <a:ext cx="1138053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F5A3F4-8473-B545-BEA2-020FE86C6F6A}"/>
              </a:ext>
            </a:extLst>
          </p:cNvPr>
          <p:cNvCxnSpPr>
            <a:stCxn id="6" idx="3"/>
          </p:cNvCxnSpPr>
          <p:nvPr/>
        </p:nvCxnSpPr>
        <p:spPr>
          <a:xfrm>
            <a:off x="2727074" y="2831585"/>
            <a:ext cx="886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75997F-2C51-D647-B7D1-30292114D20C}"/>
              </a:ext>
            </a:extLst>
          </p:cNvPr>
          <p:cNvCxnSpPr>
            <a:stCxn id="7" idx="3"/>
          </p:cNvCxnSpPr>
          <p:nvPr/>
        </p:nvCxnSpPr>
        <p:spPr>
          <a:xfrm>
            <a:off x="3010996" y="4797981"/>
            <a:ext cx="10907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9E4355-DE8F-4E41-B340-EAB2D657120B}"/>
              </a:ext>
            </a:extLst>
          </p:cNvPr>
          <p:cNvCxnSpPr>
            <a:stCxn id="8" idx="1"/>
          </p:cNvCxnSpPr>
          <p:nvPr/>
        </p:nvCxnSpPr>
        <p:spPr>
          <a:xfrm flipH="1">
            <a:off x="8578172" y="5401244"/>
            <a:ext cx="602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1493478-3F4D-F140-BA96-1545707D109A}"/>
              </a:ext>
            </a:extLst>
          </p:cNvPr>
          <p:cNvSpPr txBox="1"/>
          <p:nvPr/>
        </p:nvSpPr>
        <p:spPr>
          <a:xfrm>
            <a:off x="9039497" y="2495006"/>
            <a:ext cx="1163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Connector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053093-CFDB-E146-A27B-13AF303259EC}"/>
              </a:ext>
            </a:extLst>
          </p:cNvPr>
          <p:cNvCxnSpPr>
            <a:stCxn id="18" idx="1"/>
          </p:cNvCxnSpPr>
          <p:nvPr/>
        </p:nvCxnSpPr>
        <p:spPr>
          <a:xfrm flipH="1">
            <a:off x="4500582" y="2679672"/>
            <a:ext cx="4538915" cy="681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47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478E-C79D-4E6F-8712-29F67C8A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Diagram Symbols</a:t>
            </a:r>
          </a:p>
        </p:txBody>
      </p:sp>
      <p:pic>
        <p:nvPicPr>
          <p:cNvPr id="4" name="Picture 16" descr="UML Activity Diagram Notations - this schematic summarises how you should  use each notation of the Activity Diagram which forms part of the Unified  Modelling La…">
            <a:extLst>
              <a:ext uri="{FF2B5EF4-FFF2-40B4-BE49-F238E27FC236}">
                <a16:creationId xmlns:a16="http://schemas.microsoft.com/office/drawing/2014/main" id="{05F24EB9-3FD4-4325-810B-7816A7E12A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150"/>
          <a:stretch/>
        </p:blipFill>
        <p:spPr bwMode="auto">
          <a:xfrm>
            <a:off x="2698282" y="1264554"/>
            <a:ext cx="5473781" cy="5593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58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E999563-C9EE-45DA-9176-BEE70364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199" y="122239"/>
            <a:ext cx="8765097" cy="930275"/>
          </a:xfrm>
        </p:spPr>
        <p:txBody>
          <a:bodyPr>
            <a:normAutofit/>
          </a:bodyPr>
          <a:lstStyle/>
          <a:p>
            <a:r>
              <a:rPr lang="en-GB" altLang="en-US" dirty="0"/>
              <a:t>Activity Diagram – Borrowing A Book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D5B6E4-2780-4267-9FB6-2F4EB4920D41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5375276" y="3033713"/>
            <a:ext cx="9366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69CFAF9-7FEB-4880-9BD6-DBEA1D5388C5}"/>
              </a:ext>
            </a:extLst>
          </p:cNvPr>
          <p:cNvCxnSpPr>
            <a:stCxn id="11" idx="2"/>
          </p:cNvCxnSpPr>
          <p:nvPr/>
        </p:nvCxnSpPr>
        <p:spPr>
          <a:xfrm>
            <a:off x="7248525" y="3213100"/>
            <a:ext cx="0" cy="5032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0" name="TextBox 22">
            <a:extLst>
              <a:ext uri="{FF2B5EF4-FFF2-40B4-BE49-F238E27FC236}">
                <a16:creationId xmlns:a16="http://schemas.microsoft.com/office/drawing/2014/main" id="{2ADF0640-8A93-4DA7-8416-877A780CB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3351" y="3716339"/>
            <a:ext cx="6461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100"/>
              <a:t>Not OK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CBAD9B4-19BE-48F8-806D-9F9864134146}"/>
              </a:ext>
            </a:extLst>
          </p:cNvPr>
          <p:cNvCxnSpPr>
            <a:stCxn id="20" idx="2"/>
          </p:cNvCxnSpPr>
          <p:nvPr/>
        </p:nvCxnSpPr>
        <p:spPr>
          <a:xfrm>
            <a:off x="7248525" y="4292601"/>
            <a:ext cx="6350" cy="5508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76CC5B4-3A60-43EB-9800-2015F30085D4}"/>
              </a:ext>
            </a:extLst>
          </p:cNvPr>
          <p:cNvSpPr/>
          <p:nvPr/>
        </p:nvSpPr>
        <p:spPr>
          <a:xfrm>
            <a:off x="3543300" y="5805488"/>
            <a:ext cx="215900" cy="2159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11273" name="Group 46087">
            <a:extLst>
              <a:ext uri="{FF2B5EF4-FFF2-40B4-BE49-F238E27FC236}">
                <a16:creationId xmlns:a16="http://schemas.microsoft.com/office/drawing/2014/main" id="{EC3C5963-ED11-40B1-BBE4-85F1DCC14845}"/>
              </a:ext>
            </a:extLst>
          </p:cNvPr>
          <p:cNvGrpSpPr>
            <a:grpSpLocks/>
          </p:cNvGrpSpPr>
          <p:nvPr/>
        </p:nvGrpSpPr>
        <p:grpSpPr bwMode="auto">
          <a:xfrm>
            <a:off x="2135188" y="1557339"/>
            <a:ext cx="8120062" cy="4535487"/>
            <a:chOff x="611560" y="1556792"/>
            <a:chExt cx="8120328" cy="45365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655B30E-99C8-410D-92F1-A04E4050DAA0}"/>
                </a:ext>
              </a:extLst>
            </p:cNvPr>
            <p:cNvSpPr/>
            <p:nvPr/>
          </p:nvSpPr>
          <p:spPr>
            <a:xfrm>
              <a:off x="611560" y="1556792"/>
              <a:ext cx="215907" cy="2159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5A711C0-1AB7-4F92-9D93-14CD4EFE8793}"/>
                </a:ext>
              </a:extLst>
            </p:cNvPr>
            <p:cNvCxnSpPr>
              <a:stCxn id="5" idx="6"/>
            </p:cNvCxnSpPr>
            <p:nvPr/>
          </p:nvCxnSpPr>
          <p:spPr>
            <a:xfrm>
              <a:off x="827467" y="1664766"/>
              <a:ext cx="9366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lowchart: Alternate Process 7">
              <a:extLst>
                <a:ext uri="{FF2B5EF4-FFF2-40B4-BE49-F238E27FC236}">
                  <a16:creationId xmlns:a16="http://schemas.microsoft.com/office/drawing/2014/main" id="{96077F85-40F0-4DA9-BF82-A168A51CF963}"/>
                </a:ext>
              </a:extLst>
            </p:cNvPr>
            <p:cNvSpPr/>
            <p:nvPr/>
          </p:nvSpPr>
          <p:spPr>
            <a:xfrm>
              <a:off x="1764123" y="1556792"/>
              <a:ext cx="1871723" cy="360443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000" dirty="0">
                  <a:solidFill>
                    <a:schemeClr val="tx1"/>
                  </a:solidFill>
                </a:rPr>
                <a:t>Borrower  Selects Book</a:t>
              </a:r>
            </a:p>
          </p:txBody>
        </p:sp>
        <p:sp>
          <p:nvSpPr>
            <p:cNvPr id="10" name="Flowchart: Alternate Process 9">
              <a:extLst>
                <a:ext uri="{FF2B5EF4-FFF2-40B4-BE49-F238E27FC236}">
                  <a16:creationId xmlns:a16="http://schemas.microsoft.com/office/drawing/2014/main" id="{B5CE8B1E-82DF-4CE6-B97C-94FC82BF53A4}"/>
                </a:ext>
              </a:extLst>
            </p:cNvPr>
            <p:cNvSpPr/>
            <p:nvPr/>
          </p:nvSpPr>
          <p:spPr>
            <a:xfrm>
              <a:off x="1980030" y="2852482"/>
              <a:ext cx="1871723" cy="360443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000" dirty="0">
                  <a:solidFill>
                    <a:schemeClr val="tx1"/>
                  </a:solidFill>
                </a:rPr>
                <a:t>Borrower  Confirms Selection</a:t>
              </a:r>
            </a:p>
          </p:txBody>
        </p:sp>
        <p:sp>
          <p:nvSpPr>
            <p:cNvPr id="11" name="Flowchart: Alternate Process 10">
              <a:extLst>
                <a:ext uri="{FF2B5EF4-FFF2-40B4-BE49-F238E27FC236}">
                  <a16:creationId xmlns:a16="http://schemas.microsoft.com/office/drawing/2014/main" id="{2F680412-F1E6-44DD-AFEB-1530F8DA2BD0}"/>
                </a:ext>
              </a:extLst>
            </p:cNvPr>
            <p:cNvSpPr/>
            <p:nvPr/>
          </p:nvSpPr>
          <p:spPr>
            <a:xfrm>
              <a:off x="4788409" y="2852482"/>
              <a:ext cx="1871724" cy="360443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000" dirty="0">
                  <a:solidFill>
                    <a:schemeClr val="tx1"/>
                  </a:solidFill>
                </a:rPr>
                <a:t>Loan Requests Borrower ID</a:t>
              </a:r>
            </a:p>
          </p:txBody>
        </p:sp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38F9942F-FF5F-401F-A1A7-5C24838F8DB4}"/>
                </a:ext>
              </a:extLst>
            </p:cNvPr>
            <p:cNvSpPr/>
            <p:nvPr/>
          </p:nvSpPr>
          <p:spPr>
            <a:xfrm>
              <a:off x="6860165" y="3860771"/>
              <a:ext cx="1871723" cy="36044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000" dirty="0">
                  <a:solidFill>
                    <a:schemeClr val="tx1"/>
                  </a:solidFill>
                </a:rPr>
                <a:t>Transaction Cancelled</a:t>
              </a:r>
            </a:p>
          </p:txBody>
        </p:sp>
        <p:sp>
          <p:nvSpPr>
            <p:cNvPr id="13" name="Flowchart: Alternate Process 12">
              <a:extLst>
                <a:ext uri="{FF2B5EF4-FFF2-40B4-BE49-F238E27FC236}">
                  <a16:creationId xmlns:a16="http://schemas.microsoft.com/office/drawing/2014/main" id="{423F65F1-08A6-4B8A-9D23-7F7AEC2CBE88}"/>
                </a:ext>
              </a:extLst>
            </p:cNvPr>
            <p:cNvSpPr/>
            <p:nvPr/>
          </p:nvSpPr>
          <p:spPr>
            <a:xfrm>
              <a:off x="1970505" y="4861120"/>
              <a:ext cx="1871723" cy="36044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000" dirty="0">
                  <a:solidFill>
                    <a:schemeClr val="tx1"/>
                  </a:solidFill>
                </a:rPr>
                <a:t>Book sent to Borrower</a:t>
              </a:r>
            </a:p>
          </p:txBody>
        </p:sp>
        <p:sp>
          <p:nvSpPr>
            <p:cNvPr id="14" name="Flowchart: Alternate Process 13">
              <a:extLst>
                <a:ext uri="{FF2B5EF4-FFF2-40B4-BE49-F238E27FC236}">
                  <a16:creationId xmlns:a16="http://schemas.microsoft.com/office/drawing/2014/main" id="{6FC03849-97E4-4E7E-AFF8-0FA1EAF13FAC}"/>
                </a:ext>
              </a:extLst>
            </p:cNvPr>
            <p:cNvSpPr/>
            <p:nvPr/>
          </p:nvSpPr>
          <p:spPr>
            <a:xfrm>
              <a:off x="4829685" y="4861120"/>
              <a:ext cx="1871724" cy="360444"/>
            </a:xfrm>
            <a:prstGeom prst="flowChartAlternate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000" dirty="0">
                  <a:solidFill>
                    <a:schemeClr val="tx1"/>
                  </a:solidFill>
                </a:rPr>
                <a:t>Loan Records Book ID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6701F37-14DF-4026-9849-742309F506FA}"/>
                </a:ext>
              </a:extLst>
            </p:cNvPr>
            <p:cNvCxnSpPr>
              <a:stCxn id="8" idx="2"/>
            </p:cNvCxnSpPr>
            <p:nvPr/>
          </p:nvCxnSpPr>
          <p:spPr>
            <a:xfrm>
              <a:off x="2699190" y="1917235"/>
              <a:ext cx="0" cy="93524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owchart: Decision 19">
              <a:extLst>
                <a:ext uri="{FF2B5EF4-FFF2-40B4-BE49-F238E27FC236}">
                  <a16:creationId xmlns:a16="http://schemas.microsoft.com/office/drawing/2014/main" id="{927B80A4-7DEF-4E28-81DD-E7D7D12DBADB}"/>
                </a:ext>
              </a:extLst>
            </p:cNvPr>
            <p:cNvSpPr/>
            <p:nvPr/>
          </p:nvSpPr>
          <p:spPr>
            <a:xfrm>
              <a:off x="5399617" y="3716276"/>
              <a:ext cx="649308" cy="576391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1DE2C8C-6278-4849-9DDD-8F1D6255856B}"/>
                </a:ext>
              </a:extLst>
            </p:cNvPr>
            <p:cNvCxnSpPr>
              <a:stCxn id="20" idx="3"/>
            </p:cNvCxnSpPr>
            <p:nvPr/>
          </p:nvCxnSpPr>
          <p:spPr>
            <a:xfrm>
              <a:off x="6048925" y="4005266"/>
              <a:ext cx="82711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85" name="TextBox 24">
              <a:extLst>
                <a:ext uri="{FF2B5EF4-FFF2-40B4-BE49-F238E27FC236}">
                  <a16:creationId xmlns:a16="http://schemas.microsoft.com/office/drawing/2014/main" id="{9A98AE2D-FA56-43AC-9A68-7B7733E49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5044" y="4450323"/>
              <a:ext cx="38824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GB" altLang="en-US" sz="1100"/>
                <a:t>OK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EF0DFAE-248B-4214-A5CF-26540A368EDE}"/>
                </a:ext>
              </a:extLst>
            </p:cNvPr>
            <p:cNvCxnSpPr>
              <a:stCxn id="14" idx="1"/>
            </p:cNvCxnSpPr>
            <p:nvPr/>
          </p:nvCxnSpPr>
          <p:spPr>
            <a:xfrm flipH="1">
              <a:off x="3905730" y="5040548"/>
              <a:ext cx="92395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80" name="Elbow Connector 46079">
              <a:extLst>
                <a:ext uri="{FF2B5EF4-FFF2-40B4-BE49-F238E27FC236}">
                  <a16:creationId xmlns:a16="http://schemas.microsoft.com/office/drawing/2014/main" id="{B1763825-BCA7-4AF2-9F39-CE6BBD41C94A}"/>
                </a:ext>
              </a:extLst>
            </p:cNvPr>
            <p:cNvCxnSpPr>
              <a:stCxn id="13" idx="1"/>
              <a:endCxn id="46081" idx="0"/>
            </p:cNvCxnSpPr>
            <p:nvPr/>
          </p:nvCxnSpPr>
          <p:spPr>
            <a:xfrm rot="10800000" flipH="1" flipV="1">
              <a:off x="1970505" y="5040548"/>
              <a:ext cx="247658" cy="692305"/>
            </a:xfrm>
            <a:prstGeom prst="bentConnector4">
              <a:avLst>
                <a:gd name="adj1" fmla="val -92238"/>
                <a:gd name="adj2" fmla="val 63003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081" name="Oval 46080">
              <a:extLst>
                <a:ext uri="{FF2B5EF4-FFF2-40B4-BE49-F238E27FC236}">
                  <a16:creationId xmlns:a16="http://schemas.microsoft.com/office/drawing/2014/main" id="{381FC746-F97A-4F7F-85B8-60B58B009386}"/>
                </a:ext>
              </a:extLst>
            </p:cNvPr>
            <p:cNvSpPr/>
            <p:nvPr/>
          </p:nvSpPr>
          <p:spPr>
            <a:xfrm>
              <a:off x="1970505" y="5732853"/>
              <a:ext cx="495316" cy="3604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D7367EC-AF29-47FB-BAA7-AC908CD00534}"/>
                </a:ext>
              </a:extLst>
            </p:cNvPr>
            <p:cNvSpPr/>
            <p:nvPr/>
          </p:nvSpPr>
          <p:spPr>
            <a:xfrm>
              <a:off x="2110209" y="5805895"/>
              <a:ext cx="215907" cy="21594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6084" name="Elbow Connector 46083">
              <a:extLst>
                <a:ext uri="{FF2B5EF4-FFF2-40B4-BE49-F238E27FC236}">
                  <a16:creationId xmlns:a16="http://schemas.microsoft.com/office/drawing/2014/main" id="{86906303-373A-4E2B-9F84-3F127615B096}"/>
                </a:ext>
              </a:extLst>
            </p:cNvPr>
            <p:cNvCxnSpPr/>
            <p:nvPr/>
          </p:nvCxnSpPr>
          <p:spPr>
            <a:xfrm rot="5400000">
              <a:off x="4346907" y="2411567"/>
              <a:ext cx="1692654" cy="5311949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7857F1E-8033-40F5-9F31-A9D2FDE5046E}"/>
              </a:ext>
            </a:extLst>
          </p:cNvPr>
          <p:cNvSpPr txBox="1"/>
          <p:nvPr/>
        </p:nvSpPr>
        <p:spPr>
          <a:xfrm>
            <a:off x="4768731" y="3798502"/>
            <a:ext cx="1659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Branch (Condition)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D1284A-4778-4ECB-AD04-7D1FFB50EB4B}"/>
              </a:ext>
            </a:extLst>
          </p:cNvPr>
          <p:cNvCxnSpPr>
            <a:cxnSpLocks/>
          </p:cNvCxnSpPr>
          <p:nvPr/>
        </p:nvCxnSpPr>
        <p:spPr>
          <a:xfrm>
            <a:off x="6311900" y="3961221"/>
            <a:ext cx="563632" cy="92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7227A87-5133-4E05-9680-9856A2E889A2}"/>
              </a:ext>
            </a:extLst>
          </p:cNvPr>
          <p:cNvSpPr txBox="1"/>
          <p:nvPr/>
        </p:nvSpPr>
        <p:spPr>
          <a:xfrm>
            <a:off x="5764207" y="1297019"/>
            <a:ext cx="1659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Activity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6ABD5C-DBBB-421C-A893-515ED6C3AE99}"/>
              </a:ext>
            </a:extLst>
          </p:cNvPr>
          <p:cNvCxnSpPr>
            <a:cxnSpLocks/>
          </p:cNvCxnSpPr>
          <p:nvPr/>
        </p:nvCxnSpPr>
        <p:spPr>
          <a:xfrm flipH="1">
            <a:off x="5300755" y="1508350"/>
            <a:ext cx="488305" cy="211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7E974EF-219B-4789-9EB2-60654486EDF4}"/>
              </a:ext>
            </a:extLst>
          </p:cNvPr>
          <p:cNvSpPr txBox="1"/>
          <p:nvPr/>
        </p:nvSpPr>
        <p:spPr>
          <a:xfrm>
            <a:off x="1521579" y="2278064"/>
            <a:ext cx="1659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Initial node – the beginning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32E4CEB-1960-47A0-B2E1-72D1C5A4497A}"/>
              </a:ext>
            </a:extLst>
          </p:cNvPr>
          <p:cNvCxnSpPr>
            <a:cxnSpLocks/>
          </p:cNvCxnSpPr>
          <p:nvPr/>
        </p:nvCxnSpPr>
        <p:spPr>
          <a:xfrm flipV="1">
            <a:off x="2229157" y="1808132"/>
            <a:ext cx="1" cy="513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AB8C4B4-D89F-40CE-BE89-F311399513EB}"/>
              </a:ext>
            </a:extLst>
          </p:cNvPr>
          <p:cNvSpPr txBox="1"/>
          <p:nvPr/>
        </p:nvSpPr>
        <p:spPr>
          <a:xfrm>
            <a:off x="3202934" y="6335714"/>
            <a:ext cx="1659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Final node – the end of the activities</a:t>
            </a:r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AD62CF7-DF31-43A2-AF88-5A58B8B11127}"/>
              </a:ext>
            </a:extLst>
          </p:cNvPr>
          <p:cNvCxnSpPr>
            <a:cxnSpLocks/>
          </p:cNvCxnSpPr>
          <p:nvPr/>
        </p:nvCxnSpPr>
        <p:spPr>
          <a:xfrm flipV="1">
            <a:off x="3741738" y="6092826"/>
            <a:ext cx="0" cy="25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F0D7-2512-4335-823B-FAA78E2D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Diagram – User Login</a:t>
            </a:r>
          </a:p>
        </p:txBody>
      </p:sp>
      <p:pic>
        <p:nvPicPr>
          <p:cNvPr id="4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61D8E6E5-8F0D-4018-AA1B-4EB6D2655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39" t="7041" r="2104"/>
          <a:stretch/>
        </p:blipFill>
        <p:spPr>
          <a:xfrm>
            <a:off x="3264044" y="1442906"/>
            <a:ext cx="5460506" cy="5345600"/>
          </a:xfrm>
          <a:custGeom>
            <a:avLst/>
            <a:gdLst/>
            <a:ahLst/>
            <a:cxnLst/>
            <a:rect l="l" t="t" r="r" b="b"/>
            <a:pathLst>
              <a:path w="650965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0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3" y="528850"/>
                  <a:pt x="335480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2" y="612658"/>
                </a:lnTo>
                <a:cubicBezTo>
                  <a:pt x="358987" y="604728"/>
                  <a:pt x="357230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8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5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509657" y="0"/>
                </a:lnTo>
                <a:lnTo>
                  <a:pt x="650965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0" y="6796804"/>
                </a:lnTo>
                <a:cubicBezTo>
                  <a:pt x="32161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5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7" y="6463490"/>
                </a:cubicBezTo>
                <a:cubicBezTo>
                  <a:pt x="116556" y="6431292"/>
                  <a:pt x="131034" y="6400429"/>
                  <a:pt x="146086" y="6363664"/>
                </a:cubicBezTo>
                <a:cubicBezTo>
                  <a:pt x="142275" y="6350899"/>
                  <a:pt x="131986" y="6331277"/>
                  <a:pt x="131034" y="6311084"/>
                </a:cubicBezTo>
                <a:cubicBezTo>
                  <a:pt x="127795" y="6246121"/>
                  <a:pt x="145513" y="6185351"/>
                  <a:pt x="173518" y="6127247"/>
                </a:cubicBezTo>
                <a:cubicBezTo>
                  <a:pt x="181899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5" y="6056948"/>
                </a:cubicBezTo>
                <a:cubicBezTo>
                  <a:pt x="243432" y="6050282"/>
                  <a:pt x="242863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1" y="5900735"/>
                  <a:pt x="264200" y="5897114"/>
                </a:cubicBezTo>
                <a:cubicBezTo>
                  <a:pt x="268199" y="5891590"/>
                  <a:pt x="274295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8" y="5779191"/>
                  <a:pt x="299823" y="5771953"/>
                  <a:pt x="302870" y="5765474"/>
                </a:cubicBezTo>
                <a:cubicBezTo>
                  <a:pt x="305728" y="5759378"/>
                  <a:pt x="310683" y="5754234"/>
                  <a:pt x="313730" y="5748136"/>
                </a:cubicBezTo>
                <a:cubicBezTo>
                  <a:pt x="321920" y="5731564"/>
                  <a:pt x="329541" y="5714607"/>
                  <a:pt x="338685" y="5695178"/>
                </a:cubicBezTo>
                <a:cubicBezTo>
                  <a:pt x="321541" y="5684320"/>
                  <a:pt x="331257" y="5669647"/>
                  <a:pt x="339447" y="5651360"/>
                </a:cubicBezTo>
                <a:cubicBezTo>
                  <a:pt x="347830" y="5632691"/>
                  <a:pt x="350497" y="5611164"/>
                  <a:pt x="353545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5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2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2" y="4346201"/>
                  <a:pt x="391265" y="4340674"/>
                  <a:pt x="392218" y="4335722"/>
                </a:cubicBezTo>
                <a:cubicBezTo>
                  <a:pt x="401743" y="4281810"/>
                  <a:pt x="387838" y="4231324"/>
                  <a:pt x="369547" y="4181603"/>
                </a:cubicBezTo>
                <a:cubicBezTo>
                  <a:pt x="367643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6" y="4078159"/>
                  <a:pt x="348211" y="4040058"/>
                  <a:pt x="331447" y="4003861"/>
                </a:cubicBezTo>
                <a:cubicBezTo>
                  <a:pt x="314494" y="3967091"/>
                  <a:pt x="300203" y="3932993"/>
                  <a:pt x="317349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3" y="3799258"/>
                  <a:pt x="307443" y="3784397"/>
                </a:cubicBezTo>
                <a:cubicBezTo>
                  <a:pt x="307443" y="3744770"/>
                  <a:pt x="297345" y="3709529"/>
                  <a:pt x="276771" y="3675238"/>
                </a:cubicBezTo>
                <a:cubicBezTo>
                  <a:pt x="268770" y="3661899"/>
                  <a:pt x="274106" y="3641134"/>
                  <a:pt x="272009" y="3623799"/>
                </a:cubicBezTo>
                <a:cubicBezTo>
                  <a:pt x="269533" y="3605509"/>
                  <a:pt x="267247" y="3586653"/>
                  <a:pt x="261720" y="3569124"/>
                </a:cubicBezTo>
                <a:cubicBezTo>
                  <a:pt x="247243" y="3523785"/>
                  <a:pt x="230859" y="3479015"/>
                  <a:pt x="215618" y="3433866"/>
                </a:cubicBezTo>
                <a:cubicBezTo>
                  <a:pt x="203045" y="3396719"/>
                  <a:pt x="212951" y="3360139"/>
                  <a:pt x="218286" y="3323372"/>
                </a:cubicBezTo>
                <a:cubicBezTo>
                  <a:pt x="221715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5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5" y="2966742"/>
                  <a:pt x="144560" y="2940455"/>
                  <a:pt x="128366" y="2910353"/>
                </a:cubicBezTo>
                <a:cubicBezTo>
                  <a:pt x="117318" y="2889587"/>
                  <a:pt x="109126" y="2866918"/>
                  <a:pt x="102268" y="2844248"/>
                </a:cubicBezTo>
                <a:cubicBezTo>
                  <a:pt x="93313" y="2813958"/>
                  <a:pt x="87978" y="2782716"/>
                  <a:pt x="79216" y="2752235"/>
                </a:cubicBezTo>
                <a:cubicBezTo>
                  <a:pt x="66072" y="2706131"/>
                  <a:pt x="55785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1" y="2360933"/>
                </a:cubicBezTo>
                <a:cubicBezTo>
                  <a:pt x="28541" y="2356744"/>
                  <a:pt x="36543" y="2344741"/>
                  <a:pt x="37877" y="2335405"/>
                </a:cubicBezTo>
                <a:cubicBezTo>
                  <a:pt x="41877" y="2307402"/>
                  <a:pt x="35971" y="2281683"/>
                  <a:pt x="23017" y="2254633"/>
                </a:cubicBezTo>
                <a:cubicBezTo>
                  <a:pt x="10824" y="2229296"/>
                  <a:pt x="12158" y="2197670"/>
                  <a:pt x="7395" y="2168903"/>
                </a:cubicBezTo>
                <a:cubicBezTo>
                  <a:pt x="5680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4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68" y="1851709"/>
                  <a:pt x="52545" y="1813610"/>
                  <a:pt x="68738" y="1768838"/>
                </a:cubicBezTo>
                <a:cubicBezTo>
                  <a:pt x="85886" y="1721785"/>
                  <a:pt x="112174" y="1676253"/>
                  <a:pt x="104363" y="1623675"/>
                </a:cubicBezTo>
                <a:cubicBezTo>
                  <a:pt x="99601" y="1591859"/>
                  <a:pt x="88551" y="1561189"/>
                  <a:pt x="81882" y="1529563"/>
                </a:cubicBezTo>
                <a:cubicBezTo>
                  <a:pt x="79597" y="1518324"/>
                  <a:pt x="79978" y="1505751"/>
                  <a:pt x="82264" y="1494509"/>
                </a:cubicBezTo>
                <a:cubicBezTo>
                  <a:pt x="92743" y="1440216"/>
                  <a:pt x="94266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6" y="1151600"/>
                </a:cubicBezTo>
                <a:cubicBezTo>
                  <a:pt x="100553" y="1134834"/>
                  <a:pt x="96553" y="1114449"/>
                  <a:pt x="98077" y="1095972"/>
                </a:cubicBezTo>
                <a:cubicBezTo>
                  <a:pt x="99409" y="1078826"/>
                  <a:pt x="99981" y="1061298"/>
                  <a:pt x="104363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3" y="949281"/>
                  <a:pt x="103219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6" y="694576"/>
                </a:cubicBezTo>
                <a:cubicBezTo>
                  <a:pt x="102268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2" y="531310"/>
                  <a:pt x="114080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6" y="340425"/>
                  <a:pt x="88551" y="300800"/>
                  <a:pt x="84930" y="261173"/>
                </a:cubicBezTo>
                <a:cubicBezTo>
                  <a:pt x="84168" y="252600"/>
                  <a:pt x="88933" y="243648"/>
                  <a:pt x="89313" y="234883"/>
                </a:cubicBezTo>
                <a:cubicBezTo>
                  <a:pt x="90266" y="207450"/>
                  <a:pt x="90457" y="180017"/>
                  <a:pt x="91026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8" y="85336"/>
                  <a:pt x="98077" y="66857"/>
                  <a:pt x="83217" y="47806"/>
                </a:cubicBezTo>
                <a:cubicBezTo>
                  <a:pt x="77453" y="40471"/>
                  <a:pt x="73691" y="32636"/>
                  <a:pt x="71206" y="24480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7644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2228-733E-48C7-80B4-5122702FE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405997"/>
            <a:ext cx="8911687" cy="1280890"/>
          </a:xfrm>
        </p:spPr>
        <p:txBody>
          <a:bodyPr/>
          <a:lstStyle/>
          <a:p>
            <a:r>
              <a:rPr lang="en-GB" dirty="0"/>
              <a:t>Activity Diagram Order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D6F99-E95A-4171-8ACB-5D8ADD1E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5429" y="2906459"/>
            <a:ext cx="5289729" cy="33642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Order Processing Description:</a:t>
            </a:r>
          </a:p>
          <a:p>
            <a:r>
              <a:rPr lang="en-US" dirty="0"/>
              <a:t>Once the order is received, the activities split into two parallel sets of activities. One side fills and sends the order while the other handles the billing.</a:t>
            </a:r>
          </a:p>
          <a:p>
            <a:r>
              <a:rPr lang="en-US" dirty="0"/>
              <a:t>On the Fill Order side, the method of delivery is decided conditionally. Depending on the condition either the Overnight Delivery activity or the Regular Delivery activity is performed.</a:t>
            </a:r>
          </a:p>
          <a:p>
            <a:r>
              <a:rPr lang="en-US" dirty="0"/>
              <a:t>Finally the parallel activities combine to close the order.</a:t>
            </a:r>
          </a:p>
        </p:txBody>
      </p:sp>
      <p:pic>
        <p:nvPicPr>
          <p:cNvPr id="4" name="Picture 2" descr="Activity Diagram - Process Order">
            <a:extLst>
              <a:ext uri="{FF2B5EF4-FFF2-40B4-BE49-F238E27FC236}">
                <a16:creationId xmlns:a16="http://schemas.microsoft.com/office/drawing/2014/main" id="{44CA810E-8B12-444E-85BA-8A177AE58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072" y="2016803"/>
            <a:ext cx="4088653" cy="443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526D27-8BFC-4326-850F-9CA3E5CD3E88}"/>
              </a:ext>
            </a:extLst>
          </p:cNvPr>
          <p:cNvSpPr txBox="1"/>
          <p:nvPr/>
        </p:nvSpPr>
        <p:spPr>
          <a:xfrm>
            <a:off x="8352705" y="2721793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E77AC25-B4A4-4F4F-AD32-877F63B17318}"/>
              </a:ext>
            </a:extLst>
          </p:cNvPr>
          <p:cNvCxnSpPr>
            <a:cxnSpLocks/>
          </p:cNvCxnSpPr>
          <p:nvPr/>
        </p:nvCxnSpPr>
        <p:spPr>
          <a:xfrm>
            <a:off x="8984609" y="2998792"/>
            <a:ext cx="563632" cy="92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86E8653-A8A1-41A4-8112-3D71F96A2B63}"/>
              </a:ext>
            </a:extLst>
          </p:cNvPr>
          <p:cNvSpPr txBox="1"/>
          <p:nvPr/>
        </p:nvSpPr>
        <p:spPr>
          <a:xfrm>
            <a:off x="8485899" y="604679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Join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0B0579-6CE0-4DEB-902B-4438EB60A200}"/>
              </a:ext>
            </a:extLst>
          </p:cNvPr>
          <p:cNvCxnSpPr>
            <a:cxnSpLocks/>
          </p:cNvCxnSpPr>
          <p:nvPr/>
        </p:nvCxnSpPr>
        <p:spPr>
          <a:xfrm flipV="1">
            <a:off x="9147157" y="6012545"/>
            <a:ext cx="401084" cy="218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71B98F-180E-4564-87BE-6D48599088E6}"/>
              </a:ext>
            </a:extLst>
          </p:cNvPr>
          <p:cNvSpPr txBox="1"/>
          <p:nvPr/>
        </p:nvSpPr>
        <p:spPr>
          <a:xfrm>
            <a:off x="10033233" y="6409189"/>
            <a:ext cx="20049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Visual Paradigm, 2022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EF35842-CF04-48D0-ACA6-FE2EFD6E5EFB}"/>
              </a:ext>
            </a:extLst>
          </p:cNvPr>
          <p:cNvSpPr txBox="1">
            <a:spLocks/>
          </p:cNvSpPr>
          <p:nvPr/>
        </p:nvSpPr>
        <p:spPr>
          <a:xfrm>
            <a:off x="1973537" y="1202314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Forks – where one activity splits into two concurrent activities</a:t>
            </a:r>
          </a:p>
          <a:p>
            <a:r>
              <a:rPr lang="en-GB" dirty="0"/>
              <a:t>Join – combines two concurrent activities back into the flow where only one activity is happening at a time</a:t>
            </a:r>
          </a:p>
        </p:txBody>
      </p:sp>
    </p:spTree>
    <p:extLst>
      <p:ext uri="{BB962C8B-B14F-4D97-AF65-F5344CB8AC3E}">
        <p14:creationId xmlns:p14="http://schemas.microsoft.com/office/powerpoint/2010/main" val="234370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7EE0-9FE7-F249-83E9-84098E5F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Diagram - </a:t>
            </a:r>
            <a:r>
              <a:rPr lang="en-US" dirty="0"/>
              <a:t>Student Enrolment</a:t>
            </a:r>
          </a:p>
        </p:txBody>
      </p:sp>
      <p:pic>
        <p:nvPicPr>
          <p:cNvPr id="5122" name="Picture 2" descr="Activity Diagram - Student Enrollment">
            <a:extLst>
              <a:ext uri="{FF2B5EF4-FFF2-40B4-BE49-F238E27FC236}">
                <a16:creationId xmlns:a16="http://schemas.microsoft.com/office/drawing/2014/main" id="{0705CF3C-AA76-8D4B-ABF0-67ECA3B6D1E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86345" y="2374084"/>
            <a:ext cx="5126811" cy="213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5C79D-BAC7-411D-8EBB-FF7168998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33522" y="2084976"/>
            <a:ext cx="4313864" cy="377762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 applicant wants to enroll in the university.</a:t>
            </a:r>
          </a:p>
          <a:p>
            <a:r>
              <a:rPr lang="en-US" dirty="0"/>
              <a:t>The applicant hands a filled out copy of Enrollment Form.</a:t>
            </a:r>
          </a:p>
          <a:p>
            <a:r>
              <a:rPr lang="en-US" dirty="0"/>
              <a:t>The registrar inspects the forms.</a:t>
            </a:r>
          </a:p>
          <a:p>
            <a:r>
              <a:rPr lang="en-US" dirty="0"/>
              <a:t>The registrar determines that the forms have been filled out properly.</a:t>
            </a:r>
          </a:p>
          <a:p>
            <a:r>
              <a:rPr lang="en-US" dirty="0"/>
              <a:t>The registrar informs student to attend in university overview presentation.</a:t>
            </a:r>
          </a:p>
          <a:p>
            <a:r>
              <a:rPr lang="en-US" dirty="0"/>
              <a:t>The registrar helps the student to enroll in seminars</a:t>
            </a:r>
          </a:p>
          <a:p>
            <a:r>
              <a:rPr lang="en-US" dirty="0"/>
              <a:t>The registrar asks the student to pay for the initial tuition.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9A8183-8400-454F-AAD6-48345D551F02}"/>
              </a:ext>
            </a:extLst>
          </p:cNvPr>
          <p:cNvSpPr txBox="1"/>
          <p:nvPr/>
        </p:nvSpPr>
        <p:spPr>
          <a:xfrm>
            <a:off x="10033233" y="6409189"/>
            <a:ext cx="20049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Visual Paradigm, 2022</a:t>
            </a:r>
          </a:p>
        </p:txBody>
      </p:sp>
    </p:spTree>
    <p:extLst>
      <p:ext uri="{BB962C8B-B14F-4D97-AF65-F5344CB8AC3E}">
        <p14:creationId xmlns:p14="http://schemas.microsoft.com/office/powerpoint/2010/main" val="751722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8EA5-F5BB-47AB-BD11-4BB091CC9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Environmental Control System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B6EFAF1-9F76-47CD-A358-50A036DFCD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4509" y="2133600"/>
            <a:ext cx="5244807" cy="377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43727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044E-8A5B-4FF6-A8E4-0F0519CC1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Swimlane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A897-B874-4533-AF4E-412706C3F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880" y="1714151"/>
            <a:ext cx="2762964" cy="3604469"/>
          </a:xfrm>
        </p:spPr>
        <p:txBody>
          <a:bodyPr/>
          <a:lstStyle/>
          <a:p>
            <a:r>
              <a:rPr lang="en-GB" dirty="0"/>
              <a:t>Process is show from start to finish and</a:t>
            </a:r>
          </a:p>
          <a:p>
            <a:r>
              <a:rPr lang="en-GB" dirty="0"/>
              <a:t>Who is responsible for each step</a:t>
            </a:r>
          </a:p>
        </p:txBody>
      </p:sp>
      <p:pic>
        <p:nvPicPr>
          <p:cNvPr id="4" name="Picture 2" descr="Activity Diagram (With Swimlane)">
            <a:extLst>
              <a:ext uri="{FF2B5EF4-FFF2-40B4-BE49-F238E27FC236}">
                <a16:creationId xmlns:a16="http://schemas.microsoft.com/office/drawing/2014/main" id="{18347316-E63C-4CBC-A951-562C632B1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812" y="1451295"/>
            <a:ext cx="4234096" cy="518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DCCD9D-5927-4214-A46A-A59C17E831AE}"/>
              </a:ext>
            </a:extLst>
          </p:cNvPr>
          <p:cNvSpPr txBox="1"/>
          <p:nvPr/>
        </p:nvSpPr>
        <p:spPr>
          <a:xfrm>
            <a:off x="10502127" y="6627168"/>
            <a:ext cx="20049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Visual Paradigm, 2022</a:t>
            </a:r>
          </a:p>
        </p:txBody>
      </p:sp>
    </p:spTree>
    <p:extLst>
      <p:ext uri="{BB962C8B-B14F-4D97-AF65-F5344CB8AC3E}">
        <p14:creationId xmlns:p14="http://schemas.microsoft.com/office/powerpoint/2010/main" val="1235900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48A6-8693-43F3-972E-9C6C0923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UML Software Differences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32CDF-D4A6-407D-A95F-EFB8027F27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Visual Paradigm</a:t>
            </a:r>
          </a:p>
          <a:p>
            <a:r>
              <a:rPr lang="en-GB" dirty="0"/>
              <a:t>Uses horizontal representation for joins and forks</a:t>
            </a:r>
          </a:p>
          <a:p>
            <a:r>
              <a:rPr lang="en-GB" dirty="0"/>
              <a:t>Swim lanes can be flipped vertical/horizontal</a:t>
            </a:r>
          </a:p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95A38A-7665-42E8-A0E5-ED671EDD67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 err="1"/>
              <a:t>ArgoUML</a:t>
            </a:r>
            <a:endParaRPr lang="en-GB" dirty="0"/>
          </a:p>
          <a:p>
            <a:r>
              <a:rPr lang="en-GB" dirty="0"/>
              <a:t>Uses vertical representation for joins and forks</a:t>
            </a:r>
          </a:p>
          <a:p>
            <a:r>
              <a:rPr lang="en-GB" dirty="0"/>
              <a:t>Swim lanes only vertical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02F01F-08BE-447B-903A-9B2CE3DF0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999" y="3545681"/>
            <a:ext cx="3700991" cy="31158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532EA8-36C9-4F92-B73E-1A2DEE3B0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179" y="4127296"/>
            <a:ext cx="456247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854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7253F-8224-4864-9E15-DFE2142AA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5C1BE-F3E4-4C4E-BFAD-85CB8C63A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Complete the Activity Diagram Tasks</a:t>
            </a:r>
          </a:p>
          <a:p>
            <a:r>
              <a:rPr lang="en-GB" dirty="0"/>
              <a:t>Use the remaining time for </a:t>
            </a:r>
            <a:r>
              <a:rPr lang="en-GB"/>
              <a:t>your assignment</a:t>
            </a:r>
          </a:p>
        </p:txBody>
      </p:sp>
    </p:spTree>
    <p:extLst>
      <p:ext uri="{BB962C8B-B14F-4D97-AF65-F5344CB8AC3E}">
        <p14:creationId xmlns:p14="http://schemas.microsoft.com/office/powerpoint/2010/main" val="211792504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144</TotalTime>
  <Words>421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Functional Modelling</vt:lpstr>
      <vt:lpstr>UML Diagram Types</vt:lpstr>
      <vt:lpstr>Activity Diagrams</vt:lpstr>
      <vt:lpstr>Components of activity diagram</vt:lpstr>
      <vt:lpstr>Activity Diagram</vt:lpstr>
      <vt:lpstr>Activity Diagram Symbols</vt:lpstr>
      <vt:lpstr>Activity Diagram – Borrowing A Book</vt:lpstr>
      <vt:lpstr>Activity Diagram – User Login</vt:lpstr>
      <vt:lpstr>Activity Diagram Order Processing</vt:lpstr>
      <vt:lpstr>Activity Diagram - Student Enrolment</vt:lpstr>
      <vt:lpstr>Environmental Control System</vt:lpstr>
      <vt:lpstr>Swimlane</vt:lpstr>
      <vt:lpstr>UML Software Differences</vt:lpstr>
      <vt:lpstr>Tasks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Modelling</dc:title>
  <dc:creator>Martin, Helen</dc:creator>
  <cp:lastModifiedBy>Martin, Helen</cp:lastModifiedBy>
  <cp:revision>14</cp:revision>
  <dcterms:created xsi:type="dcterms:W3CDTF">2022-03-01T09:29:18Z</dcterms:created>
  <dcterms:modified xsi:type="dcterms:W3CDTF">2022-03-01T11:54:09Z</dcterms:modified>
</cp:coreProperties>
</file>